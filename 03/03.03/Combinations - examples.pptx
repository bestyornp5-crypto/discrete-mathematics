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86" r:id="rId7"/>
    <p:sldId id="285" r:id="rId8"/>
    <p:sldId id="284" r:id="rId9"/>
    <p:sldId id="283" r:id="rId10"/>
    <p:sldId id="277" r:id="rId11"/>
    <p:sldId id="282" r:id="rId12"/>
    <p:sldId id="281" r:id="rId13"/>
    <p:sldId id="280" r:id="rId14"/>
    <p:sldId id="279" r:id="rId15"/>
    <p:sldId id="278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1602DF-15F3-32C0-5653-6D90AB1FB8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9E2829-A2EB-A0B8-9D24-B702184B2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8BDF41A-F7A2-BC2E-41EC-BB4821CE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84AB8C7-AD18-5607-F1B2-8C40A0CE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7AF1726-35D9-FD5E-5C12-D217A859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1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28637A-34C6-73B1-391C-FF265FB6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1E504D-F2E5-1598-E291-0738C7870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3749D38-8C0B-C097-46D0-0B80C3ED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1D191A-3653-E3CF-09AD-E14DC52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9DA5198-1AB5-BA47-BD10-464CB152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5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AB6CA9-6017-1BB4-C7A5-9E8523E7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76CBD0B-AE8F-8891-DA0C-27BA7738F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CE7F4C8-FD06-2810-02ED-4A606545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636688-92FB-4B59-9DA5-D7EF92DE8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43E7F61-CF74-3049-D3B4-B7546693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3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8C480C9-E84B-31BA-3980-33100EF0F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B5349B-CF62-7098-7C92-4C537CFAD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368CF0A-45A4-041B-3F03-CF280BE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8CEAE56-9768-897B-4215-ED7EB3FD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6101A25-A12F-9B64-49FE-EE333FAC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970E7B1-61BB-1B22-0FCD-E4C4A928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1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5799AF-B88F-5806-0DD6-D95151602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ED73DD2-A3A5-E727-BF42-F7DA13E01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41E614B-A3D4-8008-D9A2-F229ED04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C57D030-0197-E7ED-08C3-C33D60BAD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43D19C5-F422-DCA8-4038-4D7A5767F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F17B82E-5F19-3938-C62A-E5C4235B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D6BC148-9BC6-0443-5DA9-7A67BA6D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AFB79212-7699-A36F-F17C-79ED8E8E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32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83CE33-DEA2-89D3-97FA-1FB927E18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10E8A875-A5B1-BC3F-0927-71FF2D22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5A0324E-86AE-37E2-FD9A-0705E8DE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8D90914-47D5-E88E-EA6A-D48E389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96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9CA187A-07CE-977E-139F-9D0FFEA4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7FA9A22-68D2-122F-DA41-4C27A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ECF5902-CEAB-CAC9-F009-A530528C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88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1F03C0-2B50-8E6B-FAA2-6734A9AB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214E5B-208E-4AF8-FA54-A95393109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99585DA-6E3D-4DBC-95DA-6A7F787F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881BF01-5019-5D49-451C-45FF56351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62FC2D1-0493-9FF9-0533-864BE497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F708C30A-182D-16AF-4A5B-CE5A9A60B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8FB8336-170D-0819-3530-9E6A4AE2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57F1CA56-81DC-24E7-1B55-34A8A07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45419A6-ED03-F31E-5FE1-B711EDF5E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04958D-4DDA-B584-F89A-CADEB31A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2D245F7-8EE8-30B8-A74D-DE3382BE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1238774-2E6A-07D0-0C00-FA78B387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33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39443D6-928A-11E8-1FAA-A0B4D4590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AB6E564-68E6-5EA4-8EB0-CC7DE0374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D87FEC-D3B9-0DF8-846D-96439A92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F8BE2A5-C9D3-B18C-9AF8-51D69A0C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5A9DEFC-3B85-3032-7B02-04D9EBD8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0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412E531-2E63-09A6-C9BE-3F5788E9A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065717D-9B83-1C7E-9B01-F8D039B13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E597EC6-3583-B563-9781-B1581A6E1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A926738-9B75-8892-939C-92723952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769B65D-3E3D-99AC-B2FF-3044441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7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F8B978D-FA44-7AF9-70F1-C017155A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6081B83-5207-C25E-2F28-A86BBB0C1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09C408E-2C7B-7DC2-4B53-7779A2F68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0A4B1-F21E-453D-88CF-09F3B6FB3837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36747BD-7C08-B3AC-62C1-6B51B0F5C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B6C2DEE-2D49-2863-B539-E61103EB4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9ED67-8434-4517-BB1E-58BC4E854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e tekstowe 1">
            <a:extLst>
              <a:ext uri="{FF2B5EF4-FFF2-40B4-BE49-F238E27FC236}">
                <a16:creationId xmlns:a16="http://schemas.microsoft.com/office/drawing/2014/main" id="{8665C47E-93F0-9AC2-21F4-50FBE16E13C5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89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77AA3-B819-F4C0-582B-2126C9D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F720F7F8-B542-4163-DDE7-7DC95F13E78F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E393C32-5C48-C705-09CA-BF6605E6D7BD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9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F1C62-6810-36B9-5152-56B0F8B6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EC1CA05-9F96-058A-06D0-8DA7C72627FD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E9BA00F-8416-D682-2B3F-854462EB9DFA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E56F22E-FC6F-950D-5A61-10CFC9567AB3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</p:spTree>
    <p:extLst>
      <p:ext uri="{BB962C8B-B14F-4D97-AF65-F5344CB8AC3E}">
        <p14:creationId xmlns:p14="http://schemas.microsoft.com/office/powerpoint/2010/main" val="107685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1D5F-D313-AD4E-D459-AD578DD0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106FE013-2C45-D612-C09D-5BA7971BB2EA}"/>
              </a:ext>
            </a:extLst>
          </p:cNvPr>
          <p:cNvSpPr txBox="1"/>
          <p:nvPr/>
        </p:nvSpPr>
        <p:spPr>
          <a:xfrm>
            <a:off x="176470" y="2031772"/>
            <a:ext cx="7541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A877B08-4CC5-6E4B-D10A-8EBD23CD7D73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9A961E5-F5B9-B3A1-9283-9B5C6767E592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631251D-D498-125D-CF5C-3F4BD82044E9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96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5C0CC-43E5-4E7E-C347-8F59E8D45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D7BCEA0F-7E2C-5650-29FD-CECCB2E43868}"/>
              </a:ext>
            </a:extLst>
          </p:cNvPr>
          <p:cNvSpPr txBox="1"/>
          <p:nvPr/>
        </p:nvSpPr>
        <p:spPr>
          <a:xfrm>
            <a:off x="176470" y="2031772"/>
            <a:ext cx="75413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A5ED983-E80E-261B-14C4-B8A596C6B737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CECF881-A22F-5303-8CC0-B2FAE0575A89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2A0DC48-7CCA-D372-B7FF-C13BDC709816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15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3EC2-7574-F953-3F1D-1F4ED426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6AA015F2-A611-3C44-C054-D0D9273A001B}"/>
              </a:ext>
            </a:extLst>
          </p:cNvPr>
          <p:cNvSpPr txBox="1"/>
          <p:nvPr/>
        </p:nvSpPr>
        <p:spPr>
          <a:xfrm>
            <a:off x="176470" y="2031772"/>
            <a:ext cx="75413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Delegations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5B97D63-D87C-1719-86E6-321599D406BA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1AFFBFB-A355-22B2-5E20-38C144E2D9BB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511B90B-E78F-DAAD-7043-3A7F33C4335D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6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63F7-84C9-22BE-6FB9-B3FB6FA23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C6414C21-135C-D4D9-F0ED-B5450E8D9341}"/>
              </a:ext>
            </a:extLst>
          </p:cNvPr>
          <p:cNvSpPr txBox="1"/>
          <p:nvPr/>
        </p:nvSpPr>
        <p:spPr>
          <a:xfrm>
            <a:off x="176470" y="2031772"/>
            <a:ext cx="75413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Delegations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Choosing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places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AE0D8EA-5DE6-38BF-8082-BF1F09606D59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F2D4E5F-0AB9-D9F6-39D2-30DEF62C17DF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FEEDE9A-0636-2366-E6F6-5B137125F2C0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73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F0FE1-32E1-F4AD-B793-A169487A4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BA25A506-E879-315A-9527-33A5B7A6A79C}"/>
              </a:ext>
            </a:extLst>
          </p:cNvPr>
          <p:cNvSpPr txBox="1"/>
          <p:nvPr/>
        </p:nvSpPr>
        <p:spPr>
          <a:xfrm>
            <a:off x="176470" y="2031772"/>
            <a:ext cx="1141049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Delegations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Choosing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all other cases where the context makes it clear that the order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not important, e.g. forming teams, choosing side dishes for a meal,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selecting exam problems, etc.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FAF5119-4B43-1BA8-3EA3-50CE6BAAF02E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047A686-2D6E-7905-6A54-487FEB17484B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83A0711B-E9F7-2F7C-2F5C-E6ACD20F1B02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93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92B73-49EF-C053-A0BA-3715BBF1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5144B349-D736-92B7-DFEF-3E28C922683C}"/>
              </a:ext>
            </a:extLst>
          </p:cNvPr>
          <p:cNvSpPr txBox="1"/>
          <p:nvPr/>
        </p:nvSpPr>
        <p:spPr>
          <a:xfrm>
            <a:off x="176470" y="2031772"/>
            <a:ext cx="1141049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Powerball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(and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similar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lotteries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card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game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Delegations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Choosing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places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 all other cases where the context makes it clear that the order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is not important, e.g. forming teams, choosing side dishes for a meal,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selecting exam problems, etc.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Choosing a subset from a set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DA0CB11-893B-A981-AEDD-0A9431FE5826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A949484-1570-DC2F-DE65-8C6B6E15D6BA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47C528A2-3CDA-EE94-C08B-6CEB44972CD8}"/>
              </a:ext>
            </a:extLst>
          </p:cNvPr>
          <p:cNvSpPr txBox="1"/>
          <p:nvPr/>
        </p:nvSpPr>
        <p:spPr>
          <a:xfrm>
            <a:off x="176470" y="1616274"/>
            <a:ext cx="7377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without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818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61A5-421F-6724-61F8-504928025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2B8E1D1E-FA6C-3330-411E-3E081C16A796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BA40D80-FEB2-ABC2-BAFF-907FD962D186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2E02BC7-0797-C1DB-8EA8-AEB25DBF12C6}"/>
              </a:ext>
            </a:extLst>
          </p:cNvPr>
          <p:cNvSpPr txBox="1"/>
          <p:nvPr/>
        </p:nvSpPr>
        <p:spPr>
          <a:xfrm>
            <a:off x="176470" y="2031772"/>
            <a:ext cx="108622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 the context implies that elements are indistinguishable, e.g.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distributing identical candies (only the number matters)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EAFF3045-CF40-3020-E2F2-8AF425216AC4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0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3458A-1422-85B2-DBF1-630EEF54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31A768A9-7D88-1392-6F9B-427E0F728A3D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4D076A7-5873-ADC6-0E54-A2EB9D680698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7BB0B74D-BC47-33E4-2EA9-88970F18A39B}"/>
              </a:ext>
            </a:extLst>
          </p:cNvPr>
          <p:cNvSpPr txBox="1"/>
          <p:nvPr/>
        </p:nvSpPr>
        <p:spPr>
          <a:xfrm>
            <a:off x="176470" y="2031772"/>
            <a:ext cx="108622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When the context implies that elements are indistinguishable, e.g.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distributing identical candies (only the number matters)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Choosing pizza toppings when they can repeat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(e.g. double cheese, double ham)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5394264-3EC2-2003-2FF2-A1FC493A08F4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11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7D8D-0843-C7E5-CE41-F6A72179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1541D19E-BCAC-0716-E29E-418B3EC0ED70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AC66F22-54FC-4BA4-B3CF-2B89D8572F3B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506BD07-01E3-FD0B-BCAC-7110ADEE46E9}"/>
                  </a:ext>
                </a:extLst>
              </p:cNvPr>
              <p:cNvSpPr txBox="1"/>
              <p:nvPr/>
            </p:nvSpPr>
            <p:spPr>
              <a:xfrm>
                <a:off x="176470" y="2031772"/>
                <a:ext cx="1086226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context implies that elements are indistinguishable, e.g.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distributing identical candies (only the number matters)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 pizza toppings when they can repeat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(e.g. double cheese, double ham)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Obtaining a given amount of money (e.g.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$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100) using given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denominations (e.g.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3506BD07-01E3-FD0B-BCAC-7110ADEE4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2"/>
                <a:ext cx="10862269" cy="2308324"/>
              </a:xfrm>
              <a:prstGeom prst="rect">
                <a:avLst/>
              </a:prstGeom>
              <a:blipFill>
                <a:blip r:embed="rId2"/>
                <a:stretch>
                  <a:fillRect l="-786" t="-2111" b="-4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F60CCF0C-6588-80DC-F9A5-E86DEF9F7966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37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CE70-9881-502E-E8A5-5F2825B8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0A2B17EE-8863-5ADF-5B5F-7B1599A5CBEF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40A2903-FC45-B88F-57D0-86BBDF21C77D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48B2D8-8C32-0835-4F4C-336696DA6D94}"/>
                  </a:ext>
                </a:extLst>
              </p:cNvPr>
              <p:cNvSpPr txBox="1"/>
              <p:nvPr/>
            </p:nvSpPr>
            <p:spPr>
              <a:xfrm>
                <a:off x="176470" y="2031772"/>
                <a:ext cx="11596123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context implies that elements are indistinguishable, e.g.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distributing identical candies (only the number matters)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 pizza toppings when they can repeat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(e.g. double cheese, double ham)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Obtaining a given amount of money (e.g.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$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100) using given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denominations (e.g.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Forming a team in an RPG game (for example,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character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classes and must form a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team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four, but it can consist of four mages)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BE48B2D8-8C32-0835-4F4C-336696DA6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2"/>
                <a:ext cx="11596123" cy="3046988"/>
              </a:xfrm>
              <a:prstGeom prst="rect">
                <a:avLst/>
              </a:prstGeom>
              <a:blipFill>
                <a:blip r:embed="rId2"/>
                <a:stretch>
                  <a:fillRect l="-736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5C95E3B-69DD-26B6-E656-1E7E3E31689B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738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9A8CF-E4CE-F734-3542-7241334F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EF8AB097-64A1-3BC0-AF52-F99442D01B2D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9C84EB7-7199-5DC5-8841-4215620FDC7C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833687E-91A2-375D-EF65-EDFB74DAD7FB}"/>
                  </a:ext>
                </a:extLst>
              </p:cNvPr>
              <p:cNvSpPr txBox="1"/>
              <p:nvPr/>
            </p:nvSpPr>
            <p:spPr>
              <a:xfrm>
                <a:off x="176470" y="2031772"/>
                <a:ext cx="11596123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context implies that elements are indistinguishable, e.g.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distributing identical candies (only the number matters)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 pizza toppings when they can repeat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(e.g. double cheese, double ham)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Obtaining a given amount of money (e.g.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$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100) using given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denominations (e.g.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Forming a team in an RPG game (for example,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character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classes and must form a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team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four, but it can consist of four mages)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Ordering ice cream (3 scoops, flavors may repeat)</a:t>
                </a: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1833687E-91A2-375D-EF65-EDFB74DAD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2"/>
                <a:ext cx="11596123" cy="3416320"/>
              </a:xfrm>
              <a:prstGeom prst="rect">
                <a:avLst/>
              </a:prstGeom>
              <a:blipFill>
                <a:blip r:embed="rId2"/>
                <a:stretch>
                  <a:fillRect l="-736" t="-1426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202A8A8F-2BB1-6F5D-8377-FFBAD86609B7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63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9E37-FF73-7646-B88B-44206011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4DF74C-9AE2-F7E9-C006-6BCB08514548}"/>
                  </a:ext>
                </a:extLst>
              </p:cNvPr>
              <p:cNvSpPr txBox="1"/>
              <p:nvPr/>
            </p:nvSpPr>
            <p:spPr>
              <a:xfrm>
                <a:off x="176470" y="2031772"/>
                <a:ext cx="11596123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When the context implies that elements are indistinguishable, e.g.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distributing identical candies (only the number matters)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Choosing pizza toppings when they can repeat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(e.g. double cheese, double ham)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Obtaining a given amount of money (e.g.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$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100) using given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denominations (e.g.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2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pl-PL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$</m:t>
                    </m:r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Forming a team in an RPG game (for example, we have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character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classes and must form a 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team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of four, but it can consist of four mages)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Ordering ice cream (3 scoops, flavors may repeat)</a:t>
                </a:r>
                <a:endParaRPr lang="pl-PL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Creating codes</a:t>
                </a:r>
                <a:b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</a:b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(as long as the code “ABBC”</a:t>
                </a:r>
                <a:r>
                  <a:rPr lang="pl-PL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is considered the same as “BBCA”)</a:t>
                </a:r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8A4DF74C-9AE2-F7E9-C006-6BCB08514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70" y="2031772"/>
                <a:ext cx="11596123" cy="4154984"/>
              </a:xfrm>
              <a:prstGeom prst="rect">
                <a:avLst/>
              </a:prstGeom>
              <a:blipFill>
                <a:blip r:embed="rId2"/>
                <a:stretch>
                  <a:fillRect l="-736"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ole tekstowe 4">
            <a:extLst>
              <a:ext uri="{FF2B5EF4-FFF2-40B4-BE49-F238E27FC236}">
                <a16:creationId xmlns:a16="http://schemas.microsoft.com/office/drawing/2014/main" id="{E60704F6-56BD-9FE7-1770-E02383F0FBA6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7D258D1-7C77-F08D-0FDF-67BBA68D2F26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633E96A-1648-678D-1D95-CC4C9EC7F7BC}"/>
              </a:ext>
            </a:extLst>
          </p:cNvPr>
          <p:cNvSpPr txBox="1"/>
          <p:nvPr/>
        </p:nvSpPr>
        <p:spPr>
          <a:xfrm>
            <a:off x="176470" y="1616274"/>
            <a:ext cx="6816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Examples of combinations with repetition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955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385F1-F400-3222-2B64-72544674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ole tekstowe 4">
            <a:extLst>
              <a:ext uri="{FF2B5EF4-FFF2-40B4-BE49-F238E27FC236}">
                <a16:creationId xmlns:a16="http://schemas.microsoft.com/office/drawing/2014/main" id="{984AD8E6-F142-E84C-9F49-74F2D456CD78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DDEDEC-F3F1-A9E5-340C-441723DDD87E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D8B014F2-4858-D3D6-4C1A-1971F7E4731A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</p:spTree>
    <p:extLst>
      <p:ext uri="{BB962C8B-B14F-4D97-AF65-F5344CB8AC3E}">
        <p14:creationId xmlns:p14="http://schemas.microsoft.com/office/powerpoint/2010/main" val="2784343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8EA55-5E68-C4B7-BEC3-2B7A602E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8F82F8BE-4BD9-A463-2ECD-11DE8726FCE0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D9A75B7-007C-F4E6-652E-B013D77B7FFE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FEAE4E0D-9E8A-5D7B-E2F8-4BA2D133CC18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D0AA1B-00DF-612A-4067-80EC9AEE1E0F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849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5737-E4DC-C739-11AA-BF3BA2629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6B410EE9-7F99-6FA7-64A9-43D482B5D99C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A5CA8DE-52A2-0B0E-9758-6914837B3FEE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8D23330-181B-7210-305D-32209FBACA4F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400F46C-D51A-0C9C-4FB8-1A48CFDE0B8B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9E18DB6-024B-08F4-CA62-F2195BF18501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</p:spTree>
    <p:extLst>
      <p:ext uri="{BB962C8B-B14F-4D97-AF65-F5344CB8AC3E}">
        <p14:creationId xmlns:p14="http://schemas.microsoft.com/office/powerpoint/2010/main" val="256113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6E1D-3FED-0970-445F-BD98F8577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B273ED7-6A19-66DE-F1C4-FA0D6A58E83E}"/>
                  </a:ext>
                </a:extLst>
              </p:cNvPr>
              <p:cNvSpPr txBox="1"/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3⋅4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B273ED7-6A19-66DE-F1C4-FA0D6A58E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3DAB2991-25DE-20AE-F576-8B388AC0EC2D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78AE8BD8-7792-5019-9720-EABBE8327476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D822616-BE8E-3B20-F2A5-E8291D01FC6A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1420DCC-BE62-BD2A-79A8-71CBD560DEFA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B9204CF-FDEE-40AE-C7B5-91F21A3C9C4F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375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B7B47-E285-C86B-E8B9-3EA9D8277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34E2D8C-1454-CE85-4220-EBA826C3D8B0}"/>
                  </a:ext>
                </a:extLst>
              </p:cNvPr>
              <p:cNvSpPr txBox="1"/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3⋅4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834E2D8C-1454-CE85-4220-EBA826C3D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ole tekstowe 5">
            <a:extLst>
              <a:ext uri="{FF2B5EF4-FFF2-40B4-BE49-F238E27FC236}">
                <a16:creationId xmlns:a16="http://schemas.microsoft.com/office/drawing/2014/main" id="{1D0B3EA6-2074-4580-EE78-7A7425C7790E}"/>
              </a:ext>
            </a:extLst>
          </p:cNvPr>
          <p:cNvSpPr txBox="1"/>
          <p:nvPr/>
        </p:nvSpPr>
        <p:spPr>
          <a:xfrm>
            <a:off x="176470" y="3703000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18F3D73-AA82-F349-12C7-1A62A1C2ABB3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287FEE4-F2AD-0579-4DE3-AA285F111080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D3E51587-F21F-EF02-4E80-DB177F2F77D8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612F846-792C-C0B1-3DA5-6DDB2F2BDC6E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8F80469-8DAB-8AD4-DA0D-03E0C527A7E0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84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CF8E-9ADD-07F1-C05F-C54EC5882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0BC1701-AFE4-4EE6-D877-310856762390}"/>
                  </a:ext>
                </a:extLst>
              </p:cNvPr>
              <p:cNvSpPr txBox="1"/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3⋅4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00BC1701-AFE4-4EE6-D877-310856762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ole tekstowe 8">
            <a:extLst>
              <a:ext uri="{FF2B5EF4-FFF2-40B4-BE49-F238E27FC236}">
                <a16:creationId xmlns:a16="http://schemas.microsoft.com/office/drawing/2014/main" id="{3EAE0452-5259-C64A-46F0-5D1DCFB376FB}"/>
              </a:ext>
            </a:extLst>
          </p:cNvPr>
          <p:cNvSpPr txBox="1"/>
          <p:nvPr/>
        </p:nvSpPr>
        <p:spPr>
          <a:xfrm>
            <a:off x="175797" y="4201598"/>
            <a:ext cx="68675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clubs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diamonds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hearts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2E8933C-87A6-D8F0-8119-CE5319D2B87F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EB5CD21-54F4-FF6C-10A6-13147DE5E196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2B8F91C4-1D8B-307C-CBD0-2B5132FE194C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1B8F945-C11C-73D4-5EB0-62A79E6CBAC0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762335A-33C2-BA6E-1482-15045E66CDFD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D24E3FC-7B0A-0C70-C0D1-E3BB45092F6E}"/>
              </a:ext>
            </a:extLst>
          </p:cNvPr>
          <p:cNvSpPr txBox="1"/>
          <p:nvPr/>
        </p:nvSpPr>
        <p:spPr>
          <a:xfrm>
            <a:off x="176470" y="3703000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637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667E3-2642-CD79-C5F3-A567BA1EC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14226D2-9627-70E1-7E72-800B8C905E99}"/>
                  </a:ext>
                </a:extLst>
              </p:cNvPr>
              <p:cNvSpPr txBox="1"/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3⋅4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=6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pole tekstowe 7">
                <a:extLst>
                  <a:ext uri="{FF2B5EF4-FFF2-40B4-BE49-F238E27FC236}">
                    <a16:creationId xmlns:a16="http://schemas.microsoft.com/office/drawing/2014/main" id="{714226D2-9627-70E1-7E72-800B8C905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9" y="2908936"/>
                <a:ext cx="3268908" cy="7940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8084E54B-4544-2A74-4FDD-3401CDF725E8}"/>
              </a:ext>
            </a:extLst>
          </p:cNvPr>
          <p:cNvSpPr txBox="1"/>
          <p:nvPr/>
        </p:nvSpPr>
        <p:spPr>
          <a:xfrm>
            <a:off x="175797" y="5688159"/>
            <a:ext cx="67714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clubs and queen of diamonds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clubs and queen of hearts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diamonds and queen of hearts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E8707A85-FF61-9E0B-CD91-0E52AD961F09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2086EE1-7ED8-F356-1593-12A41D3F32E5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FC1FE81F-EB2A-4346-8E07-3F7CE7FEF683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B1EAFCF-6720-B1BB-8E23-491826030A0D}"/>
              </a:ext>
            </a:extLst>
          </p:cNvPr>
          <p:cNvSpPr txBox="1"/>
          <p:nvPr/>
        </p:nvSpPr>
        <p:spPr>
          <a:xfrm>
            <a:off x="176470" y="2077939"/>
            <a:ext cx="12254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how many ways we can draw two queens from a deck of 52 cards.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A9E22FB0-8B3C-745C-DA07-7544EBE071AC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443C10B-9C5D-B52F-7019-89026C5C3C29}"/>
              </a:ext>
            </a:extLst>
          </p:cNvPr>
          <p:cNvSpPr txBox="1"/>
          <p:nvPr/>
        </p:nvSpPr>
        <p:spPr>
          <a:xfrm>
            <a:off x="175797" y="4201598"/>
            <a:ext cx="68675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possible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pairs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clubs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diamonds</a:t>
            </a:r>
            <a:endParaRPr lang="pl-PL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Queen of spades and queen of hearts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08A94EA-F9D3-3AAF-83B4-63D0EB7676A2}"/>
              </a:ext>
            </a:extLst>
          </p:cNvPr>
          <p:cNvSpPr txBox="1"/>
          <p:nvPr/>
        </p:nvSpPr>
        <p:spPr>
          <a:xfrm>
            <a:off x="176470" y="3703000"/>
            <a:ext cx="2154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 err="1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Justification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644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7403E-0943-FDCE-5621-8DA151BF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682AC283-90D2-19BD-4CFE-FF906EE7CABB}"/>
              </a:ext>
            </a:extLst>
          </p:cNvPr>
          <p:cNvSpPr txBox="1"/>
          <p:nvPr/>
        </p:nvSpPr>
        <p:spPr>
          <a:xfrm>
            <a:off x="176470" y="2077939"/>
            <a:ext cx="10182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the probability of winning the jackpot in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EEDC1B6-C8A1-28C2-81E3-D818DCAAD6B9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45A2453F-8172-2350-9E75-CC3449B39613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70F2660-882F-0695-1840-FF9E5BD1A415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664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1856-41AE-6727-560C-5B99B44B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ole tekstowe 5">
            <a:extLst>
              <a:ext uri="{FF2B5EF4-FFF2-40B4-BE49-F238E27FC236}">
                <a16:creationId xmlns:a16="http://schemas.microsoft.com/office/drawing/2014/main" id="{079A213E-C315-78E9-B5DB-51DC15830142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B169137-3C03-D8EB-E4DB-87E702EF5C25}"/>
              </a:ext>
            </a:extLst>
          </p:cNvPr>
          <p:cNvSpPr txBox="1"/>
          <p:nvPr/>
        </p:nvSpPr>
        <p:spPr>
          <a:xfrm>
            <a:off x="176470" y="2908936"/>
            <a:ext cx="119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only one winning possibility – we must guess all seven numbers.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259D8EE-B534-F193-6360-74EC6B6AF8BD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52E97DD-29C4-0783-6627-055434E69068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E8F37040-DAAB-B199-1D0A-0EED7E426E5F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B8C60887-82D5-CA4C-330B-C5535B922CB7}"/>
              </a:ext>
            </a:extLst>
          </p:cNvPr>
          <p:cNvSpPr txBox="1"/>
          <p:nvPr/>
        </p:nvSpPr>
        <p:spPr>
          <a:xfrm>
            <a:off x="176470" y="2077939"/>
            <a:ext cx="10182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the probability of winning the jackpot in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6706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6FE8-563C-0381-4CD4-0D8160E9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6">
            <a:extLst>
              <a:ext uri="{FF2B5EF4-FFF2-40B4-BE49-F238E27FC236}">
                <a16:creationId xmlns:a16="http://schemas.microsoft.com/office/drawing/2014/main" id="{AFCB015C-7AC2-53A6-411E-A2DAE4C38480}"/>
              </a:ext>
            </a:extLst>
          </p:cNvPr>
          <p:cNvSpPr txBox="1"/>
          <p:nvPr/>
        </p:nvSpPr>
        <p:spPr>
          <a:xfrm>
            <a:off x="176470" y="2908936"/>
            <a:ext cx="119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only one winning possibility – we must guess all seven numbers.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A6F45CE-3528-4021-D093-1729FD6A7B98}"/>
              </a:ext>
            </a:extLst>
          </p:cNvPr>
          <p:cNvSpPr txBox="1"/>
          <p:nvPr/>
        </p:nvSpPr>
        <p:spPr>
          <a:xfrm>
            <a:off x="176469" y="3370601"/>
            <a:ext cx="6726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total number of possible outcomes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A3ECA5C-BB63-9638-612E-0032894F88C5}"/>
                  </a:ext>
                </a:extLst>
              </p:cNvPr>
              <p:cNvSpPr txBox="1"/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5!45!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46⋅47⋅48⋅49⋅50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1⋅2⋅3⋅4⋅5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39,838,160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2A3ECA5C-BB63-9638-612E-0032894F8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pole tekstowe 9">
            <a:extLst>
              <a:ext uri="{FF2B5EF4-FFF2-40B4-BE49-F238E27FC236}">
                <a16:creationId xmlns:a16="http://schemas.microsoft.com/office/drawing/2014/main" id="{4F104A7A-5506-6D0D-84CA-FB7D94BE65F1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A3033A5-DA05-2032-BCF9-1D8B2B6E7AF2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8228D14D-966F-4756-E91B-30B788289680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04A7F3C-4539-B0F1-6EA9-1E9A19C292B5}"/>
              </a:ext>
            </a:extLst>
          </p:cNvPr>
          <p:cNvSpPr txBox="1"/>
          <p:nvPr/>
        </p:nvSpPr>
        <p:spPr>
          <a:xfrm>
            <a:off x="176470" y="2077939"/>
            <a:ext cx="10182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the probability of winning the jackpot in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9BB273C-9372-B86E-42E1-F94CBF5BBE3F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899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93C3-A095-F655-FE74-58AB6C337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F0BD8C78-7C7B-647E-FF64-A7CC6815DACD}"/>
              </a:ext>
            </a:extLst>
          </p:cNvPr>
          <p:cNvSpPr txBox="1"/>
          <p:nvPr/>
        </p:nvSpPr>
        <p:spPr>
          <a:xfrm>
            <a:off x="141877" y="4780062"/>
            <a:ext cx="374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equals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8E79BFAA-5115-B40B-9DC7-FC52766860DB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E6FA6F93-8323-5CA8-42E2-899E44401EB7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0500232B-BC5D-5D40-9B96-B00855054EDE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AC3F657-6F8E-72CF-2960-D1670D081FB2}"/>
              </a:ext>
            </a:extLst>
          </p:cNvPr>
          <p:cNvSpPr txBox="1"/>
          <p:nvPr/>
        </p:nvSpPr>
        <p:spPr>
          <a:xfrm>
            <a:off x="176470" y="2077939"/>
            <a:ext cx="10182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the probability of winning the jackpot in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D2F6A9CA-8401-B438-9D22-143E3975F202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16D528B1-908D-AA1C-6EB8-5B4DBD7D93CA}"/>
              </a:ext>
            </a:extLst>
          </p:cNvPr>
          <p:cNvSpPr txBox="1"/>
          <p:nvPr/>
        </p:nvSpPr>
        <p:spPr>
          <a:xfrm>
            <a:off x="176470" y="2908936"/>
            <a:ext cx="119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only one winning possibility – we must guess all seven numbers.</a:t>
            </a: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018C45E-DCE8-CC84-F718-ED0A94B8F5FC}"/>
              </a:ext>
            </a:extLst>
          </p:cNvPr>
          <p:cNvSpPr txBox="1"/>
          <p:nvPr/>
        </p:nvSpPr>
        <p:spPr>
          <a:xfrm>
            <a:off x="176469" y="3370601"/>
            <a:ext cx="6726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total number of possible outcomes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CC044F4-8BD0-5E83-5933-C1FA7BDA01E3}"/>
                  </a:ext>
                </a:extLst>
              </p:cNvPr>
              <p:cNvSpPr txBox="1"/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5!45!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46⋅47⋅48⋅49⋅50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1⋅2⋅3⋅4⋅5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39,838,160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pole tekstowe 17">
                <a:extLst>
                  <a:ext uri="{FF2B5EF4-FFF2-40B4-BE49-F238E27FC236}">
                    <a16:creationId xmlns:a16="http://schemas.microsoft.com/office/drawing/2014/main" id="{BCC044F4-8BD0-5E83-5933-C1FA7BDA0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14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D478B-D3CD-01A3-4466-453B3BDD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ole tekstowe 9">
            <a:extLst>
              <a:ext uri="{FF2B5EF4-FFF2-40B4-BE49-F238E27FC236}">
                <a16:creationId xmlns:a16="http://schemas.microsoft.com/office/drawing/2014/main" id="{8E52F568-48C6-89E4-D6E0-9BCBD0E847DC}"/>
              </a:ext>
            </a:extLst>
          </p:cNvPr>
          <p:cNvSpPr txBox="1"/>
          <p:nvPr/>
        </p:nvSpPr>
        <p:spPr>
          <a:xfrm>
            <a:off x="141877" y="4780062"/>
            <a:ext cx="3748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probability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l-PL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equals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A87E6E8-6DEF-3F24-36AB-EA440064A996}"/>
                  </a:ext>
                </a:extLst>
              </p:cNvPr>
              <p:cNvSpPr txBox="1"/>
              <p:nvPr/>
            </p:nvSpPr>
            <p:spPr>
              <a:xfrm>
                <a:off x="4668404" y="5010894"/>
                <a:ext cx="723085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𝑃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pl-PL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13983816</m:t>
                          </m:r>
                          <m:r>
                            <a:rPr lang="pl-PL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0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≈</m:t>
                      </m:r>
                      <m:r>
                        <a:rPr lang="pl-PL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.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000715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.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000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</m:t>
                      </m:r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00715</m:t>
                      </m:r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%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pole tekstowe 10">
                <a:extLst>
                  <a:ext uri="{FF2B5EF4-FFF2-40B4-BE49-F238E27FC236}">
                    <a16:creationId xmlns:a16="http://schemas.microsoft.com/office/drawing/2014/main" id="{1A87E6E8-6DEF-3F24-36AB-EA440064A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404" y="5010894"/>
                <a:ext cx="7230854" cy="783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158B183-34BC-7307-198B-193218FEDFE0}"/>
              </a:ext>
            </a:extLst>
          </p:cNvPr>
          <p:cNvSpPr txBox="1"/>
          <p:nvPr/>
        </p:nvSpPr>
        <p:spPr>
          <a:xfrm>
            <a:off x="4209202" y="-45720"/>
            <a:ext cx="4392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48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Combinations</a:t>
            </a:r>
            <a:endParaRPr lang="en-US" sz="4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D5B716E-D6B3-5950-C741-1C954745E10A}"/>
              </a:ext>
            </a:extLst>
          </p:cNvPr>
          <p:cNvSpPr txBox="1"/>
          <p:nvPr/>
        </p:nvSpPr>
        <p:spPr>
          <a:xfrm>
            <a:off x="176470" y="785277"/>
            <a:ext cx="97972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We use combinations (with or without repetition) in situations</a:t>
            </a:r>
            <a:b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where the order does not matter.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5298CEC-8742-D76F-049D-E53D464F03E8}"/>
              </a:ext>
            </a:extLst>
          </p:cNvPr>
          <p:cNvSpPr txBox="1"/>
          <p:nvPr/>
        </p:nvSpPr>
        <p:spPr>
          <a:xfrm>
            <a:off x="176470" y="1616274"/>
            <a:ext cx="1645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  <a:r>
              <a:rPr lang="pl-PL" sz="24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4D12FEC8-DAE3-308C-7018-CBDD6B903199}"/>
              </a:ext>
            </a:extLst>
          </p:cNvPr>
          <p:cNvSpPr txBox="1"/>
          <p:nvPr/>
        </p:nvSpPr>
        <p:spPr>
          <a:xfrm>
            <a:off x="176470" y="2077939"/>
            <a:ext cx="10182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Determine the probability of winning the jackpot in </a:t>
            </a:r>
            <a:r>
              <a:rPr lang="en-US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Eurojackpot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96DBBFC-3490-6D8E-4E28-28431C417328}"/>
              </a:ext>
            </a:extLst>
          </p:cNvPr>
          <p:cNvSpPr txBox="1"/>
          <p:nvPr/>
        </p:nvSpPr>
        <p:spPr>
          <a:xfrm>
            <a:off x="176470" y="2447271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dirty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Solution</a:t>
            </a:r>
            <a:r>
              <a:rPr lang="pl-PL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B1F5572-5AA6-F246-13C7-DF13368C2F9D}"/>
              </a:ext>
            </a:extLst>
          </p:cNvPr>
          <p:cNvSpPr txBox="1"/>
          <p:nvPr/>
        </p:nvSpPr>
        <p:spPr>
          <a:xfrm>
            <a:off x="176470" y="2908936"/>
            <a:ext cx="119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There is only one winning possibility – we must guess all seven numbers.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57812FCC-F23A-2318-F7AB-CBF772E3D10D}"/>
              </a:ext>
            </a:extLst>
          </p:cNvPr>
          <p:cNvSpPr txBox="1"/>
          <p:nvPr/>
        </p:nvSpPr>
        <p:spPr>
          <a:xfrm>
            <a:off x="176469" y="3370601"/>
            <a:ext cx="6726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 total number of possible outcomes is: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07EC686-51A2-157F-BA0A-A0C19C2981AD}"/>
                  </a:ext>
                </a:extLst>
              </p:cNvPr>
              <p:cNvSpPr txBox="1"/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50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12</m:t>
                              </m:r>
                            </m:num>
                            <m:den>
                              <m:r>
                                <a:rPr lang="pl-PL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50!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5!45!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12!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2!2!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46⋅47⋅48⋅49⋅50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1⋅2⋅3⋅4⋅5</m:t>
                          </m:r>
                        </m:den>
                      </m:f>
                      <m:r>
                        <a:rPr lang="pl-PL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⋅</m:t>
                      </m:r>
                      <m:f>
                        <m:fPr>
                          <m:ctrlP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fPr>
                        <m:num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11⋅12</m:t>
                          </m:r>
                        </m:num>
                        <m:den>
                          <m:r>
                            <a:rPr lang="pl-PL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1⋅2</m:t>
                          </m:r>
                        </m:den>
                      </m:f>
                      <m:r>
                        <a:rPr lang="pl-PL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pl-PL" sz="240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1</m:t>
                      </m:r>
                      <m:r>
                        <a:rPr lang="pl-PL" sz="24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39,838,160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pole tekstowe 18">
                <a:extLst>
                  <a:ext uri="{FF2B5EF4-FFF2-40B4-BE49-F238E27FC236}">
                    <a16:creationId xmlns:a16="http://schemas.microsoft.com/office/drawing/2014/main" id="{E07EC686-51A2-157F-BA0A-A0C19C298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68" y="3832266"/>
                <a:ext cx="11839063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683364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2274</TotalTime>
  <Words>1686</Words>
  <Application>Microsoft Office PowerPoint</Application>
  <PresentationFormat>Panoramiczny</PresentationFormat>
  <Paragraphs>171</Paragraphs>
  <Slides>27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Karol Kurek</dc:creator>
  <cp:lastModifiedBy>Karol Kurek</cp:lastModifiedBy>
  <cp:revision>117</cp:revision>
  <dcterms:created xsi:type="dcterms:W3CDTF">2024-10-31T12:17:59Z</dcterms:created>
  <dcterms:modified xsi:type="dcterms:W3CDTF">2025-09-23T14:41:57Z</dcterms:modified>
</cp:coreProperties>
</file>
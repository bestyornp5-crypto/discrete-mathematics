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313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306" r:id="rId42"/>
    <p:sldId id="296" r:id="rId43"/>
    <p:sldId id="297" r:id="rId44"/>
    <p:sldId id="298" r:id="rId45"/>
    <p:sldId id="300" r:id="rId46"/>
    <p:sldId id="299" r:id="rId47"/>
    <p:sldId id="312" r:id="rId48"/>
    <p:sldId id="311" r:id="rId49"/>
    <p:sldId id="310" r:id="rId50"/>
    <p:sldId id="301" r:id="rId51"/>
    <p:sldId id="302" r:id="rId52"/>
    <p:sldId id="304" r:id="rId53"/>
    <p:sldId id="305" r:id="rId54"/>
    <p:sldId id="307" r:id="rId55"/>
    <p:sldId id="308" r:id="rId56"/>
    <p:sldId id="309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F8C09CA9-2DB1-9488-0D69-54DBA3B66B8E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77AA3-B819-F4C0-582B-2126C9D9D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F720F7F8-B542-4163-DDE7-7DC95F13E78F}"/>
              </a:ext>
            </a:extLst>
          </p:cNvPr>
          <p:cNvSpPr txBox="1"/>
          <p:nvPr/>
        </p:nvSpPr>
        <p:spPr>
          <a:xfrm>
            <a:off x="118369" y="1523940"/>
            <a:ext cx="111251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rules of addition and multiplication in combinations do not change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their way of working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59C91D0D-1A11-5F62-59E4-F85261623CD2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1022191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63E97-296E-8BA8-DCF1-11A90BAEC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7A758D0E-5B78-4DF3-E78C-78A2A5792B04}"/>
              </a:ext>
            </a:extLst>
          </p:cNvPr>
          <p:cNvSpPr txBox="1"/>
          <p:nvPr/>
        </p:nvSpPr>
        <p:spPr>
          <a:xfrm>
            <a:off x="118369" y="1523940"/>
            <a:ext cx="120882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rules of addition and multiplication in combinations do not change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their way of working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"and"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occurs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we multiply,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"or"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–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dd.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331081E3-2DE1-8186-9CE8-F0BC673C9BD8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2858168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01B38-CF3F-F7A8-661D-6D348AFD2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0767D072-1E99-E592-F63D-B2A65B80DC16}"/>
              </a:ext>
            </a:extLst>
          </p:cNvPr>
          <p:cNvSpPr txBox="1"/>
          <p:nvPr/>
        </p:nvSpPr>
        <p:spPr>
          <a:xfrm>
            <a:off x="96316" y="2354937"/>
            <a:ext cx="89804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Again, we must make sure that the cases do not overlap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(usually in combinations this condition is satisfied).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3518B93-B7FB-D8CD-66D8-AAD8FCB62944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BE85647E-0A1E-1DEE-2BDD-4C35B085C958}"/>
              </a:ext>
            </a:extLst>
          </p:cNvPr>
          <p:cNvSpPr txBox="1"/>
          <p:nvPr/>
        </p:nvSpPr>
        <p:spPr>
          <a:xfrm>
            <a:off x="118369" y="1523940"/>
            <a:ext cx="120882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rules of addition and multiplication in combinations do not change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their way of working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"and"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occurs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we multiply,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"or"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–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dd.</a:t>
            </a:r>
          </a:p>
        </p:txBody>
      </p:sp>
    </p:spTree>
    <p:extLst>
      <p:ext uri="{BB962C8B-B14F-4D97-AF65-F5344CB8AC3E}">
        <p14:creationId xmlns:p14="http://schemas.microsoft.com/office/powerpoint/2010/main" val="3464547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DBFCA-A8B6-4077-D054-4FBF3E833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95773B10-8801-0E6D-910C-2C19DE92853B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57B8C06D-4296-6AD6-D4C1-248B9C9E9F88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402293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1F82C-024E-9010-7305-3E212E0E6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E92968F6-1CE4-2297-C8D1-325AB9B9481E}"/>
              </a:ext>
            </a:extLst>
          </p:cNvPr>
          <p:cNvSpPr txBox="1"/>
          <p:nvPr/>
        </p:nvSpPr>
        <p:spPr>
          <a:xfrm>
            <a:off x="98835" y="1985605"/>
            <a:ext cx="96895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draw two queens and three kings,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 three queens and two kings?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1831750-A866-B807-FDD4-1EC49410C0FC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23BED0F6-3A91-1D27-32FA-114F7073BB69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235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EA9D5-96C5-5623-C6D5-31CD5D949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ole tekstowe 5">
            <a:extLst>
              <a:ext uri="{FF2B5EF4-FFF2-40B4-BE49-F238E27FC236}">
                <a16:creationId xmlns:a16="http://schemas.microsoft.com/office/drawing/2014/main" id="{5D8BDBBD-FA1D-ABEB-4678-08EED82D35BA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E2BBC5FD-751A-321E-7C6A-06E9E05584D0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D73B543E-A75B-2ABA-3145-88AEB23F9880}"/>
              </a:ext>
            </a:extLst>
          </p:cNvPr>
          <p:cNvSpPr txBox="1"/>
          <p:nvPr/>
        </p:nvSpPr>
        <p:spPr>
          <a:xfrm>
            <a:off x="98835" y="1985605"/>
            <a:ext cx="96895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draw two queens and three kings,</a:t>
            </a:r>
            <a:endParaRPr lang="pl-PL" sz="240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three queens and two kings?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A4E2A908-B654-2B7C-2ABC-308D3D1896E6}"/>
              </a:ext>
            </a:extLst>
          </p:cNvPr>
          <p:cNvSpPr txBox="1"/>
          <p:nvPr/>
        </p:nvSpPr>
        <p:spPr>
          <a:xfrm>
            <a:off x="98835" y="2816602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597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06C94-632A-6627-3D23-22704992F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1C9BE67D-B9D8-5EC3-81F4-3B4BC63D5DAC}"/>
              </a:ext>
            </a:extLst>
          </p:cNvPr>
          <p:cNvSpPr txBox="1"/>
          <p:nvPr/>
        </p:nvSpPr>
        <p:spPr>
          <a:xfrm>
            <a:off x="98835" y="2816602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52BA097-C7A5-C98F-1BC0-0CE0A60AFE7C}"/>
                  </a:ext>
                </a:extLst>
              </p:cNvPr>
              <p:cNvSpPr txBox="1"/>
              <p:nvPr/>
            </p:nvSpPr>
            <p:spPr>
              <a:xfrm>
                <a:off x="118369" y="3278267"/>
                <a:ext cx="11955262" cy="792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52BA097-C7A5-C98F-1BC0-0CE0A60AF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3278267"/>
                <a:ext cx="11955262" cy="7927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09917DD2-7510-AAAE-2A7C-AAFC2A06D23A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77B93F00-3A79-9440-9FB3-BAF36E7610C4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234A7D91-3D63-979F-8714-630BB4B4C0F0}"/>
              </a:ext>
            </a:extLst>
          </p:cNvPr>
          <p:cNvSpPr txBox="1"/>
          <p:nvPr/>
        </p:nvSpPr>
        <p:spPr>
          <a:xfrm>
            <a:off x="98835" y="1985605"/>
            <a:ext cx="96895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draw two queens and three kings,</a:t>
            </a:r>
            <a:endParaRPr lang="pl-PL" sz="240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three queens and two kings?</a:t>
            </a:r>
          </a:p>
        </p:txBody>
      </p:sp>
    </p:spTree>
    <p:extLst>
      <p:ext uri="{BB962C8B-B14F-4D97-AF65-F5344CB8AC3E}">
        <p14:creationId xmlns:p14="http://schemas.microsoft.com/office/powerpoint/2010/main" val="2725702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8CA30-9621-BC3E-1F05-67A9457C7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D0E5749-45D1-2D6A-BD8C-5681A0F1037E}"/>
                  </a:ext>
                </a:extLst>
              </p:cNvPr>
              <p:cNvSpPr txBox="1"/>
              <p:nvPr/>
            </p:nvSpPr>
            <p:spPr>
              <a:xfrm>
                <a:off x="118369" y="3278267"/>
                <a:ext cx="11955262" cy="792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D0E5749-45D1-2D6A-BD8C-5681A0F10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3278267"/>
                <a:ext cx="11955262" cy="7927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95E6518E-30DF-5047-323D-D5A33903D97F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83D4BD64-F729-1370-B3B5-F1C39E4F32FA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4117F149-303F-524B-6A66-3DBAAE04AE4B}"/>
              </a:ext>
            </a:extLst>
          </p:cNvPr>
          <p:cNvSpPr txBox="1"/>
          <p:nvPr/>
        </p:nvSpPr>
        <p:spPr>
          <a:xfrm>
            <a:off x="98835" y="1985605"/>
            <a:ext cx="96895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draw two queens and three kings,</a:t>
            </a:r>
            <a:endParaRPr lang="pl-PL" sz="240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three queens and two kings?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84FA1A93-2EF6-46B2-B1EB-8520D318ECAE}"/>
              </a:ext>
            </a:extLst>
          </p:cNvPr>
          <p:cNvSpPr txBox="1"/>
          <p:nvPr/>
        </p:nvSpPr>
        <p:spPr>
          <a:xfrm>
            <a:off x="98835" y="2816602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0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ED374-62EA-7F31-65F3-F4AB107AE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56B4C4D-8FC4-40C5-CEAB-6632C4B30D65}"/>
                  </a:ext>
                </a:extLst>
              </p:cNvPr>
              <p:cNvSpPr txBox="1"/>
              <p:nvPr/>
            </p:nvSpPr>
            <p:spPr>
              <a:xfrm>
                <a:off x="118369" y="3278267"/>
                <a:ext cx="11955262" cy="792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=2⋅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56B4C4D-8FC4-40C5-CEAB-6632C4B30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3278267"/>
                <a:ext cx="11955262" cy="7927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A76666D4-819E-A9B4-4045-19EF546D5645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B1AFEBB2-9552-0E84-3AE3-166D24999540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D75B51B6-512C-764F-A019-13D33920432B}"/>
              </a:ext>
            </a:extLst>
          </p:cNvPr>
          <p:cNvSpPr txBox="1"/>
          <p:nvPr/>
        </p:nvSpPr>
        <p:spPr>
          <a:xfrm>
            <a:off x="98835" y="1985605"/>
            <a:ext cx="96895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draw two queens and three kings,</a:t>
            </a:r>
            <a:endParaRPr lang="pl-PL" sz="240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three queens and two kings?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34289521-B1C5-1B92-E83C-1B2B4DF91033}"/>
              </a:ext>
            </a:extLst>
          </p:cNvPr>
          <p:cNvSpPr txBox="1"/>
          <p:nvPr/>
        </p:nvSpPr>
        <p:spPr>
          <a:xfrm>
            <a:off x="98835" y="2816602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035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226A2-24CF-DADE-F5F5-57F6C94A9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C59B5A7-F716-CCA9-7144-38DB63BB7F5C}"/>
                  </a:ext>
                </a:extLst>
              </p:cNvPr>
              <p:cNvSpPr txBox="1"/>
              <p:nvPr/>
            </p:nvSpPr>
            <p:spPr>
              <a:xfrm>
                <a:off x="118369" y="3278267"/>
                <a:ext cx="11955262" cy="792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=2⋅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=2⋅6⋅4=48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C59B5A7-F716-CCA9-7144-38DB63BB7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3278267"/>
                <a:ext cx="11955262" cy="7927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850D3CED-A900-44AB-2F8C-73FC8B303450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A57B7E8B-5E19-5AE8-3E9F-308722117396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77656EF9-F7C5-6C98-A11F-5EB528FF80C7}"/>
              </a:ext>
            </a:extLst>
          </p:cNvPr>
          <p:cNvSpPr txBox="1"/>
          <p:nvPr/>
        </p:nvSpPr>
        <p:spPr>
          <a:xfrm>
            <a:off x="98835" y="1985605"/>
            <a:ext cx="96895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draw two queens and three kings,</a:t>
            </a:r>
            <a:endParaRPr lang="pl-PL" sz="240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three queens and two kings?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74B67445-ACDC-34F2-913C-7A39456C4337}"/>
              </a:ext>
            </a:extLst>
          </p:cNvPr>
          <p:cNvSpPr txBox="1"/>
          <p:nvPr/>
        </p:nvSpPr>
        <p:spPr>
          <a:xfrm>
            <a:off x="98835" y="2816602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982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C0096-1EA7-B5DA-6D3F-8D35D22D4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756ACBF2-E5DD-976F-75E5-5451EC45BAD6}"/>
                  </a:ext>
                </a:extLst>
              </p:cNvPr>
              <p:cNvSpPr txBox="1"/>
              <p:nvPr/>
            </p:nvSpPr>
            <p:spPr>
              <a:xfrm>
                <a:off x="98835" y="1985605"/>
                <a:ext cx="1138279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how many ways can we choose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cards from a standard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-card deck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 that we have at least one ace?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756ACBF2-E5DD-976F-75E5-5451EC45B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5" y="1985605"/>
                <a:ext cx="11382796" cy="830997"/>
              </a:xfrm>
              <a:prstGeom prst="rect">
                <a:avLst/>
              </a:prstGeom>
              <a:blipFill>
                <a:blip r:embed="rId2"/>
                <a:stretch>
                  <a:fillRect l="-803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E1766F43-1556-FB75-7F8C-22672F9C67DC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C9612CC1-87BB-AEC2-FFE6-678C6BB3C617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494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999C4-D2DF-F067-1510-01BFDF1C3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F0139CFD-C757-EE13-FFEA-E92B6F8EC570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153D9DBB-450E-4F63-EB60-61484BE392BC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2E9EE4C-8802-3F47-9A8E-170E8E8107CC}"/>
                  </a:ext>
                </a:extLst>
              </p:cNvPr>
              <p:cNvSpPr txBox="1"/>
              <p:nvPr/>
            </p:nvSpPr>
            <p:spPr>
              <a:xfrm>
                <a:off x="98835" y="1985605"/>
                <a:ext cx="1138279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how many ways can we choose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cards from a standard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-card deck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 that we have at least one ace?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2E9EE4C-8802-3F47-9A8E-170E8E810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5" y="1985605"/>
                <a:ext cx="11382796" cy="830997"/>
              </a:xfrm>
              <a:prstGeom prst="rect">
                <a:avLst/>
              </a:prstGeom>
              <a:blipFill>
                <a:blip r:embed="rId2"/>
                <a:stretch>
                  <a:fillRect l="-803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328F120E-F761-D3E1-D41C-E3B9FD957861}"/>
              </a:ext>
            </a:extLst>
          </p:cNvPr>
          <p:cNvSpPr txBox="1"/>
          <p:nvPr/>
        </p:nvSpPr>
        <p:spPr>
          <a:xfrm>
            <a:off x="98835" y="2816602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221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95528-2980-B4BA-9F77-DEC30B01B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56A5C06-59A5-1A5C-8B4E-941E4A1D7D96}"/>
                  </a:ext>
                </a:extLst>
              </p:cNvPr>
              <p:cNvSpPr txBox="1"/>
              <p:nvPr/>
            </p:nvSpPr>
            <p:spPr>
              <a:xfrm>
                <a:off x="118369" y="3278267"/>
                <a:ext cx="11955262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56A5C06-59A5-1A5C-8B4E-941E4A1D7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3278267"/>
                <a:ext cx="11955262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FD692795-C353-8A69-72B5-9852588BA8C2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2E5AD0A9-92D9-FAC9-1DD4-3A6C0092145E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449F0AE-2084-0E88-3C26-8AD34EC1930D}"/>
                  </a:ext>
                </a:extLst>
              </p:cNvPr>
              <p:cNvSpPr txBox="1"/>
              <p:nvPr/>
            </p:nvSpPr>
            <p:spPr>
              <a:xfrm>
                <a:off x="98835" y="1985605"/>
                <a:ext cx="1138279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how many ways can we choose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cards from a standard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-card deck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 that we have at least one ace?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449F0AE-2084-0E88-3C26-8AD34EC19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5" y="1985605"/>
                <a:ext cx="11382796" cy="830997"/>
              </a:xfrm>
              <a:prstGeom prst="rect">
                <a:avLst/>
              </a:prstGeom>
              <a:blipFill>
                <a:blip r:embed="rId2"/>
                <a:stretch>
                  <a:fillRect l="-803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13A422F2-5D48-9027-4273-0784CA6CF1D8}"/>
              </a:ext>
            </a:extLst>
          </p:cNvPr>
          <p:cNvSpPr txBox="1"/>
          <p:nvPr/>
        </p:nvSpPr>
        <p:spPr>
          <a:xfrm>
            <a:off x="98835" y="2816602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516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06ECA-BBAE-947B-1ABB-8A3C19727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AA97D09-3FBB-A793-970F-67DC9A32AB8C}"/>
                  </a:ext>
                </a:extLst>
              </p:cNvPr>
              <p:cNvSpPr txBox="1"/>
              <p:nvPr/>
            </p:nvSpPr>
            <p:spPr>
              <a:xfrm>
                <a:off x="118369" y="3278267"/>
                <a:ext cx="11955262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AA97D09-3FBB-A793-970F-67DC9A32A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3278267"/>
                <a:ext cx="11955262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01EBBF45-035E-4DB7-7DB2-B5FBE18DFB00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2BAFE20E-2240-E252-5C7B-31FD671D0801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E79A257-9414-BEA2-9C5C-26B5DB9FCFBC}"/>
                  </a:ext>
                </a:extLst>
              </p:cNvPr>
              <p:cNvSpPr txBox="1"/>
              <p:nvPr/>
            </p:nvSpPr>
            <p:spPr>
              <a:xfrm>
                <a:off x="98835" y="1985605"/>
                <a:ext cx="1138279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how many ways can we choose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cards from a standard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-card deck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 that we have at least one ace?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E79A257-9414-BEA2-9C5C-26B5DB9FC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5" y="1985605"/>
                <a:ext cx="11382796" cy="830997"/>
              </a:xfrm>
              <a:prstGeom prst="rect">
                <a:avLst/>
              </a:prstGeom>
              <a:blipFill>
                <a:blip r:embed="rId3"/>
                <a:stretch>
                  <a:fillRect l="-803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B87AB4B7-273B-A3F1-67B0-5032E324981D}"/>
              </a:ext>
            </a:extLst>
          </p:cNvPr>
          <p:cNvSpPr txBox="1"/>
          <p:nvPr/>
        </p:nvSpPr>
        <p:spPr>
          <a:xfrm>
            <a:off x="98835" y="2816602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5322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4E8C5-11A0-B488-A0D0-7A66EF577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1C0055D-26C5-8ACF-E484-9EE1FB47DBCC}"/>
                  </a:ext>
                </a:extLst>
              </p:cNvPr>
              <p:cNvSpPr txBox="1"/>
              <p:nvPr/>
            </p:nvSpPr>
            <p:spPr>
              <a:xfrm>
                <a:off x="118369" y="3278267"/>
                <a:ext cx="11955262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1C0055D-26C5-8ACF-E484-9EE1FB47D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3278267"/>
                <a:ext cx="11955262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0459E70C-0851-7B41-1A0C-5FE19C21B463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4DBC3999-AFD5-295B-1C9E-7BF9F08171BE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4ACF516-C6BF-FA9B-9649-8730836AB5B5}"/>
                  </a:ext>
                </a:extLst>
              </p:cNvPr>
              <p:cNvSpPr txBox="1"/>
              <p:nvPr/>
            </p:nvSpPr>
            <p:spPr>
              <a:xfrm>
                <a:off x="98835" y="1985605"/>
                <a:ext cx="1138279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how many ways can we choose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cards from a standard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-card deck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 that we have at least one ace?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4ACF516-C6BF-FA9B-9649-8730836AB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5" y="1985605"/>
                <a:ext cx="11382796" cy="830997"/>
              </a:xfrm>
              <a:prstGeom prst="rect">
                <a:avLst/>
              </a:prstGeom>
              <a:blipFill>
                <a:blip r:embed="rId3"/>
                <a:stretch>
                  <a:fillRect l="-803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20A2E28C-1165-9DF9-12EA-7BED7AAF8283}"/>
              </a:ext>
            </a:extLst>
          </p:cNvPr>
          <p:cNvSpPr txBox="1"/>
          <p:nvPr/>
        </p:nvSpPr>
        <p:spPr>
          <a:xfrm>
            <a:off x="98835" y="2816602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232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046D5-AD4E-E491-0F7B-52D60ED06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DE5B222-686D-6A22-C024-EED33EEAE0C4}"/>
                  </a:ext>
                </a:extLst>
              </p:cNvPr>
              <p:cNvSpPr txBox="1"/>
              <p:nvPr/>
            </p:nvSpPr>
            <p:spPr>
              <a:xfrm>
                <a:off x="118369" y="3278267"/>
                <a:ext cx="11955262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=4⋅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47⋅48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1⋅2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+6⋅48+4=4804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DE5B222-686D-6A22-C024-EED33EEAE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3278267"/>
                <a:ext cx="11955262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9FD77333-107A-6286-AEA8-9DCB6489C475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89A03E32-3DB2-419B-C699-309D1D1A1F74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20D0DCF-C2F1-F5AB-5D03-7133AC21F173}"/>
                  </a:ext>
                </a:extLst>
              </p:cNvPr>
              <p:cNvSpPr txBox="1"/>
              <p:nvPr/>
            </p:nvSpPr>
            <p:spPr>
              <a:xfrm>
                <a:off x="98835" y="1985605"/>
                <a:ext cx="1138279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how many ways can we choose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cards from a standard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-card deck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 that we have at least one ace?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20D0DCF-C2F1-F5AB-5D03-7133AC21F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5" y="1985605"/>
                <a:ext cx="11382796" cy="830997"/>
              </a:xfrm>
              <a:prstGeom prst="rect">
                <a:avLst/>
              </a:prstGeom>
              <a:blipFill>
                <a:blip r:embed="rId3"/>
                <a:stretch>
                  <a:fillRect l="-803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85A65BC9-4592-B627-4404-755505AF9079}"/>
              </a:ext>
            </a:extLst>
          </p:cNvPr>
          <p:cNvSpPr txBox="1"/>
          <p:nvPr/>
        </p:nvSpPr>
        <p:spPr>
          <a:xfrm>
            <a:off x="98835" y="2816602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980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1812F-ED2E-A553-6BC5-194DD6DC9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3C77FEE-1A77-6DF2-FE70-FA60E7BD4B6B}"/>
                  </a:ext>
                </a:extLst>
              </p:cNvPr>
              <p:cNvSpPr txBox="1"/>
              <p:nvPr/>
            </p:nvSpPr>
            <p:spPr>
              <a:xfrm>
                <a:off x="118369" y="3278267"/>
                <a:ext cx="11955262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=4⋅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47⋅48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1⋅2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+6⋅48+4=4804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3C77FEE-1A77-6DF2-FE70-FA60E7BD4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3278267"/>
                <a:ext cx="11955262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60DB768-70D5-72CB-1C9E-1C3A46FC9C6B}"/>
                  </a:ext>
                </a:extLst>
              </p:cNvPr>
              <p:cNvSpPr txBox="1"/>
              <p:nvPr/>
            </p:nvSpPr>
            <p:spPr>
              <a:xfrm>
                <a:off x="137903" y="4201020"/>
                <a:ext cx="11955262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60DB768-70D5-72CB-1C9E-1C3A46FC9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03" y="4201020"/>
                <a:ext cx="11955262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A54E57B0-4992-DF64-333F-3E6C6B9D33C0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D9F542F0-486F-A68D-3BD6-39BF664B079F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8E97831F-B85E-0E2B-6B1E-0442EF26A4BD}"/>
                  </a:ext>
                </a:extLst>
              </p:cNvPr>
              <p:cNvSpPr txBox="1"/>
              <p:nvPr/>
            </p:nvSpPr>
            <p:spPr>
              <a:xfrm>
                <a:off x="98835" y="1985605"/>
                <a:ext cx="1138279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how many ways can we choose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cards from a standard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-card deck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 that we have at least one ace?</a:t>
                </a: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8E97831F-B85E-0E2B-6B1E-0442EF26A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5" y="1985605"/>
                <a:ext cx="11382796" cy="830997"/>
              </a:xfrm>
              <a:prstGeom prst="rect">
                <a:avLst/>
              </a:prstGeom>
              <a:blipFill>
                <a:blip r:embed="rId4"/>
                <a:stretch>
                  <a:fillRect l="-803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072EE66E-6392-B8AF-2E35-56CD74A64EE5}"/>
              </a:ext>
            </a:extLst>
          </p:cNvPr>
          <p:cNvSpPr txBox="1"/>
          <p:nvPr/>
        </p:nvSpPr>
        <p:spPr>
          <a:xfrm>
            <a:off x="98835" y="2816602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717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4764E-0532-7B92-C63E-959E7D262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583ED552-D850-7775-06BD-EA89826D57E4}"/>
                  </a:ext>
                </a:extLst>
              </p:cNvPr>
              <p:cNvSpPr txBox="1"/>
              <p:nvPr/>
            </p:nvSpPr>
            <p:spPr>
              <a:xfrm>
                <a:off x="118369" y="3278267"/>
                <a:ext cx="11955262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=4⋅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47⋅48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1⋅2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+6⋅48+4=4804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583ED552-D850-7775-06BD-EA89826D5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3278267"/>
                <a:ext cx="11955262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245A4F6-96DB-CA69-22A5-69D6DF05A88F}"/>
                  </a:ext>
                </a:extLst>
              </p:cNvPr>
              <p:cNvSpPr txBox="1"/>
              <p:nvPr/>
            </p:nvSpPr>
            <p:spPr>
              <a:xfrm>
                <a:off x="137903" y="4201020"/>
                <a:ext cx="11955262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245A4F6-96DB-CA69-22A5-69D6DF05A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03" y="4201020"/>
                <a:ext cx="11955262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A74A25B1-7C8C-AB7F-2D29-1E8507EC583E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5F23253D-5979-70C8-85D1-215159B74F5A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122BB6E3-36C8-4768-BF68-2F1B1BD2D45B}"/>
                  </a:ext>
                </a:extLst>
              </p:cNvPr>
              <p:cNvSpPr txBox="1"/>
              <p:nvPr/>
            </p:nvSpPr>
            <p:spPr>
              <a:xfrm>
                <a:off x="98835" y="1985605"/>
                <a:ext cx="1138279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how many ways can we choose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cards from a standard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-card deck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 that we have at least one ace?</a:t>
                </a: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122BB6E3-36C8-4768-BF68-2F1B1BD2D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5" y="1985605"/>
                <a:ext cx="11382796" cy="830997"/>
              </a:xfrm>
              <a:prstGeom prst="rect">
                <a:avLst/>
              </a:prstGeom>
              <a:blipFill>
                <a:blip r:embed="rId4"/>
                <a:stretch>
                  <a:fillRect l="-803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F2046E6C-E851-ABC9-C26C-F7C0C1D1B609}"/>
              </a:ext>
            </a:extLst>
          </p:cNvPr>
          <p:cNvSpPr txBox="1"/>
          <p:nvPr/>
        </p:nvSpPr>
        <p:spPr>
          <a:xfrm>
            <a:off x="98835" y="2816602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8659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1A0B1-9379-F1A4-CB5D-FCB95A4AA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FCB3339-3C47-443F-1C55-C5A2FC7370B9}"/>
                  </a:ext>
                </a:extLst>
              </p:cNvPr>
              <p:cNvSpPr txBox="1"/>
              <p:nvPr/>
            </p:nvSpPr>
            <p:spPr>
              <a:xfrm>
                <a:off x="118369" y="3278267"/>
                <a:ext cx="11955262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=4⋅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47⋅48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1⋅2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+6⋅48+4=4804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FCB3339-3C47-443F-1C55-C5A2FC737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3278267"/>
                <a:ext cx="11955262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186DF0F-73EA-EE2E-EB61-F7B951398E93}"/>
                  </a:ext>
                </a:extLst>
              </p:cNvPr>
              <p:cNvSpPr txBox="1"/>
              <p:nvPr/>
            </p:nvSpPr>
            <p:spPr>
              <a:xfrm>
                <a:off x="137903" y="4201020"/>
                <a:ext cx="11955262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50⋅51⋅52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1⋅2⋅3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46⋅47⋅48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1⋅2⋅3</m:t>
                          </m:r>
                        </m:den>
                      </m:f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=22100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−17296=4804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186DF0F-73EA-EE2E-EB61-F7B951398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03" y="4201020"/>
                <a:ext cx="11955262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A1312B7C-DFFD-3B0D-160C-83195F127674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D3823045-A7D1-98F0-2865-C0D875BDEBDB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F6EB5373-27FA-6732-85F5-84C7A955382C}"/>
                  </a:ext>
                </a:extLst>
              </p:cNvPr>
              <p:cNvSpPr txBox="1"/>
              <p:nvPr/>
            </p:nvSpPr>
            <p:spPr>
              <a:xfrm>
                <a:off x="98835" y="1985605"/>
                <a:ext cx="1138279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how many ways can we choose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cards from a standard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-card deck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 that we have at least one ace?</a:t>
                </a: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F6EB5373-27FA-6732-85F5-84C7A9553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5" y="1985605"/>
                <a:ext cx="11382796" cy="830997"/>
              </a:xfrm>
              <a:prstGeom prst="rect">
                <a:avLst/>
              </a:prstGeom>
              <a:blipFill>
                <a:blip r:embed="rId4"/>
                <a:stretch>
                  <a:fillRect l="-803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CE5CA7D9-51F9-1A4E-70A9-8AADCDDE6305}"/>
              </a:ext>
            </a:extLst>
          </p:cNvPr>
          <p:cNvSpPr txBox="1"/>
          <p:nvPr/>
        </p:nvSpPr>
        <p:spPr>
          <a:xfrm>
            <a:off x="98835" y="2816602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389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9E4AD-B21A-507D-AD20-2A5549DA6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D05EBD2-6D5F-3780-4162-1C5FA37FE4DD}"/>
                  </a:ext>
                </a:extLst>
              </p:cNvPr>
              <p:cNvSpPr txBox="1"/>
              <p:nvPr/>
            </p:nvSpPr>
            <p:spPr>
              <a:xfrm>
                <a:off x="118369" y="3278267"/>
                <a:ext cx="11955262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=4⋅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47⋅48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1⋅2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+6⋅48+4=4804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D05EBD2-6D5F-3780-4162-1C5FA37FE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3278267"/>
                <a:ext cx="11955262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1FE1C676-00BC-A0D6-0F1C-CA15C994E9B6}"/>
                  </a:ext>
                </a:extLst>
              </p:cNvPr>
              <p:cNvSpPr txBox="1"/>
              <p:nvPr/>
            </p:nvSpPr>
            <p:spPr>
              <a:xfrm>
                <a:off x="137903" y="4201020"/>
                <a:ext cx="11955262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50⋅51⋅52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1⋅2⋅3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46⋅47⋅48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1⋅2⋅3</m:t>
                          </m:r>
                        </m:den>
                      </m:f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=22100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−17296=4804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1FE1C676-00BC-A0D6-0F1C-CA15C994E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03" y="4201020"/>
                <a:ext cx="11955262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91098D06-3AD1-2F32-0425-6A15A5C9AAA8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C1226583-846D-C9D9-AC29-8CECDAF8B25A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5EBAD696-948D-09B6-4064-D549E6973174}"/>
                  </a:ext>
                </a:extLst>
              </p:cNvPr>
              <p:cNvSpPr txBox="1"/>
              <p:nvPr/>
            </p:nvSpPr>
            <p:spPr>
              <a:xfrm>
                <a:off x="98835" y="1985605"/>
                <a:ext cx="1138279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how many ways can we choose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cards from a standard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-card deck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 that we have at least one ace?</a:t>
                </a: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5EBAD696-948D-09B6-4064-D549E6973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5" y="1985605"/>
                <a:ext cx="11382796" cy="830997"/>
              </a:xfrm>
              <a:prstGeom prst="rect">
                <a:avLst/>
              </a:prstGeom>
              <a:blipFill>
                <a:blip r:embed="rId4"/>
                <a:stretch>
                  <a:fillRect l="-803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CF04E0A4-09ED-6ACC-697D-DE3D2195792A}"/>
              </a:ext>
            </a:extLst>
          </p:cNvPr>
          <p:cNvSpPr txBox="1"/>
          <p:nvPr/>
        </p:nvSpPr>
        <p:spPr>
          <a:xfrm>
            <a:off x="98835" y="2816602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853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C0A72-EE69-043F-1DBE-66397F8F1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D91A18A-7FCE-A5F4-B708-C72835A589FA}"/>
                  </a:ext>
                </a:extLst>
              </p:cNvPr>
              <p:cNvSpPr txBox="1"/>
              <p:nvPr/>
            </p:nvSpPr>
            <p:spPr>
              <a:xfrm>
                <a:off x="137903" y="4201020"/>
                <a:ext cx="11955262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50⋅51⋅52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1⋅2⋅3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46⋅47⋅48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1⋅2⋅3</m:t>
                          </m:r>
                        </m:den>
                      </m:f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=22100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−17296=4804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D91A18A-7FCE-A5F4-B708-C72835A58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03" y="4201020"/>
                <a:ext cx="11955262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27A73F6-B97D-A59B-B4C2-54A5EB467764}"/>
                  </a:ext>
                </a:extLst>
              </p:cNvPr>
              <p:cNvSpPr txBox="1"/>
              <p:nvPr/>
            </p:nvSpPr>
            <p:spPr>
              <a:xfrm>
                <a:off x="118369" y="3278267"/>
                <a:ext cx="11955262" cy="1035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𝑃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48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48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48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52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1201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5525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27A73F6-B97D-A59B-B4C2-54A5EB467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3278267"/>
                <a:ext cx="11955262" cy="10359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4B53DB4E-60BD-3FB3-D10F-99CA04C540F3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62EBFFB9-4599-A15E-B72E-C6AA23B5F8EB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86F2B42E-BA1B-1940-C597-8E494F621E57}"/>
                  </a:ext>
                </a:extLst>
              </p:cNvPr>
              <p:cNvSpPr txBox="1"/>
              <p:nvPr/>
            </p:nvSpPr>
            <p:spPr>
              <a:xfrm>
                <a:off x="98835" y="1985605"/>
                <a:ext cx="1138279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how many ways can we choose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cards from a standard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-card deck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 that we have at least one ace?</a:t>
                </a: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86F2B42E-BA1B-1940-C597-8E494F621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5" y="1985605"/>
                <a:ext cx="11382796" cy="830997"/>
              </a:xfrm>
              <a:prstGeom prst="rect">
                <a:avLst/>
              </a:prstGeom>
              <a:blipFill>
                <a:blip r:embed="rId4"/>
                <a:stretch>
                  <a:fillRect l="-803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37F8B2E7-BEEB-AE03-D3F9-99FCFB6437D3}"/>
              </a:ext>
            </a:extLst>
          </p:cNvPr>
          <p:cNvSpPr txBox="1"/>
          <p:nvPr/>
        </p:nvSpPr>
        <p:spPr>
          <a:xfrm>
            <a:off x="98835" y="2816602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191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DB987-0A3D-A8CD-7D8B-0B876BDE9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59BE63C-25E3-FD54-3F32-7DBD65345C29}"/>
                  </a:ext>
                </a:extLst>
              </p:cNvPr>
              <p:cNvSpPr txBox="1"/>
              <p:nvPr/>
            </p:nvSpPr>
            <p:spPr>
              <a:xfrm>
                <a:off x="118369" y="3278267"/>
                <a:ext cx="11955262" cy="1035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𝑃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48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48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48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52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1201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5525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59BE63C-25E3-FD54-3F32-7DBD65345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3278267"/>
                <a:ext cx="11955262" cy="10359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49DEC57-1C2D-AFCB-D1BC-58BB2BC847B2}"/>
                  </a:ext>
                </a:extLst>
              </p:cNvPr>
              <p:cNvSpPr txBox="1"/>
              <p:nvPr/>
            </p:nvSpPr>
            <p:spPr>
              <a:xfrm>
                <a:off x="137903" y="4201020"/>
                <a:ext cx="11955262" cy="1042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𝑃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=1−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48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52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</m:t>
                      </m:r>
                      <m:f>
                        <m:f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1201</m:t>
                          </m:r>
                        </m:num>
                        <m:den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5525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49DEC57-1C2D-AFCB-D1BC-58BB2BC84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03" y="4201020"/>
                <a:ext cx="11955262" cy="10426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FC66E871-681C-E351-41C0-A160D3331BCA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C8622A0B-4126-3AFE-2BE5-19388959E1AD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42D4E1BA-D21A-068C-1E9F-81C122BC6A0F}"/>
                  </a:ext>
                </a:extLst>
              </p:cNvPr>
              <p:cNvSpPr txBox="1"/>
              <p:nvPr/>
            </p:nvSpPr>
            <p:spPr>
              <a:xfrm>
                <a:off x="98835" y="1985605"/>
                <a:ext cx="1138279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how many ways can we choose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cards from a standard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-card deck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 that we have at least one ace?</a:t>
                </a: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42D4E1BA-D21A-068C-1E9F-81C122BC6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5" y="1985605"/>
                <a:ext cx="11382796" cy="830997"/>
              </a:xfrm>
              <a:prstGeom prst="rect">
                <a:avLst/>
              </a:prstGeom>
              <a:blipFill>
                <a:blip r:embed="rId4"/>
                <a:stretch>
                  <a:fillRect l="-803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F43EDBD3-41E0-8EE4-DFD3-67AE1CEE8CC7}"/>
              </a:ext>
            </a:extLst>
          </p:cNvPr>
          <p:cNvSpPr txBox="1"/>
          <p:nvPr/>
        </p:nvSpPr>
        <p:spPr>
          <a:xfrm>
            <a:off x="98835" y="2816602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0679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47986-0EC5-4459-FE8A-ED1FD11D2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55890B96-C8C5-00C8-5D08-2CF798682F95}"/>
              </a:ext>
            </a:extLst>
          </p:cNvPr>
          <p:cNvSpPr txBox="1"/>
          <p:nvPr/>
        </p:nvSpPr>
        <p:spPr>
          <a:xfrm>
            <a:off x="98835" y="1985605"/>
            <a:ext cx="118558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the probability of winning in Lotto (6 out of 49 – a lottery available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Canada, Poland, Germany, and Spain) with three numbers,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four numbers, five numbers, six numbers?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4161721-9507-04D9-91BC-A899B3E1F18A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9A1C21A2-FB0C-9B9B-7A29-847E590CB97B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8725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38168-F457-F37F-A552-C89517A60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D897955D-F169-D40D-B51B-BAEC8752849E}"/>
              </a:ext>
            </a:extLst>
          </p:cNvPr>
          <p:cNvSpPr txBox="1"/>
          <p:nvPr/>
        </p:nvSpPr>
        <p:spPr>
          <a:xfrm>
            <a:off x="118369" y="3185934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823E642-B9DC-0EDC-EEBC-6A9D63A35E83}"/>
                  </a:ext>
                </a:extLst>
              </p:cNvPr>
              <p:cNvSpPr txBox="1"/>
              <p:nvPr/>
            </p:nvSpPr>
            <p:spPr>
              <a:xfrm>
                <a:off x="108603" y="3644635"/>
                <a:ext cx="11974795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823E642-B9DC-0EDC-EEBC-6A9D63A35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03" y="3644635"/>
                <a:ext cx="11974795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095D86C8-9FDC-321D-40E2-4CF4C8E0F9A1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3654A8FE-8544-9DB5-744F-C4DEB7533E41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BDA2BA7E-0851-6E76-1466-86A7642D7466}"/>
              </a:ext>
            </a:extLst>
          </p:cNvPr>
          <p:cNvSpPr txBox="1"/>
          <p:nvPr/>
        </p:nvSpPr>
        <p:spPr>
          <a:xfrm>
            <a:off x="98835" y="1985605"/>
            <a:ext cx="118558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the probability of winning in Lotto (6 out of 49 – a lottery available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Canada, Poland, Germany, and Spain) with three numbers,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four numbers, five numbers, six numbers?</a:t>
            </a:r>
          </a:p>
        </p:txBody>
      </p:sp>
    </p:spTree>
    <p:extLst>
      <p:ext uri="{BB962C8B-B14F-4D97-AF65-F5344CB8AC3E}">
        <p14:creationId xmlns:p14="http://schemas.microsoft.com/office/powerpoint/2010/main" val="621205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60C03-CF9E-3D6B-680F-4E1813743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36573451-5A74-553A-A446-4CD9A299DAFC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AC34BED-49FA-891D-22E0-DE3CD51175D9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18EACD75-0E03-2265-960D-608156CE7C5D}"/>
              </a:ext>
            </a:extLst>
          </p:cNvPr>
          <p:cNvSpPr txBox="1"/>
          <p:nvPr/>
        </p:nvSpPr>
        <p:spPr>
          <a:xfrm>
            <a:off x="118369" y="3185934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473B44FC-7DD6-FA3A-19A4-FD961509D26E}"/>
                  </a:ext>
                </a:extLst>
              </p:cNvPr>
              <p:cNvSpPr txBox="1"/>
              <p:nvPr/>
            </p:nvSpPr>
            <p:spPr>
              <a:xfrm>
                <a:off x="108603" y="3644635"/>
                <a:ext cx="11974795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473B44FC-7DD6-FA3A-19A4-FD961509D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03" y="3644635"/>
                <a:ext cx="11974795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6AA95E41-06CB-5460-B6B8-43458BA974CC}"/>
              </a:ext>
            </a:extLst>
          </p:cNvPr>
          <p:cNvSpPr txBox="1"/>
          <p:nvPr/>
        </p:nvSpPr>
        <p:spPr>
          <a:xfrm>
            <a:off x="98835" y="1985605"/>
            <a:ext cx="118558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the probability of winning in Lotto (6 out of 49 – a lottery available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Canada, Poland, Germany, and Spain) with three numbers,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four numbers, five numbers, six numbers?</a:t>
            </a:r>
          </a:p>
        </p:txBody>
      </p:sp>
    </p:spTree>
    <p:extLst>
      <p:ext uri="{BB962C8B-B14F-4D97-AF65-F5344CB8AC3E}">
        <p14:creationId xmlns:p14="http://schemas.microsoft.com/office/powerpoint/2010/main" val="13139798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C711E-559B-9F7A-EA63-833780BE9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5F47C11F-D4F1-5DDB-E529-4982101E514E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6A73C241-AAB5-CE15-D490-0106238436F2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26447220-A270-00EC-DD87-794D5B9F20CE}"/>
              </a:ext>
            </a:extLst>
          </p:cNvPr>
          <p:cNvSpPr txBox="1"/>
          <p:nvPr/>
        </p:nvSpPr>
        <p:spPr>
          <a:xfrm>
            <a:off x="118369" y="3185934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EB021BCE-9D63-A3CF-6416-2DE0038312B7}"/>
                  </a:ext>
                </a:extLst>
              </p:cNvPr>
              <p:cNvSpPr txBox="1"/>
              <p:nvPr/>
            </p:nvSpPr>
            <p:spPr>
              <a:xfrm>
                <a:off x="108603" y="3644635"/>
                <a:ext cx="11974795" cy="1037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49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EB021BCE-9D63-A3CF-6416-2DE003831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03" y="3644635"/>
                <a:ext cx="11974795" cy="10378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FBCCC30B-DC29-0FA6-ECE5-1FE73D13E7CF}"/>
              </a:ext>
            </a:extLst>
          </p:cNvPr>
          <p:cNvSpPr txBox="1"/>
          <p:nvPr/>
        </p:nvSpPr>
        <p:spPr>
          <a:xfrm>
            <a:off x="98835" y="1985605"/>
            <a:ext cx="118558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the probability of winning in Lotto (6 out of 49 – a lottery available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Canada, Poland, Germany, and Spain) with three numbers,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four numbers, five numbers, six numbers?</a:t>
            </a:r>
          </a:p>
        </p:txBody>
      </p:sp>
    </p:spTree>
    <p:extLst>
      <p:ext uri="{BB962C8B-B14F-4D97-AF65-F5344CB8AC3E}">
        <p14:creationId xmlns:p14="http://schemas.microsoft.com/office/powerpoint/2010/main" val="14858315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30E2F-CC75-D99F-1BDA-AC917EC18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D7DC094F-DDB7-C171-0B9E-D64B090846A1}"/>
              </a:ext>
            </a:extLst>
          </p:cNvPr>
          <p:cNvSpPr txBox="1"/>
          <p:nvPr/>
        </p:nvSpPr>
        <p:spPr>
          <a:xfrm>
            <a:off x="98835" y="1985605"/>
            <a:ext cx="122555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the probability of winning in Lotto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three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four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five,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six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EFE64227-311B-90C2-AF48-FEC20E9BA3B1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8ACEDEE9-DEAC-F82C-A642-E7D0A871AF47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3BBF41CB-9B84-D2ED-A4DF-8D0E7B7F6A56}"/>
              </a:ext>
            </a:extLst>
          </p:cNvPr>
          <p:cNvSpPr txBox="1"/>
          <p:nvPr/>
        </p:nvSpPr>
        <p:spPr>
          <a:xfrm>
            <a:off x="98835" y="2447270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15F4C5A4-ADC5-0451-F534-736943063465}"/>
                  </a:ext>
                </a:extLst>
              </p:cNvPr>
              <p:cNvSpPr txBox="1"/>
              <p:nvPr/>
            </p:nvSpPr>
            <p:spPr>
              <a:xfrm>
                <a:off x="98835" y="2678102"/>
                <a:ext cx="11974795" cy="1037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8815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499422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≈0.0177=1.77%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15F4C5A4-ADC5-0451-F534-736943063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5" y="2678102"/>
                <a:ext cx="11974795" cy="10374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98076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3ADCB-5A1C-5FA8-0D13-9170E0DB9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ole tekstowe 7">
            <a:extLst>
              <a:ext uri="{FF2B5EF4-FFF2-40B4-BE49-F238E27FC236}">
                <a16:creationId xmlns:a16="http://schemas.microsoft.com/office/drawing/2014/main" id="{C22DF642-BFBD-C243-7952-7402E38ACB81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00970D90-7EA4-DA47-D2DE-A71251CB006C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26F2DCCD-8458-159F-B82A-E054356A4171}"/>
              </a:ext>
            </a:extLst>
          </p:cNvPr>
          <p:cNvSpPr txBox="1"/>
          <p:nvPr/>
        </p:nvSpPr>
        <p:spPr>
          <a:xfrm>
            <a:off x="98835" y="2447270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B6C0AAF3-5432-67C8-EB5D-0788C740A4DF}"/>
              </a:ext>
            </a:extLst>
          </p:cNvPr>
          <p:cNvSpPr txBox="1"/>
          <p:nvPr/>
        </p:nvSpPr>
        <p:spPr>
          <a:xfrm>
            <a:off x="98835" y="1985605"/>
            <a:ext cx="122555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the probability of winning in Lotto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three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four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five,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six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43A014FE-D8A0-3EBF-FD82-91B2C2A96368}"/>
                  </a:ext>
                </a:extLst>
              </p:cNvPr>
              <p:cNvSpPr txBox="1"/>
              <p:nvPr/>
            </p:nvSpPr>
            <p:spPr>
              <a:xfrm>
                <a:off x="98835" y="2678102"/>
                <a:ext cx="11974795" cy="1037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8815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499422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≈0.0177=1.77%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43A014FE-D8A0-3EBF-FD82-91B2C2A96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5" y="2678102"/>
                <a:ext cx="11974795" cy="10374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969DA0B-20F7-84DC-D875-DF108C7AD82E}"/>
                  </a:ext>
                </a:extLst>
              </p:cNvPr>
              <p:cNvSpPr txBox="1"/>
              <p:nvPr/>
            </p:nvSpPr>
            <p:spPr>
              <a:xfrm>
                <a:off x="108602" y="3715502"/>
                <a:ext cx="11974795" cy="1037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645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665896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≈0.00097=0.097%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969DA0B-20F7-84DC-D875-DF108C7AD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02" y="3715502"/>
                <a:ext cx="11974795" cy="1037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6957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205BF-BD02-18AA-7C9C-915E8D5E0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ole tekstowe 8">
            <a:extLst>
              <a:ext uri="{FF2B5EF4-FFF2-40B4-BE49-F238E27FC236}">
                <a16:creationId xmlns:a16="http://schemas.microsoft.com/office/drawing/2014/main" id="{F4B8C2D1-400C-1813-19D3-D17B6E600C7C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00A5136B-E2BE-8B4E-7723-9DB000E6D089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4A6E314A-7BD4-157A-7F02-7001EB30E7CC}"/>
              </a:ext>
            </a:extLst>
          </p:cNvPr>
          <p:cNvSpPr txBox="1"/>
          <p:nvPr/>
        </p:nvSpPr>
        <p:spPr>
          <a:xfrm>
            <a:off x="98835" y="2447270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C0FE2119-2CF4-9FD6-729D-7EA541CC846A}"/>
              </a:ext>
            </a:extLst>
          </p:cNvPr>
          <p:cNvSpPr txBox="1"/>
          <p:nvPr/>
        </p:nvSpPr>
        <p:spPr>
          <a:xfrm>
            <a:off x="98835" y="1985605"/>
            <a:ext cx="122555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the probability of winning in Lotto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three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four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five,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six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519C2E0E-5C96-E35D-B3AF-1A8B0F59761B}"/>
                  </a:ext>
                </a:extLst>
              </p:cNvPr>
              <p:cNvSpPr txBox="1"/>
              <p:nvPr/>
            </p:nvSpPr>
            <p:spPr>
              <a:xfrm>
                <a:off x="98835" y="2678102"/>
                <a:ext cx="11974795" cy="1037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8815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499422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≈0.0177=1.77%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519C2E0E-5C96-E35D-B3AF-1A8B0F597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5" y="2678102"/>
                <a:ext cx="11974795" cy="10374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245AD95-6923-F636-9358-3ACA78C108DB}"/>
                  </a:ext>
                </a:extLst>
              </p:cNvPr>
              <p:cNvSpPr txBox="1"/>
              <p:nvPr/>
            </p:nvSpPr>
            <p:spPr>
              <a:xfrm>
                <a:off x="108602" y="3715502"/>
                <a:ext cx="11974795" cy="1037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645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665896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≈0.00097=0.097%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245AD95-6923-F636-9358-3ACA78C10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02" y="3715502"/>
                <a:ext cx="11974795" cy="1037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62DF8BB-1D04-6A0D-484F-3E74950EE06E}"/>
                  </a:ext>
                </a:extLst>
              </p:cNvPr>
              <p:cNvSpPr txBox="1"/>
              <p:nvPr/>
            </p:nvSpPr>
            <p:spPr>
              <a:xfrm>
                <a:off x="118369" y="4752902"/>
                <a:ext cx="11974795" cy="1037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43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2330636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≈0.000018=0.0018%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62DF8BB-1D04-6A0D-484F-3E74950EE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4752902"/>
                <a:ext cx="11974795" cy="1037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06375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802C4-6332-A943-FE6C-2A16A57B0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43674CC-9DD2-AFE7-D152-CE1A402F9F3A}"/>
                  </a:ext>
                </a:extLst>
              </p:cNvPr>
              <p:cNvSpPr txBox="1"/>
              <p:nvPr/>
            </p:nvSpPr>
            <p:spPr>
              <a:xfrm>
                <a:off x="98835" y="2678102"/>
                <a:ext cx="11974795" cy="1037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8815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499422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≈0.0177=1.77%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43674CC-9DD2-AFE7-D152-CE1A402F9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5" y="2678102"/>
                <a:ext cx="11974795" cy="10374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E585400-5CE7-E4F7-E5FB-D3E1DB78F744}"/>
                  </a:ext>
                </a:extLst>
              </p:cNvPr>
              <p:cNvSpPr txBox="1"/>
              <p:nvPr/>
            </p:nvSpPr>
            <p:spPr>
              <a:xfrm>
                <a:off x="108602" y="3715502"/>
                <a:ext cx="11974795" cy="1037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645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665896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≈0.00097=0.097%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E585400-5CE7-E4F7-E5FB-D3E1DB78F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02" y="3715502"/>
                <a:ext cx="11974795" cy="1037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ADDA2A0-457D-4A93-097E-D0102DC28418}"/>
                  </a:ext>
                </a:extLst>
              </p:cNvPr>
              <p:cNvSpPr txBox="1"/>
              <p:nvPr/>
            </p:nvSpPr>
            <p:spPr>
              <a:xfrm>
                <a:off x="118369" y="4752902"/>
                <a:ext cx="11974795" cy="1037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43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2330636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≈0.000018=0.0018%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ADDA2A0-457D-4A93-097E-D0102DC28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4752902"/>
                <a:ext cx="11974795" cy="1037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B8E1DBDB-DC28-C2CB-B06E-BBA2E9075AE6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ED3A561C-E213-EF2B-1158-881EF50436B9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A073920E-9449-2976-3450-443DEB977ED3}"/>
              </a:ext>
            </a:extLst>
          </p:cNvPr>
          <p:cNvSpPr txBox="1"/>
          <p:nvPr/>
        </p:nvSpPr>
        <p:spPr>
          <a:xfrm>
            <a:off x="98835" y="2447270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99610AD9-8339-CB99-C157-04F12761B4FF}"/>
              </a:ext>
            </a:extLst>
          </p:cNvPr>
          <p:cNvSpPr txBox="1"/>
          <p:nvPr/>
        </p:nvSpPr>
        <p:spPr>
          <a:xfrm>
            <a:off x="98835" y="1985605"/>
            <a:ext cx="122555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the probability of winning in Lotto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three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four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five,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six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B786BE7F-4742-881A-3F93-70FBEE0CC955}"/>
                  </a:ext>
                </a:extLst>
              </p:cNvPr>
              <p:cNvSpPr txBox="1"/>
              <p:nvPr/>
            </p:nvSpPr>
            <p:spPr>
              <a:xfrm>
                <a:off x="239236" y="5790302"/>
                <a:ext cx="11974795" cy="1038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6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49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13 983 816</m:t>
                          </m:r>
                        </m:den>
                      </m:f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≈0.00000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00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.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0000072%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B786BE7F-4742-881A-3F93-70FBEE0CC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236" y="5790302"/>
                <a:ext cx="11974795" cy="10382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82225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AB380-C523-F25F-DC25-9BDA16414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ole tekstowe 8">
            <a:extLst>
              <a:ext uri="{FF2B5EF4-FFF2-40B4-BE49-F238E27FC236}">
                <a16:creationId xmlns:a16="http://schemas.microsoft.com/office/drawing/2014/main" id="{ACF6C44F-3C2D-8F2D-677D-C9885A784C53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06B1D6F4-C214-230E-089F-6E4BC64EFCF4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B83130FE-1934-90C2-45B9-F341DC866ADB}"/>
              </a:ext>
            </a:extLst>
          </p:cNvPr>
          <p:cNvSpPr txBox="1"/>
          <p:nvPr/>
        </p:nvSpPr>
        <p:spPr>
          <a:xfrm>
            <a:off x="98835" y="2447270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6543AA0F-D2A3-82F9-BDEF-0176128FFBAF}"/>
              </a:ext>
            </a:extLst>
          </p:cNvPr>
          <p:cNvSpPr txBox="1"/>
          <p:nvPr/>
        </p:nvSpPr>
        <p:spPr>
          <a:xfrm>
            <a:off x="98835" y="1985605"/>
            <a:ext cx="11468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the probability of winning in Lotto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least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threee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8595D510-9C15-97D2-9DB2-56963996F412}"/>
                  </a:ext>
                </a:extLst>
              </p:cNvPr>
              <p:cNvSpPr txBox="1"/>
              <p:nvPr/>
            </p:nvSpPr>
            <p:spPr>
              <a:xfrm>
                <a:off x="98835" y="2678102"/>
                <a:ext cx="11974795" cy="1037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8815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499422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≈0.0177=1.77%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8595D510-9C15-97D2-9DB2-56963996F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5" y="2678102"/>
                <a:ext cx="11974795" cy="10374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3DF637C-79A7-ED5A-5E12-278E3FC2328E}"/>
                  </a:ext>
                </a:extLst>
              </p:cNvPr>
              <p:cNvSpPr txBox="1"/>
              <p:nvPr/>
            </p:nvSpPr>
            <p:spPr>
              <a:xfrm>
                <a:off x="108602" y="3715502"/>
                <a:ext cx="11974795" cy="1037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645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665896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≈0.00097=0.097%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3DF637C-79A7-ED5A-5E12-278E3FC23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02" y="3715502"/>
                <a:ext cx="11974795" cy="1037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3245526-3881-7707-21E7-F0DBA4F51670}"/>
                  </a:ext>
                </a:extLst>
              </p:cNvPr>
              <p:cNvSpPr txBox="1"/>
              <p:nvPr/>
            </p:nvSpPr>
            <p:spPr>
              <a:xfrm>
                <a:off x="118369" y="4752902"/>
                <a:ext cx="11974795" cy="1037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43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2330636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≈0.000018=0.0018%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3245526-3881-7707-21E7-F0DBA4F51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4752902"/>
                <a:ext cx="11974795" cy="1037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9F64606-EA3B-6377-8233-5857C90E401F}"/>
                  </a:ext>
                </a:extLst>
              </p:cNvPr>
              <p:cNvSpPr txBox="1"/>
              <p:nvPr/>
            </p:nvSpPr>
            <p:spPr>
              <a:xfrm>
                <a:off x="239236" y="5790302"/>
                <a:ext cx="11974795" cy="1038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6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49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13 983 816</m:t>
                          </m:r>
                        </m:den>
                      </m:f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≈0.00000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00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.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0000072%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9F64606-EA3B-6377-8233-5857C90E4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236" y="5790302"/>
                <a:ext cx="11974795" cy="10382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4996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C17BA-D3C5-9E46-B8B0-FD6CD268C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76ED17E3-4CBD-3CF7-94BA-5555FC6494AB}"/>
                  </a:ext>
                </a:extLst>
              </p:cNvPr>
              <p:cNvSpPr txBox="1"/>
              <p:nvPr/>
            </p:nvSpPr>
            <p:spPr>
              <a:xfrm>
                <a:off x="98835" y="2911666"/>
                <a:ext cx="11974795" cy="1038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3−6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260624</m:t>
                          </m:r>
                        </m:num>
                        <m:den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13983816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4654</m:t>
                          </m:r>
                        </m:num>
                        <m:den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249711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≈1.86%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76ED17E3-4CBD-3CF7-94BA-5555FC649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5" y="2911666"/>
                <a:ext cx="11974795" cy="10382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704253A6-F928-832E-3F14-E734A0DD34C2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0812DE36-B651-2083-6E2B-DC696AD4323D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C0E2B8D4-5C10-40BD-7363-31B4C9819661}"/>
              </a:ext>
            </a:extLst>
          </p:cNvPr>
          <p:cNvSpPr txBox="1"/>
          <p:nvPr/>
        </p:nvSpPr>
        <p:spPr>
          <a:xfrm>
            <a:off x="98835" y="2447270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4AF19283-261F-EC56-4EB4-7E6FC0AC952E}"/>
              </a:ext>
            </a:extLst>
          </p:cNvPr>
          <p:cNvSpPr txBox="1"/>
          <p:nvPr/>
        </p:nvSpPr>
        <p:spPr>
          <a:xfrm>
            <a:off x="98835" y="1985605"/>
            <a:ext cx="11468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the probability of winning in Lotto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least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threee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802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4936B-1E30-4A24-1252-1219E8EAE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4129EF5-2F14-F084-D83D-01C66DF35292}"/>
                  </a:ext>
                </a:extLst>
              </p:cNvPr>
              <p:cNvSpPr txBox="1"/>
              <p:nvPr/>
            </p:nvSpPr>
            <p:spPr>
              <a:xfrm>
                <a:off x="98835" y="2911666"/>
                <a:ext cx="11974795" cy="1038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𝑃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3≤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𝑋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≤6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4654</m:t>
                          </m:r>
                        </m:num>
                        <m:den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249711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≈1.86%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4129EF5-2F14-F084-D83D-01C66DF35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5" y="2911666"/>
                <a:ext cx="11974795" cy="10382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7BBFD677-82CA-CAE7-FD36-35AEC4E6A264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98364A8E-7B6A-A285-BD32-5763FCF749B4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E81BC591-6A6D-0FC9-5F9F-9A1BBDC1EAAB}"/>
              </a:ext>
            </a:extLst>
          </p:cNvPr>
          <p:cNvSpPr txBox="1"/>
          <p:nvPr/>
        </p:nvSpPr>
        <p:spPr>
          <a:xfrm>
            <a:off x="98835" y="2447270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4B11385C-5B07-CB44-CA1A-4E00CD15E207}"/>
              </a:ext>
            </a:extLst>
          </p:cNvPr>
          <p:cNvSpPr txBox="1"/>
          <p:nvPr/>
        </p:nvSpPr>
        <p:spPr>
          <a:xfrm>
            <a:off x="98835" y="1985605"/>
            <a:ext cx="11468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the probability of winning in Lotto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least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threee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5675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7EDC6-81F5-AE75-92A2-E5AE623B1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0B7E34E-4FBA-126C-E027-6791F5CF24C3}"/>
                  </a:ext>
                </a:extLst>
              </p:cNvPr>
              <p:cNvSpPr txBox="1"/>
              <p:nvPr/>
            </p:nvSpPr>
            <p:spPr>
              <a:xfrm>
                <a:off x="98835" y="2911666"/>
                <a:ext cx="11974795" cy="1038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𝑃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3≤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𝑋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≤6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4654</m:t>
                          </m:r>
                        </m:num>
                        <m:den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249711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≈1.86%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0B7E34E-4FBA-126C-E027-6791F5CF2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5" y="2911666"/>
                <a:ext cx="11974795" cy="10382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174DB18-1B7D-2E75-F820-581D7204C5C0}"/>
                  </a:ext>
                </a:extLst>
              </p:cNvPr>
              <p:cNvSpPr txBox="1"/>
              <p:nvPr/>
            </p:nvSpPr>
            <p:spPr>
              <a:xfrm>
                <a:off x="98834" y="4012971"/>
                <a:ext cx="11974795" cy="1038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1−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𝑃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0≤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𝑋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≤2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=1−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245057</m:t>
                          </m:r>
                        </m:num>
                        <m:den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249711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≈1.86%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174DB18-1B7D-2E75-F820-581D7204C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4" y="4012971"/>
                <a:ext cx="11974795" cy="10382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A02EFF07-FA8C-F3B2-DC89-0B94E3741781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A641F91B-6A44-CE42-AEE6-AA0289C9329D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09846FAC-1B76-02D8-6012-9375EDC82654}"/>
              </a:ext>
            </a:extLst>
          </p:cNvPr>
          <p:cNvSpPr txBox="1"/>
          <p:nvPr/>
        </p:nvSpPr>
        <p:spPr>
          <a:xfrm>
            <a:off x="98835" y="2447270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2CFA418A-88D5-FBC6-D9E5-D5B191A6FDA3}"/>
              </a:ext>
            </a:extLst>
          </p:cNvPr>
          <p:cNvSpPr txBox="1"/>
          <p:nvPr/>
        </p:nvSpPr>
        <p:spPr>
          <a:xfrm>
            <a:off x="98835" y="1985605"/>
            <a:ext cx="11468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the probability of winning in Lotto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least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threee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8416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BF819-B8EC-6C45-7431-CB7F93513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62C06CBC-8230-05A3-E5B7-5AF60048EDED}"/>
              </a:ext>
            </a:extLst>
          </p:cNvPr>
          <p:cNvSpPr txBox="1"/>
          <p:nvPr/>
        </p:nvSpPr>
        <p:spPr>
          <a:xfrm>
            <a:off x="98835" y="1985605"/>
            <a:ext cx="119435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a company there are 5 programmers and 4 managers. We want to select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3-person team, but at least one member must be a programmer.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do this?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5B46B2B4-8F12-DCA0-DE46-BABC6A5DA127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760C2C2B-E3DF-DE5B-47ED-CD098B20FF6B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3975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3720A-18CA-94AE-EE5F-3D763B4A2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1D021732-16DC-8439-FCDC-2FC5A8660BA6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7DC0C462-8EA0-9CCB-7394-06281D8F0862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2504597A-ED8C-5D4A-4B54-4D8CEE6ED8F5}"/>
              </a:ext>
            </a:extLst>
          </p:cNvPr>
          <p:cNvSpPr txBox="1"/>
          <p:nvPr/>
        </p:nvSpPr>
        <p:spPr>
          <a:xfrm>
            <a:off x="98835" y="3185934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94688438-886F-3853-4F3C-E6350D5215BE}"/>
              </a:ext>
            </a:extLst>
          </p:cNvPr>
          <p:cNvSpPr txBox="1"/>
          <p:nvPr/>
        </p:nvSpPr>
        <p:spPr>
          <a:xfrm>
            <a:off x="98835" y="1985605"/>
            <a:ext cx="119435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a company there are 5 programmers and 4 managers. We want to select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3-person team, but at least one member must be a programmer.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do this?</a:t>
            </a:r>
          </a:p>
        </p:txBody>
      </p:sp>
    </p:spTree>
    <p:extLst>
      <p:ext uri="{BB962C8B-B14F-4D97-AF65-F5344CB8AC3E}">
        <p14:creationId xmlns:p14="http://schemas.microsoft.com/office/powerpoint/2010/main" val="11453912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D517F-A7CF-256F-101B-45092759B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80655901-C2E6-C9D7-C011-E1E7368DA09B}"/>
              </a:ext>
            </a:extLst>
          </p:cNvPr>
          <p:cNvSpPr txBox="1"/>
          <p:nvPr/>
        </p:nvSpPr>
        <p:spPr>
          <a:xfrm>
            <a:off x="98835" y="3185934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19743AD-C68C-225B-085E-E44F9753AF00}"/>
                  </a:ext>
                </a:extLst>
              </p:cNvPr>
              <p:cNvSpPr txBox="1"/>
              <p:nvPr/>
            </p:nvSpPr>
            <p:spPr>
              <a:xfrm>
                <a:off x="118369" y="3647599"/>
                <a:ext cx="11955262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19743AD-C68C-225B-085E-E44F9753A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3647599"/>
                <a:ext cx="11955262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1B390309-BA02-1C9F-AE35-DBD0E81BA5B5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A70AB474-D9A1-0ACA-A4F2-F853A126604E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C7A67A61-3288-6113-4385-48F3B2CB40AE}"/>
              </a:ext>
            </a:extLst>
          </p:cNvPr>
          <p:cNvSpPr txBox="1"/>
          <p:nvPr/>
        </p:nvSpPr>
        <p:spPr>
          <a:xfrm>
            <a:off x="98835" y="1985605"/>
            <a:ext cx="119435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a company there are 5 programmers and 4 managers. We want to select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3-person team, but at least one member must be a programmer.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do this?</a:t>
            </a:r>
          </a:p>
        </p:txBody>
      </p:sp>
    </p:spTree>
    <p:extLst>
      <p:ext uri="{BB962C8B-B14F-4D97-AF65-F5344CB8AC3E}">
        <p14:creationId xmlns:p14="http://schemas.microsoft.com/office/powerpoint/2010/main" val="30553483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8F8B4-98CD-01C6-5DC5-21F2BF0F1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FFB3053-6550-48D6-E268-A4081BF53F30}"/>
                  </a:ext>
                </a:extLst>
              </p:cNvPr>
              <p:cNvSpPr txBox="1"/>
              <p:nvPr/>
            </p:nvSpPr>
            <p:spPr>
              <a:xfrm>
                <a:off x="118369" y="3647599"/>
                <a:ext cx="11955262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=5⋅6+10⋅4+10=80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FFB3053-6550-48D6-E268-A4081BF53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3647599"/>
                <a:ext cx="11955262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88014DCF-72FD-44F2-7854-601D4488C860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940AB9BB-D7BE-CFEC-62DA-7075FAF119E5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9C0A6CD6-8B17-E59D-D34F-DAF762617414}"/>
              </a:ext>
            </a:extLst>
          </p:cNvPr>
          <p:cNvSpPr txBox="1"/>
          <p:nvPr/>
        </p:nvSpPr>
        <p:spPr>
          <a:xfrm>
            <a:off x="98835" y="3185934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24A0E48C-CEA6-A198-D792-E721D43A924E}"/>
              </a:ext>
            </a:extLst>
          </p:cNvPr>
          <p:cNvSpPr txBox="1"/>
          <p:nvPr/>
        </p:nvSpPr>
        <p:spPr>
          <a:xfrm>
            <a:off x="98835" y="1985605"/>
            <a:ext cx="119435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a company there are 5 programmers and 4 managers. We want to select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3-person team, but at least one member must be a programmer.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do this?</a:t>
            </a:r>
          </a:p>
        </p:txBody>
      </p:sp>
    </p:spTree>
    <p:extLst>
      <p:ext uri="{BB962C8B-B14F-4D97-AF65-F5344CB8AC3E}">
        <p14:creationId xmlns:p14="http://schemas.microsoft.com/office/powerpoint/2010/main" val="35379977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4DB22-40BA-59B4-65E4-C951A7AFB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7F92420-D5E4-EACE-A1CF-7596BE41BFC2}"/>
                  </a:ext>
                </a:extLst>
              </p:cNvPr>
              <p:cNvSpPr txBox="1"/>
              <p:nvPr/>
            </p:nvSpPr>
            <p:spPr>
              <a:xfrm>
                <a:off x="118369" y="3647599"/>
                <a:ext cx="11955262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=5⋅6+10⋅4+10=80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7F92420-D5E4-EACE-A1CF-7596BE41B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3647599"/>
                <a:ext cx="11955262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1EED2548-3BD6-4D79-525D-85AF0DEC4C8E}"/>
                  </a:ext>
                </a:extLst>
              </p:cNvPr>
              <p:cNvSpPr txBox="1"/>
              <p:nvPr/>
            </p:nvSpPr>
            <p:spPr>
              <a:xfrm>
                <a:off x="98835" y="4570352"/>
                <a:ext cx="11955262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=84−4=80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1EED2548-3BD6-4D79-525D-85AF0DEC4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5" y="4570352"/>
                <a:ext cx="11955262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41FAE46C-27BC-82D6-26AB-FB9A27CB17C0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6CA12BD7-99CE-F0CE-FC18-1199AE805E3C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AE3667EE-4A44-3CC9-F618-002429676BB0}"/>
              </a:ext>
            </a:extLst>
          </p:cNvPr>
          <p:cNvSpPr txBox="1"/>
          <p:nvPr/>
        </p:nvSpPr>
        <p:spPr>
          <a:xfrm>
            <a:off x="98835" y="3185934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52B7E81E-53E5-7451-8794-6AAE8A13DAEC}"/>
              </a:ext>
            </a:extLst>
          </p:cNvPr>
          <p:cNvSpPr txBox="1"/>
          <p:nvPr/>
        </p:nvSpPr>
        <p:spPr>
          <a:xfrm>
            <a:off x="98835" y="1985605"/>
            <a:ext cx="119435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a company there are 5 programmers and 4 managers. We want to select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3-person team, but at least one member must be a programmer.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how many ways can we do this?</a:t>
            </a:r>
          </a:p>
        </p:txBody>
      </p:sp>
    </p:spTree>
    <p:extLst>
      <p:ext uri="{BB962C8B-B14F-4D97-AF65-F5344CB8AC3E}">
        <p14:creationId xmlns:p14="http://schemas.microsoft.com/office/powerpoint/2010/main" val="38879053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18065-B294-A282-80B9-33791EE1F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600C04D8-5961-DBE5-18F8-10004DE81EAF}"/>
              </a:ext>
            </a:extLst>
          </p:cNvPr>
          <p:cNvSpPr txBox="1"/>
          <p:nvPr/>
        </p:nvSpPr>
        <p:spPr>
          <a:xfrm>
            <a:off x="98835" y="1985605"/>
            <a:ext cx="111339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have 10 books and three shelves. In how many ways can we place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books on the shelves so that no shelf remains empty?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1FB00088-366B-248E-7E65-E4E1390A3E97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F9DE0C1-BB88-1C8D-F57C-C1609D76F77E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0775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69268-23D9-7678-44F3-E144BA8E0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BEAABF29-FC5B-E032-95F4-8A22F937D281}"/>
              </a:ext>
            </a:extLst>
          </p:cNvPr>
          <p:cNvSpPr txBox="1"/>
          <p:nvPr/>
        </p:nvSpPr>
        <p:spPr>
          <a:xfrm>
            <a:off x="98835" y="2816602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728B4FDD-2261-77EC-D87D-C8A98574DFE1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D2DBC684-162D-AADB-C561-B223CB139FB1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9CD5F794-F150-E5F7-BF4E-988AC2A78053}"/>
              </a:ext>
            </a:extLst>
          </p:cNvPr>
          <p:cNvSpPr txBox="1"/>
          <p:nvPr/>
        </p:nvSpPr>
        <p:spPr>
          <a:xfrm>
            <a:off x="98835" y="1985605"/>
            <a:ext cx="111339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have 10 books and three shelves. In how many ways can we place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books on the shelves so that no shelf remains empty?</a:t>
            </a:r>
          </a:p>
        </p:txBody>
      </p:sp>
    </p:spTree>
    <p:extLst>
      <p:ext uri="{BB962C8B-B14F-4D97-AF65-F5344CB8AC3E}">
        <p14:creationId xmlns:p14="http://schemas.microsoft.com/office/powerpoint/2010/main" val="26445462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31F0A-BAC6-D388-B1BD-D5293834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0EA999B3-4623-1FDB-9898-DBA84C140DFF}"/>
              </a:ext>
            </a:extLst>
          </p:cNvPr>
          <p:cNvSpPr txBox="1"/>
          <p:nvPr/>
        </p:nvSpPr>
        <p:spPr>
          <a:xfrm>
            <a:off x="98834" y="3232100"/>
            <a:ext cx="119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Without worrying about empty shelves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we would have: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DC09CEB4-6A38-CCB7-B153-72E5956966A8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FF548232-EE4A-DE3D-E13E-27EB59EDAF21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46248DAD-F11D-FA76-0506-E22DB47DA8CD}"/>
              </a:ext>
            </a:extLst>
          </p:cNvPr>
          <p:cNvSpPr txBox="1"/>
          <p:nvPr/>
        </p:nvSpPr>
        <p:spPr>
          <a:xfrm>
            <a:off x="98835" y="2816602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598DCE7D-58E1-03A1-789A-740CA2CC3984}"/>
              </a:ext>
            </a:extLst>
          </p:cNvPr>
          <p:cNvSpPr txBox="1"/>
          <p:nvPr/>
        </p:nvSpPr>
        <p:spPr>
          <a:xfrm>
            <a:off x="98835" y="1985605"/>
            <a:ext cx="111339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have 10 books and three shelves. In how many ways can we place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books on the shelves so that no shelf remains empty?</a:t>
            </a:r>
          </a:p>
        </p:txBody>
      </p:sp>
    </p:spTree>
    <p:extLst>
      <p:ext uri="{BB962C8B-B14F-4D97-AF65-F5344CB8AC3E}">
        <p14:creationId xmlns:p14="http://schemas.microsoft.com/office/powerpoint/2010/main" val="22150071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FC7DD-B53B-2FD2-C5D5-6959E7578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BE15222-89B1-779D-C19F-2E85F9852519}"/>
                  </a:ext>
                </a:extLst>
              </p:cNvPr>
              <p:cNvSpPr txBox="1"/>
              <p:nvPr/>
            </p:nvSpPr>
            <p:spPr>
              <a:xfrm>
                <a:off x="118370" y="3693765"/>
                <a:ext cx="11974796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10+3−1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BE15222-89B1-779D-C19F-2E85F9852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70" y="3693765"/>
                <a:ext cx="11974796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15363131-42E8-0379-B11C-89CD30209BAD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1D96F4D7-420B-B0BA-D3A3-285DC88293FC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55FFDA8F-C3F8-47A9-5370-2FA563DAE3C2}"/>
              </a:ext>
            </a:extLst>
          </p:cNvPr>
          <p:cNvSpPr txBox="1"/>
          <p:nvPr/>
        </p:nvSpPr>
        <p:spPr>
          <a:xfrm>
            <a:off x="98835" y="2816602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963C298B-D73D-7B24-709F-1EA612C51E49}"/>
              </a:ext>
            </a:extLst>
          </p:cNvPr>
          <p:cNvSpPr txBox="1"/>
          <p:nvPr/>
        </p:nvSpPr>
        <p:spPr>
          <a:xfrm>
            <a:off x="98835" y="1985605"/>
            <a:ext cx="111339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have 10 books and three shelves. In how many ways can we place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books on the shelves so that no shelf remains empty?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15B218BC-FCC0-620E-9BDF-3E7A3681AF19}"/>
              </a:ext>
            </a:extLst>
          </p:cNvPr>
          <p:cNvSpPr txBox="1"/>
          <p:nvPr/>
        </p:nvSpPr>
        <p:spPr>
          <a:xfrm>
            <a:off x="98834" y="3232100"/>
            <a:ext cx="119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Without worrying about empty shelves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we would have:</a:t>
            </a:r>
          </a:p>
        </p:txBody>
      </p:sp>
    </p:spTree>
    <p:extLst>
      <p:ext uri="{BB962C8B-B14F-4D97-AF65-F5344CB8AC3E}">
        <p14:creationId xmlns:p14="http://schemas.microsoft.com/office/powerpoint/2010/main" val="7313923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D5EA7-A00E-36F9-FDF6-547615596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C77FA4C-AF6C-F88F-2328-732E11F0989B}"/>
                  </a:ext>
                </a:extLst>
              </p:cNvPr>
              <p:cNvSpPr txBox="1"/>
              <p:nvPr/>
            </p:nvSpPr>
            <p:spPr>
              <a:xfrm>
                <a:off x="118370" y="3693765"/>
                <a:ext cx="11974796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10+3−1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11⋅12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=66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C77FA4C-AF6C-F88F-2328-732E11F09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70" y="3693765"/>
                <a:ext cx="11974796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96B8BB8C-1408-4CAF-7DFE-89A59F047023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5B6DC09E-223B-F97A-6015-C297D3917EC1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1A8034ED-8015-59A5-8741-D5E7A1E14F33}"/>
              </a:ext>
            </a:extLst>
          </p:cNvPr>
          <p:cNvSpPr txBox="1"/>
          <p:nvPr/>
        </p:nvSpPr>
        <p:spPr>
          <a:xfrm>
            <a:off x="98835" y="2816602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C4ABBBF3-F02F-5FD1-A837-81B45CEA7C2D}"/>
              </a:ext>
            </a:extLst>
          </p:cNvPr>
          <p:cNvSpPr txBox="1"/>
          <p:nvPr/>
        </p:nvSpPr>
        <p:spPr>
          <a:xfrm>
            <a:off x="98835" y="1985605"/>
            <a:ext cx="111339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have 10 books and three shelves. In how many ways can we place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books on the shelves so that no shelf remains empty?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D58947CA-4EA2-620B-635B-8331EFE4CC65}"/>
              </a:ext>
            </a:extLst>
          </p:cNvPr>
          <p:cNvSpPr txBox="1"/>
          <p:nvPr/>
        </p:nvSpPr>
        <p:spPr>
          <a:xfrm>
            <a:off x="98834" y="3232100"/>
            <a:ext cx="119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Without worrying about empty shelves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we would have:</a:t>
            </a:r>
          </a:p>
        </p:txBody>
      </p:sp>
    </p:spTree>
    <p:extLst>
      <p:ext uri="{BB962C8B-B14F-4D97-AF65-F5344CB8AC3E}">
        <p14:creationId xmlns:p14="http://schemas.microsoft.com/office/powerpoint/2010/main" val="38383546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29622-1601-36B1-6E3E-13245A956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1CAA0215-8F64-C3E8-0C36-A84248F47D4B}"/>
              </a:ext>
            </a:extLst>
          </p:cNvPr>
          <p:cNvSpPr txBox="1"/>
          <p:nvPr/>
        </p:nvSpPr>
        <p:spPr>
          <a:xfrm>
            <a:off x="118369" y="1523940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C7EFC93A-256F-C5DF-6E41-E2B50BFA5F46}"/>
              </a:ext>
            </a:extLst>
          </p:cNvPr>
          <p:cNvSpPr txBox="1"/>
          <p:nvPr/>
        </p:nvSpPr>
        <p:spPr>
          <a:xfrm>
            <a:off x="98835" y="1932187"/>
            <a:ext cx="119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Without worrying about empty shelves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we would have: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3DA6067-4328-F521-ECDA-47889BA579BA}"/>
                  </a:ext>
                </a:extLst>
              </p:cNvPr>
              <p:cNvSpPr txBox="1"/>
              <p:nvPr/>
            </p:nvSpPr>
            <p:spPr>
              <a:xfrm>
                <a:off x="118369" y="2393852"/>
                <a:ext cx="11974796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10+3−1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11⋅12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=66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3DA6067-4328-F521-ECDA-47889BA57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2393852"/>
                <a:ext cx="11974796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36A66CB2-390B-8826-143C-B113A0095363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14657052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EC6FB-4882-F1D7-4F0D-CD90874D4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88D3019-0806-3409-4F69-58B02761DF88}"/>
                  </a:ext>
                </a:extLst>
              </p:cNvPr>
              <p:cNvSpPr txBox="1"/>
              <p:nvPr/>
            </p:nvSpPr>
            <p:spPr>
              <a:xfrm>
                <a:off x="118369" y="2393852"/>
                <a:ext cx="11974796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10+3−1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11⋅12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=66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88D3019-0806-3409-4F69-58B02761D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2393852"/>
                <a:ext cx="11974796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DC3927EB-86C5-C26E-B1B3-7B0D0857F25B}"/>
              </a:ext>
            </a:extLst>
          </p:cNvPr>
          <p:cNvSpPr txBox="1"/>
          <p:nvPr/>
        </p:nvSpPr>
        <p:spPr>
          <a:xfrm>
            <a:off x="137903" y="3262610"/>
            <a:ext cx="119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If one shelf is empty, then the remaining two must hold all the books: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EDDB29E9-1FC7-C043-00E6-5B85D4C84FF9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69F5DCA2-88AA-C14B-C4AE-0BE58B24CEB2}"/>
              </a:ext>
            </a:extLst>
          </p:cNvPr>
          <p:cNvSpPr txBox="1"/>
          <p:nvPr/>
        </p:nvSpPr>
        <p:spPr>
          <a:xfrm>
            <a:off x="118369" y="1523940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BDABEDB3-6126-26D5-0E14-6E27513BEDDF}"/>
              </a:ext>
            </a:extLst>
          </p:cNvPr>
          <p:cNvSpPr txBox="1"/>
          <p:nvPr/>
        </p:nvSpPr>
        <p:spPr>
          <a:xfrm>
            <a:off x="98835" y="1932187"/>
            <a:ext cx="119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Without worrying about empty shelves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we would have:</a:t>
            </a:r>
          </a:p>
        </p:txBody>
      </p:sp>
    </p:spTree>
    <p:extLst>
      <p:ext uri="{BB962C8B-B14F-4D97-AF65-F5344CB8AC3E}">
        <p14:creationId xmlns:p14="http://schemas.microsoft.com/office/powerpoint/2010/main" val="42800812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369A8-DAD7-5B23-CAB1-A4B2ECCC8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13909EB-25CF-B105-07B4-EF88730AA08D}"/>
                  </a:ext>
                </a:extLst>
              </p:cNvPr>
              <p:cNvSpPr txBox="1"/>
              <p:nvPr/>
            </p:nvSpPr>
            <p:spPr>
              <a:xfrm>
                <a:off x="118369" y="2393852"/>
                <a:ext cx="11974796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10+3−1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11⋅12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=66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13909EB-25CF-B105-07B4-EF88730AA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2393852"/>
                <a:ext cx="11974796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2F9865A-6A30-0CF8-7343-5C0E33A42F16}"/>
                  </a:ext>
                </a:extLst>
              </p:cNvPr>
              <p:cNvSpPr txBox="1"/>
              <p:nvPr/>
            </p:nvSpPr>
            <p:spPr>
              <a:xfrm>
                <a:off x="137903" y="3723698"/>
                <a:ext cx="11974796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10+2−1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2F9865A-6A30-0CF8-7343-5C0E33A42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03" y="3723698"/>
                <a:ext cx="11974796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B5E08328-8D41-6649-D8D2-3E25B6EEB495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B550AC4F-AB69-DE9E-9867-84E383E8467B}"/>
              </a:ext>
            </a:extLst>
          </p:cNvPr>
          <p:cNvSpPr txBox="1"/>
          <p:nvPr/>
        </p:nvSpPr>
        <p:spPr>
          <a:xfrm>
            <a:off x="118369" y="1523940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7860171E-F541-C2EA-02E1-54F7AC9A3108}"/>
              </a:ext>
            </a:extLst>
          </p:cNvPr>
          <p:cNvSpPr txBox="1"/>
          <p:nvPr/>
        </p:nvSpPr>
        <p:spPr>
          <a:xfrm>
            <a:off x="98835" y="1932187"/>
            <a:ext cx="119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Without worrying about empty shelves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we would have: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90D139FD-877B-18ED-F1CB-A9CE0FEE71FA}"/>
              </a:ext>
            </a:extLst>
          </p:cNvPr>
          <p:cNvSpPr txBox="1"/>
          <p:nvPr/>
        </p:nvSpPr>
        <p:spPr>
          <a:xfrm>
            <a:off x="137903" y="3262610"/>
            <a:ext cx="119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If one shelf is empty, then the remaining two must hold all the books:</a:t>
            </a:r>
          </a:p>
        </p:txBody>
      </p:sp>
    </p:spTree>
    <p:extLst>
      <p:ext uri="{BB962C8B-B14F-4D97-AF65-F5344CB8AC3E}">
        <p14:creationId xmlns:p14="http://schemas.microsoft.com/office/powerpoint/2010/main" val="23109942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12949-9997-B6BA-50E5-C43947B93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B01DFE8-DE2D-139A-FC0B-21ACE3766501}"/>
                  </a:ext>
                </a:extLst>
              </p:cNvPr>
              <p:cNvSpPr txBox="1"/>
              <p:nvPr/>
            </p:nvSpPr>
            <p:spPr>
              <a:xfrm>
                <a:off x="118369" y="2393852"/>
                <a:ext cx="11974796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10+3−1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11⋅12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=66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B01DFE8-DE2D-139A-FC0B-21ACE3766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2393852"/>
                <a:ext cx="11974796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DEE6B5F-03AD-04C5-682B-D60F0A1251C8}"/>
                  </a:ext>
                </a:extLst>
              </p:cNvPr>
              <p:cNvSpPr txBox="1"/>
              <p:nvPr/>
            </p:nvSpPr>
            <p:spPr>
              <a:xfrm>
                <a:off x="137903" y="3723698"/>
                <a:ext cx="11974796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10+2−1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DEE6B5F-03AD-04C5-682B-D60F0A125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03" y="3723698"/>
                <a:ext cx="11974796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322A0349-44AA-4691-0BE7-7F559365C67B}"/>
                  </a:ext>
                </a:extLst>
              </p:cNvPr>
              <p:cNvSpPr txBox="1"/>
              <p:nvPr/>
            </p:nvSpPr>
            <p:spPr>
              <a:xfrm>
                <a:off x="137903" y="4645874"/>
                <a:ext cx="1197479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However, we can choose any of the three shelves to be the empty one, so in general we have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possibilities of distributing the books into two shelves.</a:t>
                </a: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322A0349-44AA-4691-0BE7-7F559365C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03" y="4645874"/>
                <a:ext cx="11974796" cy="830997"/>
              </a:xfrm>
              <a:prstGeom prst="rect">
                <a:avLst/>
              </a:prstGeom>
              <a:blipFill>
                <a:blip r:embed="rId4"/>
                <a:stretch>
                  <a:fillRect l="-815" t="-5882" r="-1527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34E4F466-ECEB-EB46-ED80-5CAB79FCB026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448D2522-599B-7237-B6A6-D0C77E4B181B}"/>
              </a:ext>
            </a:extLst>
          </p:cNvPr>
          <p:cNvSpPr txBox="1"/>
          <p:nvPr/>
        </p:nvSpPr>
        <p:spPr>
          <a:xfrm>
            <a:off x="118369" y="1523940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308F4ACD-BC2C-1313-CFBB-32463CBC3C97}"/>
              </a:ext>
            </a:extLst>
          </p:cNvPr>
          <p:cNvSpPr txBox="1"/>
          <p:nvPr/>
        </p:nvSpPr>
        <p:spPr>
          <a:xfrm>
            <a:off x="98835" y="1932187"/>
            <a:ext cx="119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Without worrying about empty shelves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we would have: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4F907544-0431-B9D4-4791-940F6199AAC1}"/>
              </a:ext>
            </a:extLst>
          </p:cNvPr>
          <p:cNvSpPr txBox="1"/>
          <p:nvPr/>
        </p:nvSpPr>
        <p:spPr>
          <a:xfrm>
            <a:off x="137903" y="3262610"/>
            <a:ext cx="119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If one shelf is empty, then the remaining two must hold all the books:</a:t>
            </a:r>
          </a:p>
        </p:txBody>
      </p:sp>
    </p:spTree>
    <p:extLst>
      <p:ext uri="{BB962C8B-B14F-4D97-AF65-F5344CB8AC3E}">
        <p14:creationId xmlns:p14="http://schemas.microsoft.com/office/powerpoint/2010/main" val="25524483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F84E2-8F05-DB47-2B2B-B87825200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8CA41BF-913C-2889-F47B-F7E24BDB52CA}"/>
                  </a:ext>
                </a:extLst>
              </p:cNvPr>
              <p:cNvSpPr txBox="1"/>
              <p:nvPr/>
            </p:nvSpPr>
            <p:spPr>
              <a:xfrm>
                <a:off x="118369" y="2393852"/>
                <a:ext cx="11974796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10+3−1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11⋅12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=66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8CA41BF-913C-2889-F47B-F7E24BDB5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2393852"/>
                <a:ext cx="11974796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DFCFB81D-88BD-AA9C-A5FA-9F586B2F2C09}"/>
              </a:ext>
            </a:extLst>
          </p:cNvPr>
          <p:cNvSpPr txBox="1"/>
          <p:nvPr/>
        </p:nvSpPr>
        <p:spPr>
          <a:xfrm>
            <a:off x="137903" y="3262610"/>
            <a:ext cx="119747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If two shelves are empty, then all the books go onto a single shelf – 1 situation.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F5E4F910-EEEA-C375-E1D6-C521A858A9DF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4832A437-D78A-C9BC-3415-1E6137D1D7C0}"/>
              </a:ext>
            </a:extLst>
          </p:cNvPr>
          <p:cNvSpPr txBox="1"/>
          <p:nvPr/>
        </p:nvSpPr>
        <p:spPr>
          <a:xfrm>
            <a:off x="118369" y="1523940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FDEF6805-48AA-E9F4-869F-AC1764764108}"/>
              </a:ext>
            </a:extLst>
          </p:cNvPr>
          <p:cNvSpPr txBox="1"/>
          <p:nvPr/>
        </p:nvSpPr>
        <p:spPr>
          <a:xfrm>
            <a:off x="98835" y="1932187"/>
            <a:ext cx="119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Without worrying about empty shelves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we would have:</a:t>
            </a:r>
          </a:p>
        </p:txBody>
      </p:sp>
    </p:spTree>
    <p:extLst>
      <p:ext uri="{BB962C8B-B14F-4D97-AF65-F5344CB8AC3E}">
        <p14:creationId xmlns:p14="http://schemas.microsoft.com/office/powerpoint/2010/main" val="34602051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EFA9B-D87F-D352-FF1A-D4C8A3AD2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C25EB7F-8011-3872-D386-4624B61F6596}"/>
                  </a:ext>
                </a:extLst>
              </p:cNvPr>
              <p:cNvSpPr txBox="1"/>
              <p:nvPr/>
            </p:nvSpPr>
            <p:spPr>
              <a:xfrm>
                <a:off x="118369" y="2393852"/>
                <a:ext cx="11974796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10+3−1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11⋅12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=66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C25EB7F-8011-3872-D386-4624B61F6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2393852"/>
                <a:ext cx="11974796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FAC55702-802A-49A8-5A73-5EB9655E114E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BE9EE439-CFC7-34E3-6CB6-B4F38733225D}"/>
              </a:ext>
            </a:extLst>
          </p:cNvPr>
          <p:cNvSpPr txBox="1"/>
          <p:nvPr/>
        </p:nvSpPr>
        <p:spPr>
          <a:xfrm>
            <a:off x="118369" y="1523940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65D15D7A-342B-FBA2-F8AD-9FF6D43C6D2A}"/>
              </a:ext>
            </a:extLst>
          </p:cNvPr>
          <p:cNvSpPr txBox="1"/>
          <p:nvPr/>
        </p:nvSpPr>
        <p:spPr>
          <a:xfrm>
            <a:off x="98835" y="1932187"/>
            <a:ext cx="119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Without worrying about empty shelves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we would have: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FB5950EB-45A1-F751-68C5-D571427098DC}"/>
                  </a:ext>
                </a:extLst>
              </p:cNvPr>
              <p:cNvSpPr txBox="1"/>
              <p:nvPr/>
            </p:nvSpPr>
            <p:spPr>
              <a:xfrm>
                <a:off x="137903" y="3262610"/>
                <a:ext cx="11974796" cy="905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two shelves are empty, then all the books go onto a single shelf – 1 situation.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ways to choose two empty shelves 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=3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FB5950EB-45A1-F751-68C5-D57142709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03" y="3262610"/>
                <a:ext cx="11974796" cy="905825"/>
              </a:xfrm>
              <a:prstGeom prst="rect">
                <a:avLst/>
              </a:prstGeom>
              <a:blipFill>
                <a:blip r:embed="rId3"/>
                <a:stretch>
                  <a:fillRect l="-815" t="-5369" b="-8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26009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C1844-B0A3-F1DF-1040-62C4CAC5B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381640A-AC48-25CA-BDE1-10A8654893A4}"/>
                  </a:ext>
                </a:extLst>
              </p:cNvPr>
              <p:cNvSpPr txBox="1"/>
              <p:nvPr/>
            </p:nvSpPr>
            <p:spPr>
              <a:xfrm>
                <a:off x="118369" y="1985605"/>
                <a:ext cx="11974796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Three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10+3−1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11⋅12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=66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381640A-AC48-25CA-BDE1-10A865489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1985605"/>
                <a:ext cx="11974796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0E2EF19-8C32-CB78-3672-0007EC445422}"/>
                  </a:ext>
                </a:extLst>
              </p:cNvPr>
              <p:cNvSpPr txBox="1"/>
              <p:nvPr/>
            </p:nvSpPr>
            <p:spPr>
              <a:xfrm>
                <a:off x="217204" y="2908358"/>
                <a:ext cx="11974796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Two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10+2−1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2−1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=33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0E2EF19-8C32-CB78-3672-0007EC445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204" y="2908358"/>
                <a:ext cx="11974796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58137374-964E-FA28-E2B3-2354BF33F619}"/>
                  </a:ext>
                </a:extLst>
              </p:cNvPr>
              <p:cNvSpPr txBox="1"/>
              <p:nvPr/>
            </p:nvSpPr>
            <p:spPr>
              <a:xfrm>
                <a:off x="217204" y="3830534"/>
                <a:ext cx="11974796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One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⋅1=3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58137374-964E-FA28-E2B3-2354BF33F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204" y="3830534"/>
                <a:ext cx="11974796" cy="9221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02DE4581-D26C-F94E-7077-3E5E5F9EFE28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F361C172-52DB-0932-B30D-A2C6B68B342C}"/>
              </a:ext>
            </a:extLst>
          </p:cNvPr>
          <p:cNvSpPr txBox="1"/>
          <p:nvPr/>
        </p:nvSpPr>
        <p:spPr>
          <a:xfrm>
            <a:off x="118369" y="1523940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1389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B2B2A-3C2E-863A-89F5-458E2E9E5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2616068-3B97-CC31-68AE-176570C4C552}"/>
                  </a:ext>
                </a:extLst>
              </p:cNvPr>
              <p:cNvSpPr txBox="1"/>
              <p:nvPr/>
            </p:nvSpPr>
            <p:spPr>
              <a:xfrm>
                <a:off x="118369" y="1985605"/>
                <a:ext cx="11974796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Three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10+3−1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11⋅12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=66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2616068-3B97-CC31-68AE-176570C4C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69" y="1985605"/>
                <a:ext cx="11974796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AAA2FB9-6285-0DD8-DFAB-CC6A5BA790E2}"/>
                  </a:ext>
                </a:extLst>
              </p:cNvPr>
              <p:cNvSpPr txBox="1"/>
              <p:nvPr/>
            </p:nvSpPr>
            <p:spPr>
              <a:xfrm>
                <a:off x="217204" y="2908358"/>
                <a:ext cx="11974796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Two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10+2−1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2−1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=33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AAA2FB9-6285-0DD8-DFAB-CC6A5BA79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204" y="2908358"/>
                <a:ext cx="11974796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DCE78FC-D7A8-C3A9-CFEE-8B4EA4C8C0EE}"/>
                  </a:ext>
                </a:extLst>
              </p:cNvPr>
              <p:cNvSpPr txBox="1"/>
              <p:nvPr/>
            </p:nvSpPr>
            <p:spPr>
              <a:xfrm>
                <a:off x="217204" y="3830534"/>
                <a:ext cx="11974796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One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⋅1=3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DCE78FC-D7A8-C3A9-CFEE-8B4EA4C8C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204" y="3830534"/>
                <a:ext cx="11974796" cy="9221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E83D397-199C-8F94-A829-1558465485AC}"/>
                  </a:ext>
                </a:extLst>
              </p:cNvPr>
              <p:cNvSpPr txBox="1"/>
              <p:nvPr/>
            </p:nvSpPr>
            <p:spPr>
              <a:xfrm>
                <a:off x="217204" y="4752710"/>
                <a:ext cx="119747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The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answer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: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6−33+3=36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E83D397-199C-8F94-A829-155846548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204" y="4752710"/>
                <a:ext cx="1197479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22FDEF96-140D-0020-E834-C4CDEA1CA67E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5B26ED99-3F1F-8E01-1D19-EE91D53ACFC2}"/>
              </a:ext>
            </a:extLst>
          </p:cNvPr>
          <p:cNvSpPr txBox="1"/>
          <p:nvPr/>
        </p:nvSpPr>
        <p:spPr>
          <a:xfrm>
            <a:off x="118369" y="1523940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1807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65F7-F5FF-2B7E-9B5E-30CA67E3D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D311F6E8-CFDE-75A9-293B-8782E38DECF1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BFD0332-8668-3DB9-394D-F411CC464D6A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807B4C1E-5EA5-C667-2A4E-DAE323CB735D}"/>
              </a:ext>
            </a:extLst>
          </p:cNvPr>
          <p:cNvSpPr txBox="1"/>
          <p:nvPr/>
        </p:nvSpPr>
        <p:spPr>
          <a:xfrm>
            <a:off x="98835" y="1985605"/>
            <a:ext cx="111339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have 10 books and three shelves. In how many ways can we place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books on the shelves so that no shelf remains empty?</a:t>
            </a:r>
          </a:p>
        </p:txBody>
      </p:sp>
    </p:spTree>
    <p:extLst>
      <p:ext uri="{BB962C8B-B14F-4D97-AF65-F5344CB8AC3E}">
        <p14:creationId xmlns:p14="http://schemas.microsoft.com/office/powerpoint/2010/main" val="2791105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21345-F45F-44EF-754D-618177595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ole tekstowe 8">
            <a:extLst>
              <a:ext uri="{FF2B5EF4-FFF2-40B4-BE49-F238E27FC236}">
                <a16:creationId xmlns:a16="http://schemas.microsoft.com/office/drawing/2014/main" id="{5EFDFDB2-52D0-881C-AF3E-743CDEE7A36E}"/>
              </a:ext>
            </a:extLst>
          </p:cNvPr>
          <p:cNvSpPr txBox="1"/>
          <p:nvPr/>
        </p:nvSpPr>
        <p:spPr>
          <a:xfrm>
            <a:off x="98835" y="1985605"/>
            <a:ext cx="94870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 many three-digit numbers are there such that the sum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digits equals 10 and no digit is zero?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612D9FA0-3701-E967-8708-0643D7DAB464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8937D98-6A24-76AA-E9FA-62BC8F351B4E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0917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A03EB-6508-D7A4-7CE9-04DEFEE5A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17A6B8A1-049D-130A-196B-34CA62465D8E}"/>
              </a:ext>
            </a:extLst>
          </p:cNvPr>
          <p:cNvSpPr txBox="1"/>
          <p:nvPr/>
        </p:nvSpPr>
        <p:spPr>
          <a:xfrm>
            <a:off x="98835" y="2787061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B9200A6-7126-9C91-CFD6-9259A730E93D}"/>
                  </a:ext>
                </a:extLst>
              </p:cNvPr>
              <p:cNvSpPr txBox="1"/>
              <p:nvPr/>
            </p:nvSpPr>
            <p:spPr>
              <a:xfrm>
                <a:off x="98834" y="3202559"/>
                <a:ext cx="1197479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118, 127, 136, 145, 154, 163, 172, 181, 217, 226, 235, 244, 253, 262, </m:t>
                      </m:r>
                    </m:oMath>
                  </m:oMathPara>
                </a14:m>
                <a:endParaRPr lang="pl-PL" sz="2400" i="1" dirty="0">
                  <a:solidFill>
                    <a:schemeClr val="bg1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271, 316, 325, 334, 343, 352, 361, 415, 424, 433, 442, 451, 514, 523,</m:t>
                      </m:r>
                    </m:oMath>
                  </m:oMathPara>
                </a14:m>
                <a:endParaRPr lang="pl-PL" sz="2400" i="1" dirty="0">
                  <a:solidFill>
                    <a:schemeClr val="bg1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532, 541, 613, 622, 631, 712, 721, 811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B9200A6-7126-9C91-CFD6-9259A730E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4" y="3202559"/>
                <a:ext cx="11974797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B17F04A8-D1CF-820E-01D4-2DD77BCBB135}"/>
              </a:ext>
            </a:extLst>
          </p:cNvPr>
          <p:cNvSpPr txBox="1"/>
          <p:nvPr/>
        </p:nvSpPr>
        <p:spPr>
          <a:xfrm>
            <a:off x="98835" y="-45720"/>
            <a:ext cx="119747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 – Rules of Addition and Multiplication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40C9C976-5C38-1E62-2651-B06862494BA1}"/>
              </a:ext>
            </a:extLst>
          </p:cNvPr>
          <p:cNvSpPr txBox="1"/>
          <p:nvPr/>
        </p:nvSpPr>
        <p:spPr>
          <a:xfrm>
            <a:off x="118369" y="1523940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03C85B5B-F589-ECB5-86A7-8A4C677B4B02}"/>
              </a:ext>
            </a:extLst>
          </p:cNvPr>
          <p:cNvSpPr txBox="1"/>
          <p:nvPr/>
        </p:nvSpPr>
        <p:spPr>
          <a:xfrm>
            <a:off x="98835" y="1985605"/>
            <a:ext cx="94870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 many three-digit numbers are there such that the sum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digits equals 10 and no digit is zero?</a:t>
            </a:r>
          </a:p>
        </p:txBody>
      </p:sp>
    </p:spTree>
    <p:extLst>
      <p:ext uri="{BB962C8B-B14F-4D97-AF65-F5344CB8AC3E}">
        <p14:creationId xmlns:p14="http://schemas.microsoft.com/office/powerpoint/2010/main" val="332799105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2376</TotalTime>
  <Words>2620</Words>
  <Application>Microsoft Office PowerPoint</Application>
  <PresentationFormat>Panoramiczny</PresentationFormat>
  <Paragraphs>277</Paragraphs>
  <Slides>56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56</vt:i4>
      </vt:variant>
    </vt:vector>
  </HeadingPairs>
  <TitlesOfParts>
    <vt:vector size="62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148</cp:revision>
  <dcterms:created xsi:type="dcterms:W3CDTF">2024-10-31T12:17:59Z</dcterms:created>
  <dcterms:modified xsi:type="dcterms:W3CDTF">2025-09-23T16:08:01Z</dcterms:modified>
</cp:coreProperties>
</file>
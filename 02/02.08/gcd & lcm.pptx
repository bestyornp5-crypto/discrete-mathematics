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7" r:id="rId3"/>
    <p:sldId id="302" r:id="rId4"/>
    <p:sldId id="301" r:id="rId5"/>
    <p:sldId id="300" r:id="rId6"/>
    <p:sldId id="299" r:id="rId7"/>
    <p:sldId id="298" r:id="rId8"/>
    <p:sldId id="268" r:id="rId9"/>
    <p:sldId id="307" r:id="rId10"/>
    <p:sldId id="306" r:id="rId11"/>
    <p:sldId id="305" r:id="rId12"/>
    <p:sldId id="304" r:id="rId13"/>
    <p:sldId id="303" r:id="rId14"/>
    <p:sldId id="272" r:id="rId15"/>
    <p:sldId id="310" r:id="rId16"/>
    <p:sldId id="311" r:id="rId17"/>
    <p:sldId id="309" r:id="rId18"/>
    <p:sldId id="308" r:id="rId19"/>
    <p:sldId id="312" r:id="rId20"/>
    <p:sldId id="313" r:id="rId21"/>
    <p:sldId id="314" r:id="rId22"/>
    <p:sldId id="326" r:id="rId23"/>
    <p:sldId id="279" r:id="rId24"/>
    <p:sldId id="317" r:id="rId25"/>
    <p:sldId id="316" r:id="rId26"/>
    <p:sldId id="315" r:id="rId27"/>
    <p:sldId id="284" r:id="rId28"/>
    <p:sldId id="320" r:id="rId29"/>
    <p:sldId id="319" r:id="rId30"/>
    <p:sldId id="318" r:id="rId31"/>
    <p:sldId id="283" r:id="rId32"/>
    <p:sldId id="285" r:id="rId33"/>
    <p:sldId id="286" r:id="rId34"/>
    <p:sldId id="295" r:id="rId35"/>
    <p:sldId id="321" r:id="rId36"/>
    <p:sldId id="288" r:id="rId37"/>
    <p:sldId id="289" r:id="rId38"/>
    <p:sldId id="290" r:id="rId39"/>
    <p:sldId id="294" r:id="rId40"/>
    <p:sldId id="325" r:id="rId41"/>
    <p:sldId id="324" r:id="rId42"/>
    <p:sldId id="323" r:id="rId43"/>
    <p:sldId id="32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0.png"/><Relationship Id="rId7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0.png"/><Relationship Id="rId4" Type="http://schemas.openxmlformats.org/officeDocument/2006/relationships/image" Target="../media/image4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5B2DF-2A0E-4DF0-EB0C-293313DD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ole tekstowe 7">
            <a:extLst>
              <a:ext uri="{FF2B5EF4-FFF2-40B4-BE49-F238E27FC236}">
                <a16:creationId xmlns:a16="http://schemas.microsoft.com/office/drawing/2014/main" id="{D25C6B5C-9070-D485-874A-69C3223448D7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E7BBAE69-16DA-83AC-DC41-81855DF6BBA2}"/>
              </a:ext>
            </a:extLst>
          </p:cNvPr>
          <p:cNvSpPr txBox="1"/>
          <p:nvPr/>
        </p:nvSpPr>
        <p:spPr>
          <a:xfrm>
            <a:off x="58811" y="785277"/>
            <a:ext cx="9990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Greatest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Divisor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largest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positive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divides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395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A4CA0-1CE7-4D7F-256A-2E1EB3F29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4DE5585-596F-DBF0-7EFF-000FBB990F10}"/>
                  </a:ext>
                </a:extLst>
              </p:cNvPr>
              <p:cNvSpPr txBox="1"/>
              <p:nvPr/>
            </p:nvSpPr>
            <p:spPr>
              <a:xfrm>
                <a:off x="58810" y="1616274"/>
                <a:ext cx="43097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84DE5585-596F-DBF0-7EFF-000FBB990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616274"/>
                <a:ext cx="4309770" cy="461665"/>
              </a:xfrm>
              <a:prstGeom prst="rect">
                <a:avLst/>
              </a:prstGeom>
              <a:blipFill>
                <a:blip r:embed="rId2"/>
                <a:stretch>
                  <a:fillRect l="-226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BB2F19C1-233D-75A7-0827-FE5EE631F281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4AA1667-C9AB-6949-2A4F-50E4290CBDB3}"/>
              </a:ext>
            </a:extLst>
          </p:cNvPr>
          <p:cNvSpPr txBox="1"/>
          <p:nvPr/>
        </p:nvSpPr>
        <p:spPr>
          <a:xfrm>
            <a:off x="58811" y="785277"/>
            <a:ext cx="9990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Greatest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Divisor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largest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positive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divides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543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5E41-4A7C-6951-1712-12699F57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892B344-743E-D957-67AE-7D8340E80226}"/>
                  </a:ext>
                </a:extLst>
              </p:cNvPr>
              <p:cNvSpPr txBox="1"/>
              <p:nvPr/>
            </p:nvSpPr>
            <p:spPr>
              <a:xfrm>
                <a:off x="58810" y="1616274"/>
                <a:ext cx="43097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892B344-743E-D957-67AE-7D8340E80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616274"/>
                <a:ext cx="4309770" cy="461665"/>
              </a:xfrm>
              <a:prstGeom prst="rect">
                <a:avLst/>
              </a:prstGeom>
              <a:blipFill>
                <a:blip r:embed="rId2"/>
                <a:stretch>
                  <a:fillRect l="-226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C0735C9-C5CD-6763-6FC6-43D798BE24A4}"/>
                  </a:ext>
                </a:extLst>
              </p:cNvPr>
              <p:cNvSpPr txBox="1"/>
              <p:nvPr/>
            </p:nvSpPr>
            <p:spPr>
              <a:xfrm>
                <a:off x="58810" y="2077939"/>
                <a:ext cx="67730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2,4,5,7,10,14,20,28,35,70,140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C0735C9-C5CD-6763-6FC6-43D798BE2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077939"/>
                <a:ext cx="6773008" cy="461665"/>
              </a:xfrm>
              <a:prstGeom prst="rect">
                <a:avLst/>
              </a:prstGeom>
              <a:blipFill>
                <a:blip r:embed="rId3"/>
                <a:stretch>
                  <a:fillRect l="-144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1A7A0405-8628-EF9F-A31D-9739A1E2948A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005CBC7-0AAB-1183-79C7-2CCA264E85F9}"/>
              </a:ext>
            </a:extLst>
          </p:cNvPr>
          <p:cNvSpPr txBox="1"/>
          <p:nvPr/>
        </p:nvSpPr>
        <p:spPr>
          <a:xfrm>
            <a:off x="58811" y="785277"/>
            <a:ext cx="9990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Greatest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Divisor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largest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positive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divides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25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D5188-D1B6-D646-A651-ADD44996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4103993-27E1-6BB3-03A7-8306F84C62F3}"/>
                  </a:ext>
                </a:extLst>
              </p:cNvPr>
              <p:cNvSpPr txBox="1"/>
              <p:nvPr/>
            </p:nvSpPr>
            <p:spPr>
              <a:xfrm>
                <a:off x="58810" y="1616274"/>
                <a:ext cx="43097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4103993-27E1-6BB3-03A7-8306F84C6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616274"/>
                <a:ext cx="4309770" cy="461665"/>
              </a:xfrm>
              <a:prstGeom prst="rect">
                <a:avLst/>
              </a:prstGeom>
              <a:blipFill>
                <a:blip r:embed="rId2"/>
                <a:stretch>
                  <a:fillRect l="-226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EE4425C-9381-F45F-E526-5156EA1C3E01}"/>
                  </a:ext>
                </a:extLst>
              </p:cNvPr>
              <p:cNvSpPr txBox="1"/>
              <p:nvPr/>
            </p:nvSpPr>
            <p:spPr>
              <a:xfrm>
                <a:off x="58810" y="2077939"/>
                <a:ext cx="67730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2,4,5,7,10,14,20,28,35,70,140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EE4425C-9381-F45F-E526-5156EA1C3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077939"/>
                <a:ext cx="6773008" cy="461665"/>
              </a:xfrm>
              <a:prstGeom prst="rect">
                <a:avLst/>
              </a:prstGeom>
              <a:blipFill>
                <a:blip r:embed="rId3"/>
                <a:stretch>
                  <a:fillRect l="-144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211D982-4F35-5751-5DFE-D4E81C28A84B}"/>
                  </a:ext>
                </a:extLst>
              </p:cNvPr>
              <p:cNvSpPr txBox="1"/>
              <p:nvPr/>
            </p:nvSpPr>
            <p:spPr>
              <a:xfrm>
                <a:off x="58810" y="2493437"/>
                <a:ext cx="88472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2,3,4,5,6,9,10,12,15,18,20,30,36,45,60,90,180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211D982-4F35-5751-5DFE-D4E81C28A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493437"/>
                <a:ext cx="8847294" cy="461665"/>
              </a:xfrm>
              <a:prstGeom prst="rect">
                <a:avLst/>
              </a:prstGeom>
              <a:blipFill>
                <a:blip r:embed="rId4"/>
                <a:stretch>
                  <a:fillRect l="-11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B9E2B423-77D6-81BB-C7A1-D32395535308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E13E8411-CD0B-8B66-D09A-ADB1559B8486}"/>
              </a:ext>
            </a:extLst>
          </p:cNvPr>
          <p:cNvSpPr txBox="1"/>
          <p:nvPr/>
        </p:nvSpPr>
        <p:spPr>
          <a:xfrm>
            <a:off x="58811" y="785277"/>
            <a:ext cx="9990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Greatest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Divisor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largest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positive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divides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705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2E91-9B71-13D5-0496-082648AB3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03E302A-7134-A6DD-5AF7-82BA42BCE21D}"/>
                  </a:ext>
                </a:extLst>
              </p:cNvPr>
              <p:cNvSpPr txBox="1"/>
              <p:nvPr/>
            </p:nvSpPr>
            <p:spPr>
              <a:xfrm>
                <a:off x="58810" y="1616274"/>
                <a:ext cx="43097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03E302A-7134-A6DD-5AF7-82BA42BCE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616274"/>
                <a:ext cx="4309770" cy="461665"/>
              </a:xfrm>
              <a:prstGeom prst="rect">
                <a:avLst/>
              </a:prstGeom>
              <a:blipFill>
                <a:blip r:embed="rId2"/>
                <a:stretch>
                  <a:fillRect l="-226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F553E12-98AC-5309-67DE-2C1DAF7F7E1A}"/>
                  </a:ext>
                </a:extLst>
              </p:cNvPr>
              <p:cNvSpPr txBox="1"/>
              <p:nvPr/>
            </p:nvSpPr>
            <p:spPr>
              <a:xfrm>
                <a:off x="58810" y="2077939"/>
                <a:ext cx="67730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2,4,5,7,10,14,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,28,35,70,140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F553E12-98AC-5309-67DE-2C1DAF7F7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077939"/>
                <a:ext cx="6773008" cy="461665"/>
              </a:xfrm>
              <a:prstGeom prst="rect">
                <a:avLst/>
              </a:prstGeom>
              <a:blipFill>
                <a:blip r:embed="rId3"/>
                <a:stretch>
                  <a:fillRect l="-144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D617435-3000-FF22-96CF-D83B30CFB9CA}"/>
                  </a:ext>
                </a:extLst>
              </p:cNvPr>
              <p:cNvSpPr txBox="1"/>
              <p:nvPr/>
            </p:nvSpPr>
            <p:spPr>
              <a:xfrm>
                <a:off x="58810" y="2493437"/>
                <a:ext cx="88472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2,3,4,5,6,9,10,12,15,18,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,30,36,45,60,90,180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D617435-3000-FF22-96CF-D83B30CFB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493437"/>
                <a:ext cx="8847294" cy="461665"/>
              </a:xfrm>
              <a:prstGeom prst="rect">
                <a:avLst/>
              </a:prstGeom>
              <a:blipFill>
                <a:blip r:embed="rId4"/>
                <a:stretch>
                  <a:fillRect l="-11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EDB43C0D-58C1-E732-CFB8-6AD64E14EF97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4ECB45B6-542C-91C6-BFE5-42A3B8C0F1B9}"/>
              </a:ext>
            </a:extLst>
          </p:cNvPr>
          <p:cNvSpPr txBox="1"/>
          <p:nvPr/>
        </p:nvSpPr>
        <p:spPr>
          <a:xfrm>
            <a:off x="58811" y="785277"/>
            <a:ext cx="9990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Greatest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Divisor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largest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positive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divides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966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B73E-FD0C-7AEA-5D22-9627B202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66D87E8-7A3B-BE63-1C15-E3698B060704}"/>
                  </a:ext>
                </a:extLst>
              </p:cNvPr>
              <p:cNvSpPr txBox="1"/>
              <p:nvPr/>
            </p:nvSpPr>
            <p:spPr>
              <a:xfrm>
                <a:off x="58810" y="1616274"/>
                <a:ext cx="43097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</a:t>
                </a:r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66D87E8-7A3B-BE63-1C15-E3698B060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616274"/>
                <a:ext cx="4309770" cy="461665"/>
              </a:xfrm>
              <a:prstGeom prst="rect">
                <a:avLst/>
              </a:prstGeom>
              <a:blipFill>
                <a:blip r:embed="rId2"/>
                <a:stretch>
                  <a:fillRect l="-226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CBA3564-6E8B-6D2E-413F-B5DD5711D640}"/>
                  </a:ext>
                </a:extLst>
              </p:cNvPr>
              <p:cNvSpPr txBox="1"/>
              <p:nvPr/>
            </p:nvSpPr>
            <p:spPr>
              <a:xfrm>
                <a:off x="58810" y="2077939"/>
                <a:ext cx="67730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2,4,5,7,10,14,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,28,35,70,140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CBA3564-6E8B-6D2E-413F-B5DD5711D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077939"/>
                <a:ext cx="6773008" cy="461665"/>
              </a:xfrm>
              <a:prstGeom prst="rect">
                <a:avLst/>
              </a:prstGeom>
              <a:blipFill>
                <a:blip r:embed="rId3"/>
                <a:stretch>
                  <a:fillRect l="-144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0639C35-068D-7004-9575-0E305D2D64BB}"/>
                  </a:ext>
                </a:extLst>
              </p:cNvPr>
              <p:cNvSpPr txBox="1"/>
              <p:nvPr/>
            </p:nvSpPr>
            <p:spPr>
              <a:xfrm>
                <a:off x="58810" y="2493437"/>
                <a:ext cx="88472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Divisors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80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1,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2,3,4,5,6,9,10,12,15,18,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,30,36,45,60,90,180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20639C35-068D-7004-9575-0E305D2D6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493437"/>
                <a:ext cx="8847294" cy="461665"/>
              </a:xfrm>
              <a:prstGeom prst="rect">
                <a:avLst/>
              </a:prstGeom>
              <a:blipFill>
                <a:blip r:embed="rId4"/>
                <a:stretch>
                  <a:fillRect l="-110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F438E84-9A00-39BD-36C0-F1CF9DDDF8F4}"/>
                  </a:ext>
                </a:extLst>
              </p:cNvPr>
              <p:cNvSpPr txBox="1"/>
              <p:nvPr/>
            </p:nvSpPr>
            <p:spPr>
              <a:xfrm>
                <a:off x="58810" y="2955102"/>
                <a:ext cx="28312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140,180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3F438E84-9A00-39BD-36C0-F1CF9DDDF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955102"/>
                <a:ext cx="2831224" cy="461665"/>
              </a:xfrm>
              <a:prstGeom prst="rect">
                <a:avLst/>
              </a:prstGeom>
              <a:blipFill>
                <a:blip r:embed="rId5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F5B22F81-05AD-B963-E13A-EAA2574420B5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0FEDAB9-8D83-C41F-39C4-EFFDB0C8734E}"/>
              </a:ext>
            </a:extLst>
          </p:cNvPr>
          <p:cNvSpPr txBox="1"/>
          <p:nvPr/>
        </p:nvSpPr>
        <p:spPr>
          <a:xfrm>
            <a:off x="58811" y="785277"/>
            <a:ext cx="99902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Greatest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Divisor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largest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positive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divides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40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CD3EC-AC2B-664B-656A-B19A40221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E898C80D-B37C-DA4A-3FF5-CC1EE4C8927B}"/>
              </a:ext>
            </a:extLst>
          </p:cNvPr>
          <p:cNvSpPr txBox="1"/>
          <p:nvPr/>
        </p:nvSpPr>
        <p:spPr>
          <a:xfrm>
            <a:off x="58811" y="785277"/>
            <a:ext cx="11928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LCM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smallest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divisible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by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211E261-C257-3AB9-BF79-D116F81D3010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3745899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62D1A-21BF-440B-DACE-80D1E694A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6BDABFDE-3B64-4F24-7638-5D32FA53DFE1}"/>
              </a:ext>
            </a:extLst>
          </p:cNvPr>
          <p:cNvSpPr txBox="1"/>
          <p:nvPr/>
        </p:nvSpPr>
        <p:spPr>
          <a:xfrm>
            <a:off x="58811" y="785277"/>
            <a:ext cx="11928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LCM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smallest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divisible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by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E8C31E1-D63D-1F6E-3DBD-7F17900C0EC4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43258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E8C31E1-D63D-1F6E-3DBD-7F17900C0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4325800" cy="461665"/>
              </a:xfrm>
              <a:prstGeom prst="rect">
                <a:avLst/>
              </a:prstGeom>
              <a:blipFill>
                <a:blip r:embed="rId2"/>
                <a:stretch>
                  <a:fillRect l="-225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AAFD9F4C-4784-7098-3000-DFF58B71AC9C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1056480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6F69-6A55-EDBE-B370-376955285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5AFB9F2E-90C2-7DE4-2ECF-DE7C58B03E05}"/>
              </a:ext>
            </a:extLst>
          </p:cNvPr>
          <p:cNvSpPr txBox="1"/>
          <p:nvPr/>
        </p:nvSpPr>
        <p:spPr>
          <a:xfrm>
            <a:off x="58811" y="785277"/>
            <a:ext cx="11928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LCM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smallest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divisible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by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DCEED91-23DB-376F-2842-CA58CD628D32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43258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DCEED91-23DB-376F-2842-CA58CD628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4325800" cy="461665"/>
              </a:xfrm>
              <a:prstGeom prst="rect">
                <a:avLst/>
              </a:prstGeom>
              <a:blipFill>
                <a:blip r:embed="rId2"/>
                <a:stretch>
                  <a:fillRect l="-225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13ECED6-808B-517E-B598-F2488108354D}"/>
                  </a:ext>
                </a:extLst>
              </p:cNvPr>
              <p:cNvSpPr txBox="1"/>
              <p:nvPr/>
            </p:nvSpPr>
            <p:spPr>
              <a:xfrm>
                <a:off x="58811" y="2077939"/>
                <a:ext cx="102499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Multiples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140, 280, 420, 560, 700, 840, 980, 1120, 1260, 1400, 1540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13ECED6-808B-517E-B598-F24881083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077939"/>
                <a:ext cx="10249922" cy="461665"/>
              </a:xfrm>
              <a:prstGeom prst="rect">
                <a:avLst/>
              </a:prstGeom>
              <a:blipFill>
                <a:blip r:embed="rId3"/>
                <a:stretch>
                  <a:fillRect l="-9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64961595-7772-FB05-F4FB-69C88064174C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788483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AD4FA-2D2C-2857-14C1-FCDD16A0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0BD43FBE-84B7-16ED-E9AF-C8FCFA2A12A5}"/>
              </a:ext>
            </a:extLst>
          </p:cNvPr>
          <p:cNvSpPr txBox="1"/>
          <p:nvPr/>
        </p:nvSpPr>
        <p:spPr>
          <a:xfrm>
            <a:off x="58811" y="785277"/>
            <a:ext cx="11928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LCM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smallest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divisible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by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5DE574F-9348-9D72-8CE4-C71A568066A9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43258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65DE574F-9348-9D72-8CE4-C71A56806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4325800" cy="461665"/>
              </a:xfrm>
              <a:prstGeom prst="rect">
                <a:avLst/>
              </a:prstGeom>
              <a:blipFill>
                <a:blip r:embed="rId2"/>
                <a:stretch>
                  <a:fillRect l="-225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157F934-85BA-2FCE-CE1D-5F5B38EA3B65}"/>
                  </a:ext>
                </a:extLst>
              </p:cNvPr>
              <p:cNvSpPr txBox="1"/>
              <p:nvPr/>
            </p:nvSpPr>
            <p:spPr>
              <a:xfrm>
                <a:off x="58811" y="2077939"/>
                <a:ext cx="102499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Multiples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140, 280, 420, 560, 700, 840, 980, 1120, 1260, 1400, 1540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157F934-85BA-2FCE-CE1D-5F5B38EA3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077939"/>
                <a:ext cx="10249922" cy="461665"/>
              </a:xfrm>
              <a:prstGeom prst="rect">
                <a:avLst/>
              </a:prstGeom>
              <a:blipFill>
                <a:blip r:embed="rId3"/>
                <a:stretch>
                  <a:fillRect l="-9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2E3BB9B-3F8A-133A-183B-2366ECC439F6}"/>
                  </a:ext>
                </a:extLst>
              </p:cNvPr>
              <p:cNvSpPr txBox="1"/>
              <p:nvPr/>
            </p:nvSpPr>
            <p:spPr>
              <a:xfrm>
                <a:off x="58811" y="2493437"/>
                <a:ext cx="97962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Multiples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180, 360, 540, 720, 900, 1080, 1260, 1440, 1620, 1800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2E3BB9B-3F8A-133A-183B-2366ECC43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93437"/>
                <a:ext cx="9796272" cy="461665"/>
              </a:xfrm>
              <a:prstGeom prst="rect">
                <a:avLst/>
              </a:prstGeom>
              <a:blipFill>
                <a:blip r:embed="rId4"/>
                <a:stretch>
                  <a:fillRect l="-99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2E968313-A5A6-F595-C7BC-E0CA8B280CE8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5570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51C8-472E-531E-CB41-96ED2CA15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29C71FC7-C7C8-E460-CD35-76C8174FD39E}"/>
              </a:ext>
            </a:extLst>
          </p:cNvPr>
          <p:cNvSpPr txBox="1"/>
          <p:nvPr/>
        </p:nvSpPr>
        <p:spPr>
          <a:xfrm>
            <a:off x="58811" y="785277"/>
            <a:ext cx="11928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LCM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smallest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divisible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by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4CE95C4-617C-91FF-0830-B0146332D108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43258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4CE95C4-617C-91FF-0830-B0146332D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4325800" cy="461665"/>
              </a:xfrm>
              <a:prstGeom prst="rect">
                <a:avLst/>
              </a:prstGeom>
              <a:blipFill>
                <a:blip r:embed="rId2"/>
                <a:stretch>
                  <a:fillRect l="-225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FF93A53-B051-98F1-ECE9-7B6172519FFD}"/>
                  </a:ext>
                </a:extLst>
              </p:cNvPr>
              <p:cNvSpPr txBox="1"/>
              <p:nvPr/>
            </p:nvSpPr>
            <p:spPr>
              <a:xfrm>
                <a:off x="58811" y="2077939"/>
                <a:ext cx="102499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Multiples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140, 280, 420, 560, 700, 840, 980, 1120, 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1260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1400, 1540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AFF93A53-B051-98F1-ECE9-7B6172519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077939"/>
                <a:ext cx="10249922" cy="461665"/>
              </a:xfrm>
              <a:prstGeom prst="rect">
                <a:avLst/>
              </a:prstGeom>
              <a:blipFill>
                <a:blip r:embed="rId3"/>
                <a:stretch>
                  <a:fillRect l="-9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A82E513-0326-4F70-C44D-5BB8283AE04A}"/>
                  </a:ext>
                </a:extLst>
              </p:cNvPr>
              <p:cNvSpPr txBox="1"/>
              <p:nvPr/>
            </p:nvSpPr>
            <p:spPr>
              <a:xfrm>
                <a:off x="58811" y="2493437"/>
                <a:ext cx="97962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Multiples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180, 360, 540, 720, 900, 1080, 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1260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1440, 1620, 1800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A82E513-0326-4F70-C44D-5BB8283AE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93437"/>
                <a:ext cx="9796272" cy="461665"/>
              </a:xfrm>
              <a:prstGeom prst="rect">
                <a:avLst/>
              </a:prstGeom>
              <a:blipFill>
                <a:blip r:embed="rId4"/>
                <a:stretch>
                  <a:fillRect l="-99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9EF82BB3-5369-5D3F-7C12-C548C92662EA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390518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1CCD-AA6D-5D74-3587-83100AC1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EED3A607-12CC-CAAE-1BE1-67B8E747C3C6}"/>
              </a:ext>
            </a:extLst>
          </p:cNvPr>
          <p:cNvSpPr txBox="1"/>
          <p:nvPr/>
        </p:nvSpPr>
        <p:spPr>
          <a:xfrm>
            <a:off x="58811" y="785277"/>
            <a:ext cx="11928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Least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Common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Multiple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LCM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smallest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number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that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divisible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by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each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of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them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9EFD273-668D-EA14-5F47-A1D0A0651866}"/>
                  </a:ext>
                </a:extLst>
              </p:cNvPr>
              <p:cNvSpPr txBox="1"/>
              <p:nvPr/>
            </p:nvSpPr>
            <p:spPr>
              <a:xfrm>
                <a:off x="58811" y="1616274"/>
                <a:ext cx="43258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9EFD273-668D-EA14-5F47-A1D0A0651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616274"/>
                <a:ext cx="4325800" cy="461665"/>
              </a:xfrm>
              <a:prstGeom prst="rect">
                <a:avLst/>
              </a:prstGeom>
              <a:blipFill>
                <a:blip r:embed="rId2"/>
                <a:stretch>
                  <a:fillRect l="-2257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0152B5F-B247-B926-3A0F-C21019898E08}"/>
                  </a:ext>
                </a:extLst>
              </p:cNvPr>
              <p:cNvSpPr txBox="1"/>
              <p:nvPr/>
            </p:nvSpPr>
            <p:spPr>
              <a:xfrm>
                <a:off x="58811" y="2077939"/>
                <a:ext cx="102499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Multiples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140, 280, 420, 560, 700, 840, 980, 1120, 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1260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1400, 1540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40152B5F-B247-B926-3A0F-C21019898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077939"/>
                <a:ext cx="10249922" cy="461665"/>
              </a:xfrm>
              <a:prstGeom prst="rect">
                <a:avLst/>
              </a:prstGeom>
              <a:blipFill>
                <a:blip r:embed="rId3"/>
                <a:stretch>
                  <a:fillRect l="-952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BE6E472-E62A-F488-9D2A-8202EDB31045}"/>
                  </a:ext>
                </a:extLst>
              </p:cNvPr>
              <p:cNvSpPr txBox="1"/>
              <p:nvPr/>
            </p:nvSpPr>
            <p:spPr>
              <a:xfrm>
                <a:off x="58811" y="2493437"/>
                <a:ext cx="97962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Multiples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180, 360, 540, 720, 900, 1080, </m:t>
                    </m:r>
                    <m:r>
                      <a:rPr lang="pl-PL" sz="24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1260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, 1440, 1620, 1800</m:t>
                    </m:r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DBE6E472-E62A-F488-9D2A-8202EDB31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93437"/>
                <a:ext cx="9796272" cy="461665"/>
              </a:xfrm>
              <a:prstGeom prst="rect">
                <a:avLst/>
              </a:prstGeom>
              <a:blipFill>
                <a:blip r:embed="rId4"/>
                <a:stretch>
                  <a:fillRect l="-99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A319E6C-845F-5DED-C834-7CEBF547CBD1}"/>
                  </a:ext>
                </a:extLst>
              </p:cNvPr>
              <p:cNvSpPr txBox="1"/>
              <p:nvPr/>
            </p:nvSpPr>
            <p:spPr>
              <a:xfrm>
                <a:off x="58811" y="2955102"/>
                <a:ext cx="31870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lcm</m:t>
                          </m:r>
                        </m:fName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140,180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=1260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5A319E6C-845F-5DED-C834-7CEBF547C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55102"/>
                <a:ext cx="318709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0174577A-1F73-A6AB-39A9-E82C772DC360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3590699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9401A-BF06-1C16-CE45-C56F466C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B95D9FB-8241-DA57-796D-AD325B67D56E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7B95D9FB-8241-DA57-796D-AD325B67D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blipFill>
                <a:blip r:embed="rId2"/>
                <a:stretch>
                  <a:fillRect l="-138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371DCA3F-0578-FB50-61ED-531F99B0522A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2105926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FC888-8612-FA66-0690-F14027532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A6BB86C-6A29-F969-3B1F-8970A497623E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 this formula, it is enough to compute only one of the values — either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: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lcm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and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automatically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DA6BB86C-6A29-F969-3B1F-8970A4976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blipFill>
                <a:blip r:embed="rId3"/>
                <a:stretch>
                  <a:fillRect l="-8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3B0CAE90-8D0E-4FC6-A499-97FCF5921847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F637635-5A57-63D7-F4EA-55E2AFFB9FD2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EF637635-5A57-63D7-F4EA-55E2AFFB9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blipFill>
                <a:blip r:embed="rId4"/>
                <a:stretch>
                  <a:fillRect l="-138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108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ABD15-30BA-2798-E5A6-B32016BE8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F96B369-986E-F99F-2A6B-F06CD38CE535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 this formula, it is enough to compute only one of the values — either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: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lcm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and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automatically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F96B369-986E-F99F-2A6B-F06CD38CE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blipFill>
                <a:blip r:embed="rId3"/>
                <a:stretch>
                  <a:fillRect l="-8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BAE8505-9AEA-7528-8681-6E626440B9D3}"/>
                  </a:ext>
                </a:extLst>
              </p:cNvPr>
              <p:cNvSpPr txBox="1"/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BAE8505-9AEA-7528-8681-6E626440B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blipFill>
                <a:blip r:embed="rId4"/>
                <a:stretch>
                  <a:fillRect l="-137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B3DCF226-E65F-654B-8CB8-0CCADC86AE96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5566794-D95A-1FF5-589F-EB90DD65427C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5566794-D95A-1FF5-589F-EB90DD654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blipFill>
                <a:blip r:embed="rId5"/>
                <a:stretch>
                  <a:fillRect l="-138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185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3BBD9-0EE4-F7E8-AD34-DE546700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37ABA75-BBD8-493B-EACC-A74D2F16E572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 this formula, it is enough to compute only one of the values — either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: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lcm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and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automatically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37ABA75-BBD8-493B-EACC-A74D2F16E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blipFill>
                <a:blip r:embed="rId3"/>
                <a:stretch>
                  <a:fillRect l="-8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2C266E7-6A81-A879-3FEE-7746B70D4D46}"/>
                  </a:ext>
                </a:extLst>
              </p:cNvPr>
              <p:cNvSpPr txBox="1"/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2C266E7-6A81-A879-3FEE-7746B70D4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blipFill>
                <a:blip r:embed="rId4"/>
                <a:stretch>
                  <a:fillRect l="-137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25479F5-5422-DD4A-3E68-1856DFB593DB}"/>
                  </a:ext>
                </a:extLst>
              </p:cNvPr>
              <p:cNvSpPr txBox="1"/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immediately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25479F5-5422-DD4A-3E68-1856DFB59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blipFill>
                <a:blip r:embed="rId5"/>
                <a:stretch>
                  <a:fillRect l="-1128" t="-11842" r="-141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3834FB35-5FE7-F7B8-B1FA-2BC9B322652D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36741F5-B6B2-5E1C-C070-76FEE344098C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36741F5-B6B2-5E1C-C070-76FEE3440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blipFill>
                <a:blip r:embed="rId6"/>
                <a:stretch>
                  <a:fillRect l="-138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4417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005E-07B9-CB2A-A6A7-0F6CDFBE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92E2B26-6517-29E1-AA44-3E19BF1AA20F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 this formula, it is enough to compute only one of the values — either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: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lcm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and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automatically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92E2B26-6517-29E1-AA44-3E19BF1AA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blipFill>
                <a:blip r:embed="rId3"/>
                <a:stretch>
                  <a:fillRect l="-8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F5F3CDB-36B1-DD43-7C95-5CDF02CD0158}"/>
                  </a:ext>
                </a:extLst>
              </p:cNvPr>
              <p:cNvSpPr txBox="1"/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F5F3CDB-36B1-DD43-7C95-5CDF02CD0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blipFill>
                <a:blip r:embed="rId4"/>
                <a:stretch>
                  <a:fillRect l="-137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950D6A3-EE82-5C06-C7F2-B4EA06567DC2}"/>
                  </a:ext>
                </a:extLst>
              </p:cNvPr>
              <p:cNvSpPr txBox="1"/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immediately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950D6A3-EE82-5C06-C7F2-B4EA06567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blipFill>
                <a:blip r:embed="rId5"/>
                <a:stretch>
                  <a:fillRect l="-1128" t="-11842" r="-141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BFACBF8-2DC3-E890-2E30-7D82A7C145B7}"/>
                  </a:ext>
                </a:extLst>
              </p:cNvPr>
              <p:cNvSpPr txBox="1"/>
              <p:nvPr/>
            </p:nvSpPr>
            <p:spPr>
              <a:xfrm>
                <a:off x="58811" y="2908936"/>
                <a:ext cx="12074378" cy="845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lcm</m:t>
                          </m:r>
                        </m:fName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140,180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140⋅180</m:t>
                          </m:r>
                        </m:num>
                        <m:den>
                          <m:func>
                            <m:func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gcd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140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,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180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BFACBF8-2DC3-E890-2E30-7D82A7C14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08936"/>
                <a:ext cx="12074378" cy="8458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F8C30078-047D-E648-B11E-6F029EFACB76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8DD3982-895C-125B-47D4-ED792ECB84F4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48DD3982-895C-125B-47D4-ED792ECB8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blipFill>
                <a:blip r:embed="rId7"/>
                <a:stretch>
                  <a:fillRect l="-138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772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F888D-30FB-CF1D-0432-22C0236F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61E6D4F-A6C8-C66B-70B0-12253A7557DA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 this formula, it is enough to compute only one of the values — either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: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lcm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and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automatically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61E6D4F-A6C8-C66B-70B0-12253A755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blipFill>
                <a:blip r:embed="rId3"/>
                <a:stretch>
                  <a:fillRect l="-8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C770BA4-D238-FDB3-99F8-00533AE3C374}"/>
                  </a:ext>
                </a:extLst>
              </p:cNvPr>
              <p:cNvSpPr txBox="1"/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C770BA4-D238-FDB3-99F8-00533AE3C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blipFill>
                <a:blip r:embed="rId4"/>
                <a:stretch>
                  <a:fillRect l="-137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CA4F14A-72D9-8B70-BB79-F5A76BC4E735}"/>
                  </a:ext>
                </a:extLst>
              </p:cNvPr>
              <p:cNvSpPr txBox="1"/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immediately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CA4F14A-72D9-8B70-BB79-F5A76BC4E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blipFill>
                <a:blip r:embed="rId5"/>
                <a:stretch>
                  <a:fillRect l="-1128" t="-11842" r="-141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655295C-11B7-6FDE-A336-02175F22A123}"/>
                  </a:ext>
                </a:extLst>
              </p:cNvPr>
              <p:cNvSpPr txBox="1"/>
              <p:nvPr/>
            </p:nvSpPr>
            <p:spPr>
              <a:xfrm>
                <a:off x="58811" y="2908936"/>
                <a:ext cx="12074378" cy="882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lcm</m:t>
                          </m:r>
                        </m:fName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140,180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140⋅180</m:t>
                          </m:r>
                        </m:num>
                        <m:den>
                          <m:func>
                            <m:func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gcd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140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,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180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140⋅180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D655295C-11B7-6FDE-A336-02175F22A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08936"/>
                <a:ext cx="12074378" cy="8828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B0CA98FD-1A76-142F-4A39-37459AA0C805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BD97B93-DF24-EE3E-79AA-96B38CFDC646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5BD97B93-DF24-EE3E-79AA-96B38CFDC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blipFill>
                <a:blip r:embed="rId7"/>
                <a:stretch>
                  <a:fillRect l="-138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7197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E126-212A-DB77-9A65-122302425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462BBB9-717F-A3BC-C8EE-E9CB19329283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 this formula, it is enough to compute only one of the values — either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: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lcm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and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automatically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462BBB9-717F-A3BC-C8EE-E9CB19329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blipFill>
                <a:blip r:embed="rId3"/>
                <a:stretch>
                  <a:fillRect l="-8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9AB5C38-A016-30C8-B397-9379CD000A54}"/>
                  </a:ext>
                </a:extLst>
              </p:cNvPr>
              <p:cNvSpPr txBox="1"/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9AB5C38-A016-30C8-B397-9379CD000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blipFill>
                <a:blip r:embed="rId4"/>
                <a:stretch>
                  <a:fillRect l="-137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B87845A-8A22-C81C-1B0F-12DE96D983ED}"/>
                  </a:ext>
                </a:extLst>
              </p:cNvPr>
              <p:cNvSpPr txBox="1"/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immediately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B87845A-8A22-C81C-1B0F-12DE96D98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blipFill>
                <a:blip r:embed="rId5"/>
                <a:stretch>
                  <a:fillRect l="-1128" t="-11842" r="-141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1A05A58-79C9-F430-FE19-C5C88683D7AD}"/>
                  </a:ext>
                </a:extLst>
              </p:cNvPr>
              <p:cNvSpPr txBox="1"/>
              <p:nvPr/>
            </p:nvSpPr>
            <p:spPr>
              <a:xfrm>
                <a:off x="58811" y="2908936"/>
                <a:ext cx="12074378" cy="882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lcm</m:t>
                          </m:r>
                        </m:fName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140,180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140⋅180</m:t>
                          </m:r>
                        </m:num>
                        <m:den>
                          <m:func>
                            <m:func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gcd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140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,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180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140⋅180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20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=7⋅180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1A05A58-79C9-F430-FE19-C5C88683D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08936"/>
                <a:ext cx="12074378" cy="8828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59181A9E-9B59-0967-8DA2-ADA7B066E3B7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2233EC9-2D8D-75E7-06D4-BE15EC713E99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32233EC9-2D8D-75E7-06D4-BE15EC713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blipFill>
                <a:blip r:embed="rId7"/>
                <a:stretch>
                  <a:fillRect l="-138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076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AFA5D-7DC3-E7BA-DC13-91E1DA6A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EEBDDA8-F1C3-FAFC-7A1E-46EF36BA5B4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 this formula, it is enough to compute only one of the values — either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: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lcm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and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automatically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EEBDDA8-F1C3-FAFC-7A1E-46EF36BA5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blipFill>
                <a:blip r:embed="rId3"/>
                <a:stretch>
                  <a:fillRect l="-8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286FE14-C782-354B-D207-101CAF1FDAF8}"/>
                  </a:ext>
                </a:extLst>
              </p:cNvPr>
              <p:cNvSpPr txBox="1"/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9286FE14-C782-354B-D207-101CAF1FD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blipFill>
                <a:blip r:embed="rId4"/>
                <a:stretch>
                  <a:fillRect l="-137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6BEC837-2BC6-95AF-CD46-C70F98704C7F}"/>
                  </a:ext>
                </a:extLst>
              </p:cNvPr>
              <p:cNvSpPr txBox="1"/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immediately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16BEC837-2BC6-95AF-CD46-C70F98704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blipFill>
                <a:blip r:embed="rId5"/>
                <a:stretch>
                  <a:fillRect l="-1128" t="-11842" r="-141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0EC97B5-4BC7-4383-EABB-437E4AAE7F69}"/>
                  </a:ext>
                </a:extLst>
              </p:cNvPr>
              <p:cNvSpPr txBox="1"/>
              <p:nvPr/>
            </p:nvSpPr>
            <p:spPr>
              <a:xfrm>
                <a:off x="58811" y="2908936"/>
                <a:ext cx="12074378" cy="882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lcm</m:t>
                          </m:r>
                        </m:fName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140,180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140⋅180</m:t>
                          </m:r>
                        </m:num>
                        <m:den>
                          <m:func>
                            <m:func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gcd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140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,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180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140⋅180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20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=7⋅180=1260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0EC97B5-4BC7-4383-EABB-437E4AAE7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08936"/>
                <a:ext cx="12074378" cy="8828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A8CB2DA7-FB27-C0E9-E639-62A81910D0BD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91B5F1A-DDA1-E9A4-C53C-9B883240D910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91B5F1A-DDA1-E9A4-C53C-9B883240D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blipFill>
                <a:blip r:embed="rId7"/>
                <a:stretch>
                  <a:fillRect l="-138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530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11BCF-C45A-1EE7-B662-066DB6D8A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185B5E4-D927-01F7-D484-A3338C8020D5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 this formula, it is enough to compute only one of the values — either</a:t>
                </a:r>
                <a:b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</a:br>
                <a:r>
                  <a:rPr lang="pl-PL" sz="2400" b="0" i="1" dirty="0">
                    <a:solidFill>
                      <a:schemeClr val="bg1"/>
                    </a:solidFill>
                    <a:latin typeface="Cambria Math" panose="02040503050406030204" pitchFamily="18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lcm</m:t>
                    </m:r>
                    <m:r>
                      <a:rPr lang="pl-PL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– and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other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be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found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automatically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185B5E4-D927-01F7-D484-A3338C802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1893384" cy="830997"/>
              </a:xfrm>
              <a:prstGeom prst="rect">
                <a:avLst/>
              </a:prstGeom>
              <a:blipFill>
                <a:blip r:embed="rId2"/>
                <a:stretch>
                  <a:fillRect l="-82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0BA30C4-3DBE-6ECE-AE60-171D160C8AFE}"/>
                  </a:ext>
                </a:extLst>
              </p:cNvPr>
              <p:cNvSpPr txBox="1"/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20BA30C4-3DBE-6ECE-AE60-171D160C8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985606"/>
                <a:ext cx="7123617" cy="461665"/>
              </a:xfrm>
              <a:prstGeom prst="rect">
                <a:avLst/>
              </a:prstGeom>
              <a:blipFill>
                <a:blip r:embed="rId3"/>
                <a:stretch>
                  <a:fillRect l="-1370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26ABCAD-E565-89FC-53FF-4214D01050DF}"/>
                  </a:ext>
                </a:extLst>
              </p:cNvPr>
              <p:cNvSpPr txBox="1"/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calculating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=20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we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immediately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get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A26ABCAD-E565-89FC-53FF-4214D0105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447271"/>
                <a:ext cx="8643713" cy="461665"/>
              </a:xfrm>
              <a:prstGeom prst="rect">
                <a:avLst/>
              </a:prstGeom>
              <a:blipFill>
                <a:blip r:embed="rId4"/>
                <a:stretch>
                  <a:fillRect l="-1128" t="-11842" r="-141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869E1EF-67B6-9847-19EC-52BBA71FF433}"/>
                  </a:ext>
                </a:extLst>
              </p:cNvPr>
              <p:cNvSpPr txBox="1"/>
              <p:nvPr/>
            </p:nvSpPr>
            <p:spPr>
              <a:xfrm>
                <a:off x="58811" y="2908936"/>
                <a:ext cx="12074378" cy="882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lcm</m:t>
                          </m:r>
                        </m:fName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140,180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140⋅180</m:t>
                          </m:r>
                        </m:num>
                        <m:den>
                          <m:func>
                            <m:func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4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gcd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140</m:t>
                                  </m:r>
                                  <m:r>
                                    <a:rPr lang="pl-PL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,</m:t>
                                  </m:r>
                                  <m: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180</m:t>
                                  </m:r>
                                </m:e>
                              </m:d>
                            </m:e>
                          </m:func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140⋅180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20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=7⋅180=1260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A869E1EF-67B6-9847-19EC-52BBA71FF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908936"/>
                <a:ext cx="12074378" cy="8828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73CBB28C-7DC5-54FA-DEB3-E9EA8B104BE4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E97661C2-868C-35AD-805F-9BE5C96EA8D1}"/>
              </a:ext>
            </a:extLst>
          </p:cNvPr>
          <p:cNvSpPr txBox="1"/>
          <p:nvPr/>
        </p:nvSpPr>
        <p:spPr>
          <a:xfrm>
            <a:off x="58811" y="4022638"/>
            <a:ext cx="7560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Note</a:t>
            </a:r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formula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only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two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integers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!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E8ADFE7-6289-FB9E-96BE-3D74E015897C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There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𝑎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𝑏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E8ADFE7-6289-FB9E-96BE-3D74E0158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7053085" cy="461665"/>
              </a:xfrm>
              <a:prstGeom prst="rect">
                <a:avLst/>
              </a:prstGeom>
              <a:blipFill>
                <a:blip r:embed="rId6"/>
                <a:stretch>
                  <a:fillRect l="-1383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397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1531-B856-B92F-1D3C-248E6AA1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A8879E04-841B-3C7B-5597-4F7AC146510A}"/>
              </a:ext>
            </a:extLst>
          </p:cNvPr>
          <p:cNvSpPr txBox="1"/>
          <p:nvPr/>
        </p:nvSpPr>
        <p:spPr>
          <a:xfrm>
            <a:off x="58811" y="785277"/>
            <a:ext cx="10928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 the GCD or LCM of three or more numbers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can be reduced to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repeatedly applying the two-number version.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A0E4E2E-868D-4862-E188-5403076D12B5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736563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BD34-F835-DE5D-DA40-C8B77F87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AD911AC-00CE-A1F3-A6B3-3C36D8BA044C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92818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Finding the GCD or LCM of three or more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reduced to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repeatedly applying the two-number version.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l-PL" sz="24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gcd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𝑎</m:t>
                                      </m:r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,</m:t>
                                      </m:r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LCM).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EAD911AC-00CE-A1F3-A6B3-3C36D8BA0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928184" cy="1569660"/>
              </a:xfrm>
              <a:prstGeom prst="rect">
                <a:avLst/>
              </a:prstGeom>
              <a:blipFill>
                <a:blip r:embed="rId2"/>
                <a:stretch>
                  <a:fillRect l="-893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6830BA42-6730-EAD2-0C26-6E2965F9FC39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3632451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F8B72-8A74-7DF1-BE85-91D964060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466E823-0E16-14F3-788A-9CBA3D8B1B62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92818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Finding the GCD or LCM of three or more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reduced to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repeatedly applying the two-number version.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l-PL" sz="24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gcd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𝑎</m:t>
                                      </m:r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,</m:t>
                                      </m:r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LCM).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0466E823-0E16-14F3-788A-9CBA3D8B1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928184" cy="1569660"/>
              </a:xfrm>
              <a:prstGeom prst="rect">
                <a:avLst/>
              </a:prstGeom>
              <a:blipFill>
                <a:blip r:embed="rId2"/>
                <a:stretch>
                  <a:fillRect l="-893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BE6AA80-6566-6E04-0C90-3F7DAE7AE434}"/>
                  </a:ext>
                </a:extLst>
              </p:cNvPr>
              <p:cNvSpPr txBox="1"/>
              <p:nvPr/>
            </p:nvSpPr>
            <p:spPr>
              <a:xfrm>
                <a:off x="58811" y="2354937"/>
                <a:ext cx="3878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4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BE6AA80-6566-6E04-0C90-3F7DAE7AE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354937"/>
                <a:ext cx="3878562" cy="461665"/>
              </a:xfrm>
              <a:prstGeom prst="rect">
                <a:avLst/>
              </a:prstGeom>
              <a:blipFill>
                <a:blip r:embed="rId3"/>
                <a:stretch>
                  <a:fillRect l="-25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B7E97CCC-7611-0928-2BCA-9D3C9DCD1D35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3135332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229CE-3B7E-E866-4867-4B0E5D08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C0B381D-4862-8D32-95C8-32DB80574821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92818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Finding the GCD or LCM of three or more 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can be reduced to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repeatedly applying the two-number version.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𝑎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𝑏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=</m:t>
                          </m:r>
                        </m:e>
                      </m:func>
                      <m:func>
                        <m:func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pl-PL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l-PL" sz="24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gcd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𝑎</m:t>
                                      </m:r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,</m:t>
                                      </m:r>
                                      <m:r>
                                        <a:rPr lang="pl-PL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(and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similarly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LCM).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C0B381D-4862-8D32-95C8-32DB80574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928184" cy="1569660"/>
              </a:xfrm>
              <a:prstGeom prst="rect">
                <a:avLst/>
              </a:prstGeom>
              <a:blipFill>
                <a:blip r:embed="rId2"/>
                <a:stretch>
                  <a:fillRect l="-893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07CA08C-BB88-F9D2-C702-335E60FEC784}"/>
                  </a:ext>
                </a:extLst>
              </p:cNvPr>
              <p:cNvSpPr txBox="1"/>
              <p:nvPr/>
            </p:nvSpPr>
            <p:spPr>
              <a:xfrm>
                <a:off x="58811" y="2354937"/>
                <a:ext cx="38785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Example: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Find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3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4</m:t>
                            </m:r>
                            <m:r>
                              <a:rPr lang="pl-PL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5</m:t>
                            </m:r>
                          </m:e>
                        </m:d>
                      </m:e>
                    </m:func>
                  </m:oMath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07CA08C-BB88-F9D2-C702-335E60FEC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354937"/>
                <a:ext cx="3878562" cy="461665"/>
              </a:xfrm>
              <a:prstGeom prst="rect">
                <a:avLst/>
              </a:prstGeom>
              <a:blipFill>
                <a:blip r:embed="rId3"/>
                <a:stretch>
                  <a:fillRect l="-251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EB2D8DC-CBC1-8C8D-814A-7206F554DB73}"/>
                  </a:ext>
                </a:extLst>
              </p:cNvPr>
              <p:cNvSpPr txBox="1"/>
              <p:nvPr/>
            </p:nvSpPr>
            <p:spPr>
              <a:xfrm>
                <a:off x="58811" y="2816602"/>
                <a:ext cx="41040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lcm</m:t>
                          </m:r>
                        </m:fName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lcm</m:t>
                          </m:r>
                        </m:fName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,5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EEB2D8DC-CBC1-8C8D-814A-7206F554D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816602"/>
                <a:ext cx="410400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18A98195-1964-C68A-921E-64925C6DD1A7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376551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A2687-8B21-8C59-F4D5-E1CA08DB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C7656CFF-8BEC-F485-3AA9-4D0172B860FC}"/>
              </a:ext>
            </a:extLst>
          </p:cNvPr>
          <p:cNvSpPr txBox="1"/>
          <p:nvPr/>
        </p:nvSpPr>
        <p:spPr>
          <a:xfrm>
            <a:off x="58811" y="785277"/>
            <a:ext cx="9620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GCD and LCM: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3084133F-926C-5A7F-4996-8E18AC0821FF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3693033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80BB7-9AFF-AD4C-0835-95EEED31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C0137B6A-95D1-7736-EBC6-933406584878}"/>
              </a:ext>
            </a:extLst>
          </p:cNvPr>
          <p:cNvSpPr txBox="1"/>
          <p:nvPr/>
        </p:nvSpPr>
        <p:spPr>
          <a:xfrm>
            <a:off x="58811" y="785277"/>
            <a:ext cx="9620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GCD and LCM: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3CD3552-AA47-F1EA-1067-6419DC5CA0F6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99693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Listing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method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good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small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less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3CD3552-AA47-F1EA-1067-6419DC5CA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9969396" cy="461665"/>
              </a:xfrm>
              <a:prstGeom prst="rect">
                <a:avLst/>
              </a:prstGeom>
              <a:blipFill>
                <a:blip r:embed="rId2"/>
                <a:stretch>
                  <a:fillRect l="-979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D436307F-22EC-5CA4-70D3-B2C16DEAAB41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1365694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48D5-1A80-4DF7-E8A3-432CE1CFC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4C357451-2264-A78F-4A3E-0D063700F615}"/>
              </a:ext>
            </a:extLst>
          </p:cNvPr>
          <p:cNvSpPr txBox="1"/>
          <p:nvPr/>
        </p:nvSpPr>
        <p:spPr>
          <a:xfrm>
            <a:off x="58811" y="785277"/>
            <a:ext cx="9620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GCD and LCM: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A3C93C1-962E-E6A8-4DA5-6EE00C1FAD13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3245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Listing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method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good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small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less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Column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/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school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method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good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medium-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sized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100−10000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A3C93C1-962E-E6A8-4DA5-6EE00C1FA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324592" cy="830997"/>
              </a:xfrm>
              <a:prstGeom prst="rect">
                <a:avLst/>
              </a:prstGeom>
              <a:blipFill>
                <a:blip r:embed="rId2"/>
                <a:stretch>
                  <a:fillRect l="-792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69FEDB3E-7CFE-9CAE-CE38-150735E69546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3361284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EB7CE-2665-AE67-F1F6-0B83F6DD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889CC54C-9B2F-DA2E-1D98-65813E88469C}"/>
              </a:ext>
            </a:extLst>
          </p:cNvPr>
          <p:cNvSpPr txBox="1"/>
          <p:nvPr/>
        </p:nvSpPr>
        <p:spPr>
          <a:xfrm>
            <a:off x="58811" y="785277"/>
            <a:ext cx="9620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three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basic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methods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for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finding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GCD and LCM: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2CB0499-BD2B-AF50-8420-C87857180143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1232459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Listing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method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good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small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less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Column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/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school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method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good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medium-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sized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i.e.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100−10000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Euklidean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algorithm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works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well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for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numbers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2CB0499-BD2B-AF50-8420-C87857180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12324592" cy="1200329"/>
              </a:xfrm>
              <a:prstGeom prst="rect">
                <a:avLst/>
              </a:prstGeom>
              <a:blipFill>
                <a:blip r:embed="rId2"/>
                <a:stretch>
                  <a:fillRect l="-792" t="-459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452E24AA-1A5E-C8CA-0E9B-A0E57F43A16A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349846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278A-7C09-8326-5BA2-C661A312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A8950E3E-C410-0CDD-D1FC-B9D468CBDE6A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47A4A5A-37EA-080A-375C-55C981FC115D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675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column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school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method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B47A4A5A-37EA-080A-375C-55C981FC1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67563" cy="461665"/>
              </a:xfrm>
              <a:prstGeom prst="rect">
                <a:avLst/>
              </a:prstGeom>
              <a:blipFill>
                <a:blip r:embed="rId2"/>
                <a:stretch>
                  <a:fillRect l="-851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0259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0AF3F-4BFE-F0BB-3068-D834729B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48B585B-EE3D-1D92-DC56-641640C9914D}"/>
                  </a:ext>
                </a:extLst>
              </p:cNvPr>
              <p:cNvSpPr txBox="1"/>
              <p:nvPr/>
            </p:nvSpPr>
            <p:spPr>
              <a:xfrm>
                <a:off x="3363986" y="1499652"/>
                <a:ext cx="86511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C48B585B-EE3D-1D92-DC56-641640C99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986" y="1499652"/>
                <a:ext cx="865113" cy="1938992"/>
              </a:xfrm>
              <a:prstGeom prst="rect">
                <a:avLst/>
              </a:prstGeom>
              <a:blipFill>
                <a:blip r:embed="rId3"/>
                <a:stretch>
                  <a:fillRect r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274886B-7370-FD97-CD02-8284E07F452F}"/>
                  </a:ext>
                </a:extLst>
              </p:cNvPr>
              <p:cNvSpPr txBox="1"/>
              <p:nvPr/>
            </p:nvSpPr>
            <p:spPr>
              <a:xfrm>
                <a:off x="6096000" y="1499652"/>
                <a:ext cx="86511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274886B-7370-FD97-CD02-8284E07F4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499652"/>
                <a:ext cx="865113" cy="2308324"/>
              </a:xfrm>
              <a:prstGeom prst="rect">
                <a:avLst/>
              </a:prstGeom>
              <a:blipFill>
                <a:blip r:embed="rId4"/>
                <a:stretch>
                  <a:fillRect r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FEDFDE57-EB94-FF8A-BB8C-FD76E2F65876}"/>
              </a:ext>
            </a:extLst>
          </p:cNvPr>
          <p:cNvCxnSpPr>
            <a:cxnSpLocks/>
          </p:cNvCxnSpPr>
          <p:nvPr/>
        </p:nvCxnSpPr>
        <p:spPr>
          <a:xfrm>
            <a:off x="4229099" y="1599813"/>
            <a:ext cx="0" cy="17244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C8F27492-3A94-0E43-ABFF-F4A3CE1AB513}"/>
              </a:ext>
            </a:extLst>
          </p:cNvPr>
          <p:cNvCxnSpPr/>
          <p:nvPr/>
        </p:nvCxnSpPr>
        <p:spPr>
          <a:xfrm>
            <a:off x="6961113" y="1599812"/>
            <a:ext cx="0" cy="210800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04595E9-9D46-8FF7-54DC-3854FBA58BF7}"/>
                  </a:ext>
                </a:extLst>
              </p:cNvPr>
              <p:cNvSpPr txBox="1"/>
              <p:nvPr/>
            </p:nvSpPr>
            <p:spPr>
              <a:xfrm>
                <a:off x="4157218" y="1494919"/>
                <a:ext cx="463588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04595E9-9D46-8FF7-54DC-3854FBA58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218" y="1494919"/>
                <a:ext cx="463588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C18F20A-92FD-15C8-4104-400A9A4AE77C}"/>
                  </a:ext>
                </a:extLst>
              </p:cNvPr>
              <p:cNvSpPr txBox="1"/>
              <p:nvPr/>
            </p:nvSpPr>
            <p:spPr>
              <a:xfrm>
                <a:off x="6884913" y="1504444"/>
                <a:ext cx="46358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5C18F20A-92FD-15C8-4104-400A9A4AE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913" y="1504444"/>
                <a:ext cx="463588" cy="19389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D7E5FA10-10E7-EB3E-E0EE-D2AC473C508E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AEFDECD-5871-07E5-1F2B-49B39CF31F46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675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column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school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method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0AEFDECD-5871-07E5-1F2B-49B39CF31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67563" cy="461665"/>
              </a:xfrm>
              <a:prstGeom prst="rect">
                <a:avLst/>
              </a:prstGeom>
              <a:blipFill>
                <a:blip r:embed="rId7"/>
                <a:stretch>
                  <a:fillRect l="-851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5113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CB5E-5AF5-FFF3-8DAF-25BD854A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595406C-E3EF-2021-AB17-6DB45A9C57C8}"/>
                  </a:ext>
                </a:extLst>
              </p:cNvPr>
              <p:cNvSpPr txBox="1"/>
              <p:nvPr/>
            </p:nvSpPr>
            <p:spPr>
              <a:xfrm>
                <a:off x="3363986" y="1499652"/>
                <a:ext cx="86511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7595406C-E3EF-2021-AB17-6DB45A9C5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986" y="1499652"/>
                <a:ext cx="865113" cy="1938992"/>
              </a:xfrm>
              <a:prstGeom prst="rect">
                <a:avLst/>
              </a:prstGeom>
              <a:blipFill>
                <a:blip r:embed="rId3"/>
                <a:stretch>
                  <a:fillRect r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A9A4D1F-F132-2BDF-EFB3-6BF79C1F3EAF}"/>
                  </a:ext>
                </a:extLst>
              </p:cNvPr>
              <p:cNvSpPr txBox="1"/>
              <p:nvPr/>
            </p:nvSpPr>
            <p:spPr>
              <a:xfrm>
                <a:off x="6096000" y="1499652"/>
                <a:ext cx="86511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8A9A4D1F-F132-2BDF-EFB3-6BF79C1F3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499652"/>
                <a:ext cx="865113" cy="2308324"/>
              </a:xfrm>
              <a:prstGeom prst="rect">
                <a:avLst/>
              </a:prstGeom>
              <a:blipFill>
                <a:blip r:embed="rId4"/>
                <a:stretch>
                  <a:fillRect r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82701FF2-B0D7-C57A-D5AA-A36E9ADB4870}"/>
              </a:ext>
            </a:extLst>
          </p:cNvPr>
          <p:cNvCxnSpPr>
            <a:cxnSpLocks/>
          </p:cNvCxnSpPr>
          <p:nvPr/>
        </p:nvCxnSpPr>
        <p:spPr>
          <a:xfrm>
            <a:off x="4229099" y="1599813"/>
            <a:ext cx="0" cy="17244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C2EB04DB-83CB-B919-9D9F-3C5737BBFD22}"/>
              </a:ext>
            </a:extLst>
          </p:cNvPr>
          <p:cNvCxnSpPr/>
          <p:nvPr/>
        </p:nvCxnSpPr>
        <p:spPr>
          <a:xfrm>
            <a:off x="6961113" y="1599812"/>
            <a:ext cx="0" cy="210800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16D7E18-9A7F-7413-9BAA-A0885C6877DE}"/>
                  </a:ext>
                </a:extLst>
              </p:cNvPr>
              <p:cNvSpPr txBox="1"/>
              <p:nvPr/>
            </p:nvSpPr>
            <p:spPr>
              <a:xfrm>
                <a:off x="4157218" y="1494919"/>
                <a:ext cx="463588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E16D7E18-9A7F-7413-9BAA-A0885C687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218" y="1494919"/>
                <a:ext cx="463588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C1A85FA-DC56-5E5D-8C81-EC81443131D0}"/>
                  </a:ext>
                </a:extLst>
              </p:cNvPr>
              <p:cNvSpPr txBox="1"/>
              <p:nvPr/>
            </p:nvSpPr>
            <p:spPr>
              <a:xfrm>
                <a:off x="6884913" y="1504444"/>
                <a:ext cx="46358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C1A85FA-DC56-5E5D-8C81-EC8144313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913" y="1504444"/>
                <a:ext cx="463588" cy="19389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5B0E2327-48C2-326A-E1D7-AB657AE5EDAE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C38E4FB-59D7-1C5C-F5BA-95A8C9D2E0A5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675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column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school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method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C38E4FB-59D7-1C5C-F5BA-95A8C9D2E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67563" cy="461665"/>
              </a:xfrm>
              <a:prstGeom prst="rect">
                <a:avLst/>
              </a:prstGeom>
              <a:blipFill>
                <a:blip r:embed="rId7"/>
                <a:stretch>
                  <a:fillRect l="-851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266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96650-38BD-D87A-CF9F-D4965DB47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06ABB3F-140D-A229-0F92-DC749FCAEFD6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675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column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school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method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F06ABB3F-140D-A229-0F92-DC749FCAE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67563" cy="461665"/>
              </a:xfrm>
              <a:prstGeom prst="rect">
                <a:avLst/>
              </a:prstGeom>
              <a:blipFill>
                <a:blip r:embed="rId2"/>
                <a:stretch>
                  <a:fillRect l="-851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D86276A-EE61-6028-E9D0-5A332F18E35E}"/>
                  </a:ext>
                </a:extLst>
              </p:cNvPr>
              <p:cNvSpPr txBox="1"/>
              <p:nvPr/>
            </p:nvSpPr>
            <p:spPr>
              <a:xfrm>
                <a:off x="3363986" y="1499652"/>
                <a:ext cx="86511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ED86276A-EE61-6028-E9D0-5A332F18E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986" y="1499652"/>
                <a:ext cx="865113" cy="1938992"/>
              </a:xfrm>
              <a:prstGeom prst="rect">
                <a:avLst/>
              </a:prstGeom>
              <a:blipFill>
                <a:blip r:embed="rId3"/>
                <a:stretch>
                  <a:fillRect r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B44AA45-CAF1-3A1A-9F13-7A1DF7D7B400}"/>
                  </a:ext>
                </a:extLst>
              </p:cNvPr>
              <p:cNvSpPr txBox="1"/>
              <p:nvPr/>
            </p:nvSpPr>
            <p:spPr>
              <a:xfrm>
                <a:off x="6096000" y="1499652"/>
                <a:ext cx="86511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6B44AA45-CAF1-3A1A-9F13-7A1DF7D7B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499652"/>
                <a:ext cx="865113" cy="2308324"/>
              </a:xfrm>
              <a:prstGeom prst="rect">
                <a:avLst/>
              </a:prstGeom>
              <a:blipFill>
                <a:blip r:embed="rId4"/>
                <a:stretch>
                  <a:fillRect r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DDD7C4FF-AB20-7822-3C6A-6A623F5BE178}"/>
              </a:ext>
            </a:extLst>
          </p:cNvPr>
          <p:cNvCxnSpPr>
            <a:cxnSpLocks/>
          </p:cNvCxnSpPr>
          <p:nvPr/>
        </p:nvCxnSpPr>
        <p:spPr>
          <a:xfrm>
            <a:off x="4229099" y="1599813"/>
            <a:ext cx="0" cy="17244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D199086F-5666-EB6B-ABDF-4BC401EDAB30}"/>
              </a:ext>
            </a:extLst>
          </p:cNvPr>
          <p:cNvCxnSpPr/>
          <p:nvPr/>
        </p:nvCxnSpPr>
        <p:spPr>
          <a:xfrm>
            <a:off x="6961113" y="1599812"/>
            <a:ext cx="0" cy="210800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D72782-442A-C5EC-80B0-7F99F18286F7}"/>
                  </a:ext>
                </a:extLst>
              </p:cNvPr>
              <p:cNvSpPr txBox="1"/>
              <p:nvPr/>
            </p:nvSpPr>
            <p:spPr>
              <a:xfrm>
                <a:off x="4157218" y="1494919"/>
                <a:ext cx="463588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C8D72782-442A-C5EC-80B0-7F99F1828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218" y="1494919"/>
                <a:ext cx="463588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97E582B-1C03-B030-4CF6-748F57AFE73D}"/>
                  </a:ext>
                </a:extLst>
              </p:cNvPr>
              <p:cNvSpPr txBox="1"/>
              <p:nvPr/>
            </p:nvSpPr>
            <p:spPr>
              <a:xfrm>
                <a:off x="6884913" y="1504444"/>
                <a:ext cx="46358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E97E582B-1C03-B030-4CF6-748F57AFE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913" y="1504444"/>
                <a:ext cx="463588" cy="19389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F003759-08B2-42DD-7AB9-98C1C1297E4F}"/>
                  </a:ext>
                </a:extLst>
              </p:cNvPr>
              <p:cNvSpPr txBox="1"/>
              <p:nvPr/>
            </p:nvSpPr>
            <p:spPr>
              <a:xfrm>
                <a:off x="58810" y="3829853"/>
                <a:ext cx="1147980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highlighted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values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columns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140,180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=2⋅2⋅5=20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EF003759-08B2-42DD-7AB9-98C1C1297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829853"/>
                <a:ext cx="11479809" cy="830997"/>
              </a:xfrm>
              <a:prstGeom prst="rect">
                <a:avLst/>
              </a:prstGeom>
              <a:blipFill>
                <a:blip r:embed="rId7"/>
                <a:stretch>
                  <a:fillRect l="-850" t="-8029" b="-10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ED30568F-3F34-1A49-546A-4D6E6DD3E6B3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1976302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90CB2-988E-BD2D-ACC3-F6DBF6631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64AF841-C471-E5CC-41F9-12D0E35B669E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14675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column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school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method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A64AF841-C471-E5CC-41F9-12D0E35B6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1467563" cy="461665"/>
              </a:xfrm>
              <a:prstGeom prst="rect">
                <a:avLst/>
              </a:prstGeom>
              <a:blipFill>
                <a:blip r:embed="rId2"/>
                <a:stretch>
                  <a:fillRect l="-851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BCF1533-B1DC-DCE0-747A-E8F4DBDB0ED4}"/>
                  </a:ext>
                </a:extLst>
              </p:cNvPr>
              <p:cNvSpPr txBox="1"/>
              <p:nvPr/>
            </p:nvSpPr>
            <p:spPr>
              <a:xfrm>
                <a:off x="3363986" y="1499652"/>
                <a:ext cx="86511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140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3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7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0BCF1533-B1DC-DCE0-747A-E8F4DBDB0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986" y="1499652"/>
                <a:ext cx="865113" cy="1938992"/>
              </a:xfrm>
              <a:prstGeom prst="rect">
                <a:avLst/>
              </a:prstGeom>
              <a:blipFill>
                <a:blip r:embed="rId3"/>
                <a:stretch>
                  <a:fillRect r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13A6A84-F06C-163B-C621-241B56F8A8A7}"/>
                  </a:ext>
                </a:extLst>
              </p:cNvPr>
              <p:cNvSpPr txBox="1"/>
              <p:nvPr/>
            </p:nvSpPr>
            <p:spPr>
              <a:xfrm>
                <a:off x="6096000" y="1499652"/>
                <a:ext cx="86511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180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90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4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F13A6A84-F06C-163B-C621-241B56F8A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499652"/>
                <a:ext cx="865113" cy="2308324"/>
              </a:xfrm>
              <a:prstGeom prst="rect">
                <a:avLst/>
              </a:prstGeom>
              <a:blipFill>
                <a:blip r:embed="rId4"/>
                <a:stretch>
                  <a:fillRect r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ACEACB87-283A-5FFD-F34E-E2DC9DA82612}"/>
              </a:ext>
            </a:extLst>
          </p:cNvPr>
          <p:cNvCxnSpPr>
            <a:cxnSpLocks/>
          </p:cNvCxnSpPr>
          <p:nvPr/>
        </p:nvCxnSpPr>
        <p:spPr>
          <a:xfrm>
            <a:off x="4229099" y="1599813"/>
            <a:ext cx="0" cy="17244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0C082ED2-D7BE-76C1-837D-463FB52702FD}"/>
              </a:ext>
            </a:extLst>
          </p:cNvPr>
          <p:cNvCxnSpPr/>
          <p:nvPr/>
        </p:nvCxnSpPr>
        <p:spPr>
          <a:xfrm>
            <a:off x="6961113" y="1599812"/>
            <a:ext cx="0" cy="210800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18CC638-C369-F36E-E220-B6C894C0E8E0}"/>
                  </a:ext>
                </a:extLst>
              </p:cNvPr>
              <p:cNvSpPr txBox="1"/>
              <p:nvPr/>
            </p:nvSpPr>
            <p:spPr>
              <a:xfrm>
                <a:off x="4157218" y="1494919"/>
                <a:ext cx="463588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pl-PL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7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718CC638-C369-F36E-E220-B6C894C0E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218" y="1494919"/>
                <a:ext cx="463588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BBDC592-D479-A421-9006-154275C1F499}"/>
                  </a:ext>
                </a:extLst>
              </p:cNvPr>
              <p:cNvSpPr txBox="1"/>
              <p:nvPr/>
            </p:nvSpPr>
            <p:spPr>
              <a:xfrm>
                <a:off x="6884913" y="1504444"/>
                <a:ext cx="46358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</m:t>
                      </m:r>
                    </m:oMath>
                  </m:oMathPara>
                </a14:m>
                <a:endParaRPr lang="pl-PL" sz="2400" b="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</m:t>
                      </m:r>
                    </m:oMath>
                  </m:oMathPara>
                </a14:m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5</m:t>
                      </m:r>
                    </m:oMath>
                  </m:oMathPara>
                </a14:m>
                <a:endParaRPr lang="en-US" sz="2400" dirty="0">
                  <a:solidFill>
                    <a:schemeClr val="accent2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BBBDC592-D479-A421-9006-154275C1F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913" y="1504444"/>
                <a:ext cx="463588" cy="193899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877B40C-9901-589E-FE5C-71F3779E4FCE}"/>
                  </a:ext>
                </a:extLst>
              </p:cNvPr>
              <p:cNvSpPr txBox="1"/>
              <p:nvPr/>
            </p:nvSpPr>
            <p:spPr>
              <a:xfrm>
                <a:off x="58810" y="3829853"/>
                <a:ext cx="1147980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equal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to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product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highlighted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values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in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both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columns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gcd</m:t>
                          </m:r>
                        </m:fName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140,180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=2⋅2⋅5=20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5877B40C-9901-589E-FE5C-71F3779E4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3829853"/>
                <a:ext cx="11479809" cy="830997"/>
              </a:xfrm>
              <a:prstGeom prst="rect">
                <a:avLst/>
              </a:prstGeom>
              <a:blipFill>
                <a:blip r:embed="rId7"/>
                <a:stretch>
                  <a:fillRect l="-850" t="-8029" b="-10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D4D0882-B47B-EEE0-B321-92D75B02D0BD}"/>
                  </a:ext>
                </a:extLst>
              </p:cNvPr>
              <p:cNvSpPr txBox="1"/>
              <p:nvPr/>
            </p:nvSpPr>
            <p:spPr>
              <a:xfrm>
                <a:off x="58809" y="4682727"/>
                <a:ext cx="1134977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equal to the product of one of the numbers and the unmarked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values from the other column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lcm</m:t>
                          </m:r>
                        </m:fName>
                        <m:e>
                          <m:d>
                            <m:dPr>
                              <m:ctrlP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dPr>
                            <m:e>
                              <m:r>
                                <a:rPr lang="pl-PL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140,180</m:t>
                              </m:r>
                            </m:e>
                          </m:d>
                        </m:e>
                      </m:func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=180⋅7=140⋅3⋅3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2D4D0882-B47B-EEE0-B321-92D75B02D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9" y="4682727"/>
                <a:ext cx="11349774" cy="1200329"/>
              </a:xfrm>
              <a:prstGeom prst="rect">
                <a:avLst/>
              </a:prstGeom>
              <a:blipFill>
                <a:blip r:embed="rId8"/>
                <a:stretch>
                  <a:fillRect l="-860" t="-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6819186B-A954-EAE4-B266-87AABDA07421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</p:spTree>
    <p:extLst>
      <p:ext uri="{BB962C8B-B14F-4D97-AF65-F5344CB8AC3E}">
        <p14:creationId xmlns:p14="http://schemas.microsoft.com/office/powerpoint/2010/main" val="36105032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4A240-9888-7683-DA9E-236F7170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3CFEFB34-E68F-26D7-DEC3-23C7C58C9350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1D94384-BD46-699F-2EC0-74E2827798CE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Euclidean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algorithm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91D94384-BD46-699F-2EC0-74E282779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blipFill>
                <a:blip r:embed="rId2"/>
                <a:stretch>
                  <a:fillRect l="-907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32126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99426-3C1A-6F51-D826-82BBA4C43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778B7B6-D1FD-3626-7F64-1FEA403312AC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180=1⋅140+40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4778B7B6-D1FD-3626-7F64-1FEA40331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A8D8F761-543F-66CE-9DAA-8BC5A3CD00F8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C98F5B6-A30E-ACC5-83F1-71F486EF7307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Euclidean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algorithm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CC98F5B6-A30E-ACC5-83F1-71F486EF7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blipFill>
                <a:blip r:embed="rId4"/>
                <a:stretch>
                  <a:fillRect l="-907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39093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9155-1BAB-3A9F-9EF4-B3C8B145B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FA1657F-E838-D5B3-EE4C-1E331569B2FB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180=1⋅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AFA1657F-E838-D5B3-EE4C-1E331569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32233AF-5AD1-1299-ACCF-D2B5C29B3CFE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140=3⋅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+20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32233AF-5AD1-1299-ACCF-D2B5C29B3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65BF8FD0-1DBC-6526-AE71-98FEAA245AA2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7FC8E05-23A4-55D7-1371-C398AC13634F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Euclidean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algorithm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27FC8E05-23A4-55D7-1371-C398AC136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blipFill>
                <a:blip r:embed="rId5"/>
                <a:stretch>
                  <a:fillRect l="-907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19803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7AB93-7457-CA37-1636-EF0616EF2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B5E3892-68D7-F66F-95A2-17FF3246863F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180=1⋅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5B5E3892-68D7-F66F-95A2-17FF32468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76BBA76-44D8-7CA8-46F3-6D5214AD30B8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140=3⋅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D76BBA76-44D8-7CA8-46F3-6D5214AD3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EE2CBF9-FB34-3A14-E174-13E7D23A7405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23028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40=2⋅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EE2CBF9-FB34-3A14-E174-13E7D23A7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230281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1CA1326F-B1C1-42A0-7C75-34D83EBF6B81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6BC9050-401D-3999-CFBA-D06ED3E39320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Euclidean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algorithm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6BC9050-401D-3999-CFBA-D06ED3E39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blipFill>
                <a:blip r:embed="rId6"/>
                <a:stretch>
                  <a:fillRect l="-907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8999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A9FC-EDC7-A9B5-2EC2-BC4A4519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172D426-74BA-1B04-FAB4-455B6FD48C18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180=1⋅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2172D426-74BA-1B04-FAB4-455B6FD48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21D2741-F003-8146-199D-6752EE28A8D6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140=3⋅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021D2741-F003-8146-199D-6752EE28A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A3A2BAB-DF99-45C9-68EF-CC58E54662A3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23028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40=2⋅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A3A2BAB-DF99-45C9-68EF-CC58E5466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230281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4ACB416-7C78-7C81-889D-BD4E4E1AA30E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8419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last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nonzero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value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plus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sign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14ACB416-7C78-7C81-889D-BD4E4E1AA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8419484" cy="461665"/>
              </a:xfrm>
              <a:prstGeom prst="rect">
                <a:avLst/>
              </a:prstGeom>
              <a:blipFill>
                <a:blip r:embed="rId5"/>
                <a:stretch>
                  <a:fillRect l="-1159" t="-14667" r="-21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CF413D30-D738-1EE7-5928-C1EDAD686EEB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F69685C-14AA-4550-0DB0-15F53269D219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Euclidean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algorithm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AF69685C-14AA-4550-0DB0-15F53269D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blipFill>
                <a:blip r:embed="rId6"/>
                <a:stretch>
                  <a:fillRect l="-907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5370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9A9A-6820-0A39-490A-5DDF3081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ED58055-B9AF-75E9-9A79-91E28A64D010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180=1⋅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FED58055-B9AF-75E9-9A79-91E28A64D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9A14302-E724-B771-31E8-76DDA7DCB7A2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140=3⋅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B9A14302-E724-B771-31E8-76DDA7DCB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0B0564E-330E-76D6-E692-D8FB4F87C021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23028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40=2⋅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C0B0564E-330E-76D6-E692-D8FB4F87C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230281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663DCC4-A78B-9FD6-6E09-AAFC981FA2FB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8419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last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nonzero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value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plus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sign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C663DCC4-A78B-9FD6-6E09-AAFC981FA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8419484" cy="461665"/>
              </a:xfrm>
              <a:prstGeom prst="rect">
                <a:avLst/>
              </a:prstGeom>
              <a:blipFill>
                <a:blip r:embed="rId5"/>
                <a:stretch>
                  <a:fillRect l="-1159" t="-14667" r="-21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BCCBD2A-822C-4955-A51D-5C729A2ACEBD}"/>
                  </a:ext>
                </a:extLst>
              </p:cNvPr>
              <p:cNvSpPr txBox="1"/>
              <p:nvPr/>
            </p:nvSpPr>
            <p:spPr>
              <a:xfrm>
                <a:off x="58811" y="3093602"/>
                <a:ext cx="84068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lcm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BCCBD2A-822C-4955-A51D-5C729A2AC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093602"/>
                <a:ext cx="8406853" cy="461665"/>
              </a:xfrm>
              <a:prstGeom prst="rect">
                <a:avLst/>
              </a:prstGeom>
              <a:blipFill>
                <a:blip r:embed="rId6"/>
                <a:stretch>
                  <a:fillRect l="-1160" t="-14474" r="-14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09EEEEF7-6490-DA6B-79F6-1D0FE41AA8CB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3F8C5BD-DDB1-3FC9-B157-46323A1B2936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Euclidean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algorithm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3F8C5BD-DDB1-3FC9-B157-46323A1B2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blipFill>
                <a:blip r:embed="rId7"/>
                <a:stretch>
                  <a:fillRect l="-907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59423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4102-5598-DCE8-9972-7986886D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0F9A36B-37E5-7C46-A8D0-2AFFC91284B4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180=1⋅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0F9A36B-37E5-7C46-A8D0-2AFFC9128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F5980E0-0518-A1D8-E54C-8CA08B507452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140=3⋅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3F5980E0-0518-A1D8-E54C-8CA08B507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24720EF-2F21-24A5-F42A-130650AE1314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23028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40=2⋅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924720EF-2F21-24A5-F42A-130650AE1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230281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CC84D35-2848-61A1-42EA-64432B3FA220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8419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last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nonzero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value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plus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sign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6CC84D35-2848-61A1-42EA-64432B3FA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8419484" cy="461665"/>
              </a:xfrm>
              <a:prstGeom prst="rect">
                <a:avLst/>
              </a:prstGeom>
              <a:blipFill>
                <a:blip r:embed="rId5"/>
                <a:stretch>
                  <a:fillRect l="-1159" t="-14667" r="-21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E5FE690E-9B71-37FD-B648-3BD5212E21CE}"/>
              </a:ext>
            </a:extLst>
          </p:cNvPr>
          <p:cNvSpPr txBox="1"/>
          <p:nvPr/>
        </p:nvSpPr>
        <p:spPr>
          <a:xfrm>
            <a:off x="58811" y="3555267"/>
            <a:ext cx="112968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number of steps (lines) in the Euclidean algorithm does not exceed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five times the number of digits of the smaller number.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72AF9E73-8965-8ED1-4DB2-D352C802CE1F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CAA9E14-383C-72A0-E1D9-5C650BB84290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Euclidean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algorithm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DCAA9E14-383C-72A0-E1D9-5C650BB84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blipFill>
                <a:blip r:embed="rId7"/>
                <a:stretch>
                  <a:fillRect l="-907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B6CDFC8-9992-9AD6-2606-7DCD88D9FA52}"/>
                  </a:ext>
                </a:extLst>
              </p:cNvPr>
              <p:cNvSpPr txBox="1"/>
              <p:nvPr/>
            </p:nvSpPr>
            <p:spPr>
              <a:xfrm>
                <a:off x="58811" y="3093602"/>
                <a:ext cx="84068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lcm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DB6CDFC8-9992-9AD6-2606-7DCD88D9F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093602"/>
                <a:ext cx="8406853" cy="461665"/>
              </a:xfrm>
              <a:prstGeom prst="rect">
                <a:avLst/>
              </a:prstGeom>
              <a:blipFill>
                <a:blip r:embed="rId8"/>
                <a:stretch>
                  <a:fillRect l="-1160" t="-14474" r="-14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6845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79E1A-2FA2-5375-8F7C-763BDAE01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74CAA29-B233-0F2B-6919-34DCD61C2D9F}"/>
                  </a:ext>
                </a:extLst>
              </p:cNvPr>
              <p:cNvSpPr txBox="1"/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180=1⋅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974CAA29-B233-0F2B-6919-34DCD61C2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1246942"/>
                <a:ext cx="281256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A1FB990-E6E9-CFC3-5C7A-261CEB2BC553}"/>
                  </a:ext>
                </a:extLst>
              </p:cNvPr>
              <p:cNvSpPr txBox="1"/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140=3⋅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pole tekstowe 3">
                <a:extLst>
                  <a:ext uri="{FF2B5EF4-FFF2-40B4-BE49-F238E27FC236}">
                    <a16:creationId xmlns:a16="http://schemas.microsoft.com/office/drawing/2014/main" id="{1A1FB990-E6E9-CFC3-5C7A-261CEB2BC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1708607"/>
                <a:ext cx="264264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1A28535-3FC8-BAF5-1905-D5F3C36D25A3}"/>
                  </a:ext>
                </a:extLst>
              </p:cNvPr>
              <p:cNvSpPr txBox="1"/>
              <p:nvPr/>
            </p:nvSpPr>
            <p:spPr>
              <a:xfrm>
                <a:off x="58810" y="2170272"/>
                <a:ext cx="23028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40=2⋅</m:t>
                      </m:r>
                      <m:r>
                        <a:rPr lang="pl-PL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20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31A28535-3FC8-BAF5-1905-D5F3C36D2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0" y="2170272"/>
                <a:ext cx="230281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2103288-5A3D-86E1-9E42-8D915F3DDABB}"/>
                  </a:ext>
                </a:extLst>
              </p:cNvPr>
              <p:cNvSpPr txBox="1"/>
              <p:nvPr/>
            </p:nvSpPr>
            <p:spPr>
              <a:xfrm>
                <a:off x="58811" y="2631937"/>
                <a:ext cx="8419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last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nonzero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value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(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after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plus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sign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72103288-5A3D-86E1-9E42-8D915F3DD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2631937"/>
                <a:ext cx="8419484" cy="461665"/>
              </a:xfrm>
              <a:prstGeom prst="rect">
                <a:avLst/>
              </a:prstGeom>
              <a:blipFill>
                <a:blip r:embed="rId5"/>
                <a:stretch>
                  <a:fillRect l="-1159" t="-14667" r="-21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DB8ECE2-3365-09CB-6CAF-26EE20D2278B}"/>
                  </a:ext>
                </a:extLst>
              </p:cNvPr>
              <p:cNvSpPr txBox="1"/>
              <p:nvPr/>
            </p:nvSpPr>
            <p:spPr>
              <a:xfrm>
                <a:off x="58811" y="3555267"/>
                <a:ext cx="11296875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The number of steps (lines) in the Euclidean algorithm does not exceed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five times the number of digits of the smaller number.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In our case, that would be at most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steps.</a:t>
                </a: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8DB8ECE2-3365-09CB-6CAF-26EE20D22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555267"/>
                <a:ext cx="11296875" cy="1569660"/>
              </a:xfrm>
              <a:prstGeom prst="rect">
                <a:avLst/>
              </a:prstGeom>
              <a:blipFill>
                <a:blip r:embed="rId7"/>
                <a:stretch>
                  <a:fillRect l="-863" t="-3101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6F089145-EA42-74DB-A97D-FBF239E35DCA}"/>
              </a:ext>
            </a:extLst>
          </p:cNvPr>
          <p:cNvSpPr txBox="1"/>
          <p:nvPr/>
        </p:nvSpPr>
        <p:spPr>
          <a:xfrm>
            <a:off x="4229752" y="-45720"/>
            <a:ext cx="37324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GCD &amp;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5B13E9C-D3F5-169E-F188-F3D537C77AC4}"/>
                  </a:ext>
                </a:extLst>
              </p:cNvPr>
              <p:cNvSpPr txBox="1"/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Let’s </a:t>
                </a:r>
                <a:r>
                  <a:rPr lang="pl-PL" sz="2400" b="0" dirty="0" err="1">
                    <a:solidFill>
                      <a:schemeClr val="bg1"/>
                    </a:solidFill>
                    <a:ea typeface="Verdana" panose="020B0604030504040204" pitchFamily="34" charset="0"/>
                  </a:rPr>
                  <a:t>find</a:t>
                </a:r>
                <a:r>
                  <a:rPr lang="pl-PL" sz="24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gcd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d>
                          <m:dPr>
                            <m:ctrlP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pl-PL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140,180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Euclidean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algorithm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: 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pole tekstowe 1">
                <a:extLst>
                  <a:ext uri="{FF2B5EF4-FFF2-40B4-BE49-F238E27FC236}">
                    <a16:creationId xmlns:a16="http://schemas.microsoft.com/office/drawing/2014/main" id="{75B13E9C-D3F5-169E-F188-F3D537C77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785277"/>
                <a:ext cx="10757432" cy="461665"/>
              </a:xfrm>
              <a:prstGeom prst="rect">
                <a:avLst/>
              </a:prstGeom>
              <a:blipFill>
                <a:blip r:embed="rId8"/>
                <a:stretch>
                  <a:fillRect l="-907" t="-1447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0303475-3E1C-8A08-E5FC-EA497F617002}"/>
                  </a:ext>
                </a:extLst>
              </p:cNvPr>
              <p:cNvSpPr txBox="1"/>
              <p:nvPr/>
            </p:nvSpPr>
            <p:spPr>
              <a:xfrm>
                <a:off x="58811" y="3093602"/>
                <a:ext cx="84068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l-PL" sz="240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lcm</m:t>
                        </m:r>
                      </m:fName>
                      <m:e>
                        <m:r>
                          <a:rPr lang="pl-PL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computed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using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the </a:t>
                </a:r>
                <a:r>
                  <a:rPr lang="pl-PL" sz="2400" dirty="0" err="1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formula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𝑎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𝑏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gcd</m:t>
                    </m:r>
                    <m:r>
                      <a:rPr lang="pl-PL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⋅</m:t>
                    </m:r>
                    <m:r>
                      <m:rPr>
                        <m:sty m:val="p"/>
                      </m:rPr>
                      <a:rPr lang="pl-PL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lcm</m:t>
                    </m:r>
                  </m:oMath>
                </a14:m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pole tekstowe 4">
                <a:extLst>
                  <a:ext uri="{FF2B5EF4-FFF2-40B4-BE49-F238E27FC236}">
                    <a16:creationId xmlns:a16="http://schemas.microsoft.com/office/drawing/2014/main" id="{90303475-3E1C-8A08-E5FC-EA497F61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1" y="3093602"/>
                <a:ext cx="8406853" cy="461665"/>
              </a:xfrm>
              <a:prstGeom prst="rect">
                <a:avLst/>
              </a:prstGeom>
              <a:blipFill>
                <a:blip r:embed="rId9"/>
                <a:stretch>
                  <a:fillRect l="-1160" t="-14474" r="-14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2515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2595</TotalTime>
  <Words>2056</Words>
  <Application>Microsoft Office PowerPoint</Application>
  <PresentationFormat>Panoramiczny</PresentationFormat>
  <Paragraphs>228</Paragraphs>
  <Slides>43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208</cp:revision>
  <dcterms:created xsi:type="dcterms:W3CDTF">2024-10-31T12:17:59Z</dcterms:created>
  <dcterms:modified xsi:type="dcterms:W3CDTF">2025-07-24T13:51:12Z</dcterms:modified>
</cp:coreProperties>
</file>
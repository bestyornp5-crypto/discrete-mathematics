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81" r:id="rId4"/>
    <p:sldId id="259" r:id="rId5"/>
    <p:sldId id="261" r:id="rId6"/>
    <p:sldId id="282" r:id="rId7"/>
    <p:sldId id="266" r:id="rId8"/>
    <p:sldId id="286" r:id="rId9"/>
    <p:sldId id="285" r:id="rId10"/>
    <p:sldId id="284" r:id="rId11"/>
    <p:sldId id="283" r:id="rId12"/>
    <p:sldId id="270" r:id="rId13"/>
    <p:sldId id="289" r:id="rId14"/>
    <p:sldId id="288" r:id="rId15"/>
    <p:sldId id="287" r:id="rId16"/>
    <p:sldId id="292" r:id="rId17"/>
    <p:sldId id="291" r:id="rId18"/>
    <p:sldId id="290" r:id="rId19"/>
    <p:sldId id="296" r:id="rId20"/>
    <p:sldId id="295" r:id="rId21"/>
    <p:sldId id="294" r:id="rId22"/>
    <p:sldId id="293" r:id="rId23"/>
    <p:sldId id="280" r:id="rId24"/>
    <p:sldId id="297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91602DF-15F3-32C0-5653-6D90AB1FB8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989E2829-A2EB-A0B8-9D24-B702184B24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48BDF41A-F7A2-BC2E-41EC-BB4821CE8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584AB8C7-AD18-5607-F1B2-8C40A0CE2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7AF1726-35D9-FD5E-5C12-D217A859C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718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528637A-34C6-73B1-391C-FF265FB65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11E504D-F2E5-1598-E291-0738C78706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3749D38-8C0B-C097-46D0-0B80C3ED4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7E1D191A-3653-E3CF-09AD-E14DC5222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49DA5198-1AB5-BA47-BD10-464CB1527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553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7AB6CA9-6017-1BB4-C7A5-9E8523E75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076CBD0B-AE8F-8891-DA0C-27BA7738F6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CE7F4C8-FD06-2810-02ED-4A606545C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D9636688-92FB-4B59-9DA5-D7EF92DE8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43E7F61-CF74-3049-D3B4-B75466931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134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8C480C9-E84B-31BA-3980-33100EF0F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5B5349B-CF62-7098-7C92-4C537CFAD5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3368CF0A-45A4-041B-3F03-CF280BEB7F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B8CEAE56-9768-897B-4215-ED7EB3FD6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26101A25-A12F-9B64-49FE-EE333FAC6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5970E7B1-61BB-1B22-0FCD-E4C4A9289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51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35799AF-B88F-5806-0DD6-D95151602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4ED73DD2-A3A5-E727-BF42-F7DA13E017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741E614B-A3D4-8008-D9A2-F229ED0498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4C57D030-0197-E7ED-08C3-C33D60BAD3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F43D19C5-F422-DCA8-4038-4D7A5767FC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0F17B82E-5F19-3938-C62A-E5C4235B4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AD6BC148-9BC6-0443-5DA9-7A67BA6DA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AFB79212-7699-A36F-F17C-79ED8E8E9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132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783CE33-DEA2-89D3-97FA-1FB927E18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10E8A875-A5B1-BC3F-0927-71FF2D22E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45A0324E-86AE-37E2-FD9A-0705E8DE7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28D90914-47D5-E88E-EA6A-D48E389D7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696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49CA187A-07CE-977E-139F-9D0FFEA42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A7FA9A22-68D2-122F-DA41-4C27A55FA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3ECF5902-CEAB-CAC9-F009-A530528C5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888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D1F03C0-2B50-8E6B-FAA2-6734A9AB1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5214E5B-208E-4AF8-FA54-A95393109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E99585DA-6E3D-4DBC-95DA-6A7F787F09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7881BF01-5019-5D49-451C-45FF56351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D62FC2D1-0493-9FF9-0533-864BE4973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F708C30A-182D-16AF-4A5B-CE5A9A60B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921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8FB8336-170D-0819-3530-9E6A4AE2B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57F1CA56-81DC-24E7-1B55-34A8A0745F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945419A6-ED03-F31E-5FE1-B711EDF5E6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2A04958D-4DDA-B584-F89A-CADEB31A9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62D245F7-8EE8-30B8-A74D-DE3382BE8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71238774-2E6A-07D0-0C00-FA78B387B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333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39443D6-928A-11E8-1FAA-A0B4D4590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2AB6E564-68E6-5EA4-8EB0-CC7DE03746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B3D87FEC-D3B9-0DF8-846D-96439A920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F8BE2A5-C9D3-B18C-9AF8-51D69A0C0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5A9DEFC-3B85-3032-7B02-04D9EBD8E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900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9412E531-2E63-09A6-C9BE-3F5788E9AD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A065717D-9B83-1C7E-9B01-F8D039B135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E597EC6-3583-B563-9781-B1581A6E1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1A926738-9B75-8892-939C-92723952F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769B65D-3E3D-99AC-B2FF-3044441BC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578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CF8B978D-FA44-7AF9-70F1-C017155AC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F6081B83-5207-C25E-2F28-A86BBB0C1D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909C408E-2C7B-7DC2-4B53-7779A2F68C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70A4B1-F21E-453D-88CF-09F3B6FB3837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36747BD-7C08-B3AC-62C1-6B51B0F5C5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B6C2DEE-2D49-2863-B539-E61103EB46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222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5CD48B60-268F-04B7-89D9-C418592E9087}"/>
              </a:ext>
            </a:extLst>
          </p:cNvPr>
          <p:cNvSpPr txBox="1"/>
          <p:nvPr/>
        </p:nvSpPr>
        <p:spPr>
          <a:xfrm>
            <a:off x="3641450" y="0"/>
            <a:ext cx="4909101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Rule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product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5289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AABE0-07B0-AC66-62EE-2751FE1B8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5308772C-474E-165F-C1E6-3841AFF1069E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11564063" cy="23083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By the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rule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product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also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multiplication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principle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 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call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theorem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stating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process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consists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steps, and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there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are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𝑎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options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choices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 for the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first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step,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𝑎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options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for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second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step,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…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𝑎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options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for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-th step,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total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possible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outcomes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⋅…⋅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5308772C-474E-165F-C1E6-3841AFF106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11564063" cy="2308324"/>
              </a:xfrm>
              <a:prstGeom prst="rect">
                <a:avLst/>
              </a:prstGeom>
              <a:blipFill>
                <a:blip r:embed="rId2"/>
                <a:stretch>
                  <a:fillRect l="-843" t="-21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pole tekstowe 4">
            <a:extLst>
              <a:ext uri="{FF2B5EF4-FFF2-40B4-BE49-F238E27FC236}">
                <a16:creationId xmlns:a16="http://schemas.microsoft.com/office/drawing/2014/main" id="{CD1AB46D-15E5-0C37-DD2D-C603878C7702}"/>
              </a:ext>
            </a:extLst>
          </p:cNvPr>
          <p:cNvSpPr txBox="1"/>
          <p:nvPr/>
        </p:nvSpPr>
        <p:spPr>
          <a:xfrm>
            <a:off x="3641450" y="0"/>
            <a:ext cx="4909101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Rule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product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57865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1B986-7A08-6608-AAAD-C9A147126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4BC0ACF2-8039-E028-BBE0-CC85782D22A9}"/>
                  </a:ext>
                </a:extLst>
              </p:cNvPr>
              <p:cNvSpPr txBox="1"/>
              <p:nvPr/>
            </p:nvSpPr>
            <p:spPr>
              <a:xfrm>
                <a:off x="176470" y="785277"/>
                <a:ext cx="11564063" cy="23083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By the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rule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product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also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multiplication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principle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 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call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theorem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stating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process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consists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steps, and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there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are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𝑎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options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choices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 for the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first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step,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𝑎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options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for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second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step,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…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𝑎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options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for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-th step,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total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possible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outcomes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⋅…⋅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𝑎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4BC0ACF2-8039-E028-BBE0-CC85782D22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785277"/>
                <a:ext cx="11564063" cy="2308324"/>
              </a:xfrm>
              <a:prstGeom prst="rect">
                <a:avLst/>
              </a:prstGeom>
              <a:blipFill>
                <a:blip r:embed="rId2"/>
                <a:stretch>
                  <a:fillRect l="-843" t="-21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90BB8697-7514-7A4D-07FF-A3894A789EB9}"/>
                  </a:ext>
                </a:extLst>
              </p:cNvPr>
              <p:cNvSpPr txBox="1"/>
              <p:nvPr/>
            </p:nvSpPr>
            <p:spPr>
              <a:xfrm>
                <a:off x="176469" y="3093601"/>
                <a:ext cx="11983922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rgbClr val="FF0000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Note</a:t>
                </a:r>
                <a:r>
                  <a:rPr lang="pl-PL" sz="2400" dirty="0">
                    <a:solidFill>
                      <a:srgbClr val="FF0000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rule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product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it is important that the number of options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available at each step does not depend on the choices made in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previous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steps. That is: the number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𝑎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must remain constant regardless of which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of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𝑎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options is chosen, and so on.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90BB8697-7514-7A4D-07FF-A3894A789E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9" y="3093601"/>
                <a:ext cx="11983922" cy="1569660"/>
              </a:xfrm>
              <a:prstGeom prst="rect">
                <a:avLst/>
              </a:prstGeom>
              <a:blipFill>
                <a:blip r:embed="rId3"/>
                <a:stretch>
                  <a:fillRect l="-814" t="-3101" b="-7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pole tekstowe 4">
            <a:extLst>
              <a:ext uri="{FF2B5EF4-FFF2-40B4-BE49-F238E27FC236}">
                <a16:creationId xmlns:a16="http://schemas.microsoft.com/office/drawing/2014/main" id="{B5F27356-B9F4-4B6A-2D43-16E50CE0DDBF}"/>
              </a:ext>
            </a:extLst>
          </p:cNvPr>
          <p:cNvSpPr txBox="1"/>
          <p:nvPr/>
        </p:nvSpPr>
        <p:spPr>
          <a:xfrm>
            <a:off x="3641450" y="0"/>
            <a:ext cx="4909101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Rule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product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62930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8904A-99B5-A661-7A0D-D49CE0C41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ole tekstowe 4">
            <a:extLst>
              <a:ext uri="{FF2B5EF4-FFF2-40B4-BE49-F238E27FC236}">
                <a16:creationId xmlns:a16="http://schemas.microsoft.com/office/drawing/2014/main" id="{850AF405-5D44-18CB-840B-1C304D3D28EA}"/>
              </a:ext>
            </a:extLst>
          </p:cNvPr>
          <p:cNvSpPr txBox="1"/>
          <p:nvPr/>
        </p:nvSpPr>
        <p:spPr>
          <a:xfrm>
            <a:off x="267908" y="830997"/>
            <a:ext cx="1949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1: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CE5FED2E-657E-2621-9C51-50E448A255A3}"/>
              </a:ext>
            </a:extLst>
          </p:cNvPr>
          <p:cNvSpPr txBox="1"/>
          <p:nvPr/>
        </p:nvSpPr>
        <p:spPr>
          <a:xfrm>
            <a:off x="3641450" y="0"/>
            <a:ext cx="4909101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Rule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product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1566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11A7B-6142-B599-B2F8-7CA53B7D1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ole tekstowe 4">
            <a:extLst>
              <a:ext uri="{FF2B5EF4-FFF2-40B4-BE49-F238E27FC236}">
                <a16:creationId xmlns:a16="http://schemas.microsoft.com/office/drawing/2014/main" id="{475EAADD-88E0-E740-27EF-D236ACCC640F}"/>
              </a:ext>
            </a:extLst>
          </p:cNvPr>
          <p:cNvSpPr txBox="1"/>
          <p:nvPr/>
        </p:nvSpPr>
        <p:spPr>
          <a:xfrm>
            <a:off x="267908" y="830997"/>
            <a:ext cx="1949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1: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1738482D-82E8-6BDC-FA58-29904705E80D}"/>
              </a:ext>
            </a:extLst>
          </p:cNvPr>
          <p:cNvSpPr txBox="1"/>
          <p:nvPr/>
        </p:nvSpPr>
        <p:spPr>
          <a:xfrm>
            <a:off x="267908" y="1292662"/>
            <a:ext cx="1196532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man getting ready to leave his house can choose from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five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pairs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pants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eight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shirts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and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three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pairs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shoes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 In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how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many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different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ways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can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he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get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dressed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for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going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out?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A65F9D46-BB4A-39AF-4478-8F392ABA6FB5}"/>
              </a:ext>
            </a:extLst>
          </p:cNvPr>
          <p:cNvSpPr txBox="1"/>
          <p:nvPr/>
        </p:nvSpPr>
        <p:spPr>
          <a:xfrm>
            <a:off x="3641450" y="0"/>
            <a:ext cx="4909101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Rule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product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3984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E834E-B3AB-5E9D-0651-CD2EAB918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ole tekstowe 4">
            <a:extLst>
              <a:ext uri="{FF2B5EF4-FFF2-40B4-BE49-F238E27FC236}">
                <a16:creationId xmlns:a16="http://schemas.microsoft.com/office/drawing/2014/main" id="{1AAE8690-2DB3-FF42-62E8-7239174F8FF0}"/>
              </a:ext>
            </a:extLst>
          </p:cNvPr>
          <p:cNvSpPr txBox="1"/>
          <p:nvPr/>
        </p:nvSpPr>
        <p:spPr>
          <a:xfrm>
            <a:off x="267908" y="830997"/>
            <a:ext cx="1949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1: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DBF292CF-5E99-49F6-0F8B-4085C1620AE6}"/>
              </a:ext>
            </a:extLst>
          </p:cNvPr>
          <p:cNvSpPr txBox="1"/>
          <p:nvPr/>
        </p:nvSpPr>
        <p:spPr>
          <a:xfrm>
            <a:off x="267908" y="1292662"/>
            <a:ext cx="1196532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man getting ready to leave his house can choose from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five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pairs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pants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eight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shirts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and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three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pairs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shoes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 In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how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many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different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ways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can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he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get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dressed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for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going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out?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84757A49-4DB9-5766-2EF3-8204C4546961}"/>
                  </a:ext>
                </a:extLst>
              </p:cNvPr>
              <p:cNvSpPr txBox="1"/>
              <p:nvPr/>
            </p:nvSpPr>
            <p:spPr>
              <a:xfrm>
                <a:off x="3405786" y="2492991"/>
                <a:ext cx="471154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l-PL" sz="2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Number</m:t>
                      </m:r>
                      <m:r>
                        <a:rPr lang="pl-PL" sz="2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pl-PL" sz="2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of</m:t>
                      </m:r>
                      <m:r>
                        <a:rPr lang="pl-PL" sz="2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pl-PL" sz="2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ways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=5⋅8⋅3=120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84757A49-4DB9-5766-2EF3-8204C45469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5786" y="2492991"/>
                <a:ext cx="4711546" cy="461665"/>
              </a:xfrm>
              <a:prstGeom prst="rect">
                <a:avLst/>
              </a:prstGeom>
              <a:blipFill>
                <a:blip r:embed="rId2"/>
                <a:stretch>
                  <a:fillRect b="-11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ole tekstowe 5">
            <a:extLst>
              <a:ext uri="{FF2B5EF4-FFF2-40B4-BE49-F238E27FC236}">
                <a16:creationId xmlns:a16="http://schemas.microsoft.com/office/drawing/2014/main" id="{D2DB7C68-FDFA-7CD0-F53C-C5FD6C6F5991}"/>
              </a:ext>
            </a:extLst>
          </p:cNvPr>
          <p:cNvSpPr txBox="1"/>
          <p:nvPr/>
        </p:nvSpPr>
        <p:spPr>
          <a:xfrm>
            <a:off x="3641450" y="0"/>
            <a:ext cx="4909101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Rule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product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6062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BCA9E-5019-BFE2-2FD0-26A10E740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ole tekstowe 4">
            <a:extLst>
              <a:ext uri="{FF2B5EF4-FFF2-40B4-BE49-F238E27FC236}">
                <a16:creationId xmlns:a16="http://schemas.microsoft.com/office/drawing/2014/main" id="{079169F6-6A2A-2008-7CA0-485D0A03B384}"/>
              </a:ext>
            </a:extLst>
          </p:cNvPr>
          <p:cNvSpPr txBox="1"/>
          <p:nvPr/>
        </p:nvSpPr>
        <p:spPr>
          <a:xfrm>
            <a:off x="267908" y="830997"/>
            <a:ext cx="1949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2: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B4A411B6-2635-8F47-4FAB-DD5CBCF3758B}"/>
              </a:ext>
            </a:extLst>
          </p:cNvPr>
          <p:cNvSpPr txBox="1"/>
          <p:nvPr/>
        </p:nvSpPr>
        <p:spPr>
          <a:xfrm>
            <a:off x="267908" y="1292662"/>
            <a:ext cx="1119588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Until the 1960s, the USA and Canada used a telephone number format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known as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2L-5N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which stood for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„2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Letters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5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”.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This meant that a typical phone number began with two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capital letters followed by five digits.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9BBED961-9F65-48F1-997F-C4BFC6132CE4}"/>
              </a:ext>
            </a:extLst>
          </p:cNvPr>
          <p:cNvSpPr txBox="1"/>
          <p:nvPr/>
        </p:nvSpPr>
        <p:spPr>
          <a:xfrm>
            <a:off x="3641450" y="0"/>
            <a:ext cx="4909101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Rule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product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24386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E0282-9592-6F21-364B-535D0099F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ole tekstowe 4">
            <a:extLst>
              <a:ext uri="{FF2B5EF4-FFF2-40B4-BE49-F238E27FC236}">
                <a16:creationId xmlns:a16="http://schemas.microsoft.com/office/drawing/2014/main" id="{1EB7A0CF-4E5D-164B-78DC-E7BBBD2D191D}"/>
              </a:ext>
            </a:extLst>
          </p:cNvPr>
          <p:cNvSpPr txBox="1"/>
          <p:nvPr/>
        </p:nvSpPr>
        <p:spPr>
          <a:xfrm>
            <a:off x="267908" y="830997"/>
            <a:ext cx="1949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2: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2A624D1C-2AC1-57DD-F3FA-9D0A4F159924}"/>
              </a:ext>
            </a:extLst>
          </p:cNvPr>
          <p:cNvSpPr txBox="1"/>
          <p:nvPr/>
        </p:nvSpPr>
        <p:spPr>
          <a:xfrm>
            <a:off x="267908" y="1292662"/>
            <a:ext cx="1119588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Until the 1960s, the USA and Canada used a telephone number format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known as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2L-5N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which stood for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„2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Letters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5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”.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This meant that a typical phone number began with two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capital letters followed by five digits.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C0B044D3-A601-474E-CE4C-6A3E794E108F}"/>
              </a:ext>
            </a:extLst>
          </p:cNvPr>
          <p:cNvSpPr txBox="1"/>
          <p:nvPr/>
        </p:nvSpPr>
        <p:spPr>
          <a:xfrm>
            <a:off x="267908" y="2862322"/>
            <a:ext cx="1165434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An example of such a number was: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PL-12345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which meant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dialing 12345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through the telephone exchange center </a:t>
            </a:r>
            <a:r>
              <a:rPr lang="en-US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PLaza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So, the first two letters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usually referred to the name of the local telephone exchange.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EFDA726B-8CB8-0AFD-4DCF-0A600C39EB54}"/>
              </a:ext>
            </a:extLst>
          </p:cNvPr>
          <p:cNvSpPr txBox="1"/>
          <p:nvPr/>
        </p:nvSpPr>
        <p:spPr>
          <a:xfrm>
            <a:off x="3641450" y="0"/>
            <a:ext cx="4909101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Rule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product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49310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A0CF1-BDA5-731D-22EF-EB5F4589D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ole tekstowe 4">
            <a:extLst>
              <a:ext uri="{FF2B5EF4-FFF2-40B4-BE49-F238E27FC236}">
                <a16:creationId xmlns:a16="http://schemas.microsoft.com/office/drawing/2014/main" id="{C225A8C9-448E-FB68-C34A-B5460EF28887}"/>
              </a:ext>
            </a:extLst>
          </p:cNvPr>
          <p:cNvSpPr txBox="1"/>
          <p:nvPr/>
        </p:nvSpPr>
        <p:spPr>
          <a:xfrm>
            <a:off x="267908" y="830997"/>
            <a:ext cx="1949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2: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B363DAD8-DB7E-F133-2DB7-C8AC5F47A847}"/>
              </a:ext>
            </a:extLst>
          </p:cNvPr>
          <p:cNvSpPr txBox="1"/>
          <p:nvPr/>
        </p:nvSpPr>
        <p:spPr>
          <a:xfrm>
            <a:off x="267908" y="1292662"/>
            <a:ext cx="1119588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Until the 1960s, the USA and Canada used a telephone number format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known as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2L-5N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which stood for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„2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Letters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5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”.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This meant that a typical phone number began with two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capital letters followed by five digits.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03E813A3-D642-9268-002E-5BF67E022E9A}"/>
              </a:ext>
            </a:extLst>
          </p:cNvPr>
          <p:cNvSpPr txBox="1"/>
          <p:nvPr/>
        </p:nvSpPr>
        <p:spPr>
          <a:xfrm>
            <a:off x="267908" y="2862322"/>
            <a:ext cx="1165434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An example of such a number was: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PL-12345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which meant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dialing 12345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through the telephone exchange center </a:t>
            </a:r>
            <a:r>
              <a:rPr lang="en-US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PLaza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So, the first two letters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usually referred to the name of the local telephone exchange.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26F590C5-8562-56E1-85F1-F1A986E52974}"/>
              </a:ext>
            </a:extLst>
          </p:cNvPr>
          <p:cNvSpPr txBox="1"/>
          <p:nvPr/>
        </p:nvSpPr>
        <p:spPr>
          <a:xfrm>
            <a:off x="267908" y="4062651"/>
            <a:ext cx="1070184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Question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How many different subscribers could there have been at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most during that time?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0781F4A0-7D69-6E14-8B3D-D7A8DCECE6B4}"/>
              </a:ext>
            </a:extLst>
          </p:cNvPr>
          <p:cNvSpPr txBox="1"/>
          <p:nvPr/>
        </p:nvSpPr>
        <p:spPr>
          <a:xfrm>
            <a:off x="3641450" y="0"/>
            <a:ext cx="4909101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Rule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product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81560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AD163-5DD3-89B3-1276-CDF632D63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ole tekstowe 4">
            <a:extLst>
              <a:ext uri="{FF2B5EF4-FFF2-40B4-BE49-F238E27FC236}">
                <a16:creationId xmlns:a16="http://schemas.microsoft.com/office/drawing/2014/main" id="{28C62E71-3261-E71F-08DE-9E977592A3CA}"/>
              </a:ext>
            </a:extLst>
          </p:cNvPr>
          <p:cNvSpPr txBox="1"/>
          <p:nvPr/>
        </p:nvSpPr>
        <p:spPr>
          <a:xfrm>
            <a:off x="267908" y="830997"/>
            <a:ext cx="1949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2: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754BE63C-4F0E-712D-E5BC-C1E3CA6413C5}"/>
              </a:ext>
            </a:extLst>
          </p:cNvPr>
          <p:cNvSpPr txBox="1"/>
          <p:nvPr/>
        </p:nvSpPr>
        <p:spPr>
          <a:xfrm>
            <a:off x="267908" y="1292662"/>
            <a:ext cx="1119588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Until the 1960s, the USA and Canada used a telephone number format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known as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2L-5N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which stood for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„2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Letters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5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”.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This meant that a typical phone number began with two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capital letters followed by five digits.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620BA62C-6D1A-2721-0848-1CFE6BFDEE59}"/>
              </a:ext>
            </a:extLst>
          </p:cNvPr>
          <p:cNvSpPr txBox="1"/>
          <p:nvPr/>
        </p:nvSpPr>
        <p:spPr>
          <a:xfrm>
            <a:off x="267908" y="2862322"/>
            <a:ext cx="1165434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An example of such a number was: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PL-12345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which meant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dialing 12345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through the telephone exchange center </a:t>
            </a:r>
            <a:r>
              <a:rPr lang="en-US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PLaza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So, the first two letters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usually referred to the name of the local telephone exchange.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C640B587-F2D3-A174-F491-A751039F93D8}"/>
              </a:ext>
            </a:extLst>
          </p:cNvPr>
          <p:cNvSpPr txBox="1"/>
          <p:nvPr/>
        </p:nvSpPr>
        <p:spPr>
          <a:xfrm>
            <a:off x="267908" y="4062651"/>
            <a:ext cx="1070184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Question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How many different subscribers could there have been at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most during that time?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3B5C87C0-AA0D-9C92-21E7-8B2C9A0151C0}"/>
                  </a:ext>
                </a:extLst>
              </p:cNvPr>
              <p:cNvSpPr txBox="1"/>
              <p:nvPr/>
            </p:nvSpPr>
            <p:spPr>
              <a:xfrm>
                <a:off x="267906" y="4826674"/>
                <a:ext cx="11275715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Solution: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first letter could be any of the 26 letters of the English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alphabet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A-Z.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Regardless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first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second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letter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could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also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be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any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26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letters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Each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the five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digits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could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any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digits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0−9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3B5C87C0-AA0D-9C92-21E7-8B2C9A0151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906" y="4826674"/>
                <a:ext cx="11275715" cy="1200329"/>
              </a:xfrm>
              <a:prstGeom prst="rect">
                <a:avLst/>
              </a:prstGeom>
              <a:blipFill>
                <a:blip r:embed="rId2"/>
                <a:stretch>
                  <a:fillRect l="-865" t="-4061" b="-10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ole tekstowe 7">
            <a:extLst>
              <a:ext uri="{FF2B5EF4-FFF2-40B4-BE49-F238E27FC236}">
                <a16:creationId xmlns:a16="http://schemas.microsoft.com/office/drawing/2014/main" id="{76402930-15C9-63C5-FA4D-2ABA48EBD84D}"/>
              </a:ext>
            </a:extLst>
          </p:cNvPr>
          <p:cNvSpPr txBox="1"/>
          <p:nvPr/>
        </p:nvSpPr>
        <p:spPr>
          <a:xfrm>
            <a:off x="3641450" y="0"/>
            <a:ext cx="4909101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Rule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product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73918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8E42F-1892-319B-C6E8-9012C1244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ole tekstowe 4">
            <a:extLst>
              <a:ext uri="{FF2B5EF4-FFF2-40B4-BE49-F238E27FC236}">
                <a16:creationId xmlns:a16="http://schemas.microsoft.com/office/drawing/2014/main" id="{F6F63FC4-7202-0104-17D4-1E39E3E43BD2}"/>
              </a:ext>
            </a:extLst>
          </p:cNvPr>
          <p:cNvSpPr txBox="1"/>
          <p:nvPr/>
        </p:nvSpPr>
        <p:spPr>
          <a:xfrm>
            <a:off x="267908" y="830997"/>
            <a:ext cx="1949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2: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97C570C7-F451-157E-2F77-3FB637D49B98}"/>
              </a:ext>
            </a:extLst>
          </p:cNvPr>
          <p:cNvSpPr txBox="1"/>
          <p:nvPr/>
        </p:nvSpPr>
        <p:spPr>
          <a:xfrm>
            <a:off x="267908" y="1292662"/>
            <a:ext cx="1119588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Until the 1960s, the USA and Canada used a telephone number format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known as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2L-5N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which stood for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„2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Letters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5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”.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This meant that a typical phone number began with two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capital letters followed by five digits.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CA61741B-3F5B-DEFC-01D3-19C6FE02F4A3}"/>
              </a:ext>
            </a:extLst>
          </p:cNvPr>
          <p:cNvSpPr txBox="1"/>
          <p:nvPr/>
        </p:nvSpPr>
        <p:spPr>
          <a:xfrm>
            <a:off x="267908" y="2862322"/>
            <a:ext cx="1165434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An example of such a number was: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PL-12345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which meant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dialing 12345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through the telephone exchange center </a:t>
            </a:r>
            <a:r>
              <a:rPr lang="en-US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PLaza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So, the first two letters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usually referred to the name of the local telephone exchange.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94B2F4B6-76EC-4B48-C627-9CC5ED27E86B}"/>
              </a:ext>
            </a:extLst>
          </p:cNvPr>
          <p:cNvSpPr txBox="1"/>
          <p:nvPr/>
        </p:nvSpPr>
        <p:spPr>
          <a:xfrm>
            <a:off x="267908" y="4062651"/>
            <a:ext cx="1070184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Question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How many different subscribers could there have been at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most during that time?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AA338CF3-17A8-5784-6A9C-42012DCF14AD}"/>
                  </a:ext>
                </a:extLst>
              </p:cNvPr>
              <p:cNvSpPr txBox="1"/>
              <p:nvPr/>
            </p:nvSpPr>
            <p:spPr>
              <a:xfrm>
                <a:off x="267906" y="4826674"/>
                <a:ext cx="11275715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Solution: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first letter could be any of the 26 letters of the English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alphabet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A-Z.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Regardless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first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second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letter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could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also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be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any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26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letters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Each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the five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digits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could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any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digits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0−9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AA338CF3-17A8-5784-6A9C-42012DCF14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906" y="4826674"/>
                <a:ext cx="11275715" cy="1200329"/>
              </a:xfrm>
              <a:prstGeom prst="rect">
                <a:avLst/>
              </a:prstGeom>
              <a:blipFill>
                <a:blip r:embed="rId2"/>
                <a:stretch>
                  <a:fillRect l="-865" t="-4061" b="-10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8A95EF6E-0407-CC08-FD63-B465CDCF7F1E}"/>
                  </a:ext>
                </a:extLst>
              </p:cNvPr>
              <p:cNvSpPr txBox="1"/>
              <p:nvPr/>
            </p:nvSpPr>
            <p:spPr>
              <a:xfrm>
                <a:off x="267906" y="6093976"/>
                <a:ext cx="8710590" cy="4658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total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26⋅26⋅10⋅10⋅10⋅10⋅10=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26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10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5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=67,600,000</m:t>
                    </m:r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8A95EF6E-0407-CC08-FD63-B465CDCF7F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906" y="6093976"/>
                <a:ext cx="8710590" cy="465833"/>
              </a:xfrm>
              <a:prstGeom prst="rect">
                <a:avLst/>
              </a:prstGeom>
              <a:blipFill>
                <a:blip r:embed="rId3"/>
                <a:stretch>
                  <a:fillRect l="-1120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pole tekstowe 8">
            <a:extLst>
              <a:ext uri="{FF2B5EF4-FFF2-40B4-BE49-F238E27FC236}">
                <a16:creationId xmlns:a16="http://schemas.microsoft.com/office/drawing/2014/main" id="{F3BD4A6D-C430-41FA-6603-EDEE321FCA26}"/>
              </a:ext>
            </a:extLst>
          </p:cNvPr>
          <p:cNvSpPr txBox="1"/>
          <p:nvPr/>
        </p:nvSpPr>
        <p:spPr>
          <a:xfrm>
            <a:off x="3641450" y="0"/>
            <a:ext cx="4909101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Rule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product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48456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02470E-6F3D-E0C7-BF05-4F5847399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5DA5BE3D-28BD-7244-C55E-3E8D72006412}"/>
                  </a:ext>
                </a:extLst>
              </p:cNvPr>
              <p:cNvSpPr txBox="1"/>
              <p:nvPr/>
            </p:nvSpPr>
            <p:spPr>
              <a:xfrm>
                <a:off x="267908" y="830997"/>
                <a:ext cx="9633791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rule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product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more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general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concept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underlies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permutations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including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permutations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tuples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5DA5BE3D-28BD-7244-C55E-3E8D720064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908" y="830997"/>
                <a:ext cx="9633791" cy="830997"/>
              </a:xfrm>
              <a:prstGeom prst="rect">
                <a:avLst/>
              </a:prstGeom>
              <a:blipFill>
                <a:blip r:embed="rId2"/>
                <a:stretch>
                  <a:fillRect l="-1013" t="-5839" b="-145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984C905A-94F5-5699-30BA-2F98554AA30D}"/>
              </a:ext>
            </a:extLst>
          </p:cNvPr>
          <p:cNvSpPr txBox="1"/>
          <p:nvPr/>
        </p:nvSpPr>
        <p:spPr>
          <a:xfrm>
            <a:off x="3641450" y="0"/>
            <a:ext cx="4909101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Rule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product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83280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DCFEA-3D46-004D-6CD2-919427111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EA31C105-023C-E667-D2E3-97E79EA6920A}"/>
                  </a:ext>
                </a:extLst>
              </p:cNvPr>
              <p:cNvSpPr txBox="1"/>
              <p:nvPr/>
            </p:nvSpPr>
            <p:spPr>
              <a:xfrm>
                <a:off x="267908" y="830997"/>
                <a:ext cx="9633791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rule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product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more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general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concept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underlies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permutations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including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permutations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tuples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EA31C105-023C-E667-D2E3-97E79EA692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908" y="830997"/>
                <a:ext cx="9633791" cy="830997"/>
              </a:xfrm>
              <a:prstGeom prst="rect">
                <a:avLst/>
              </a:prstGeom>
              <a:blipFill>
                <a:blip r:embed="rId2"/>
                <a:stretch>
                  <a:fillRect l="-1013" t="-5839" b="-145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6A0FA305-7314-2B68-25CB-CAC9318961E0}"/>
                  </a:ext>
                </a:extLst>
              </p:cNvPr>
              <p:cNvSpPr txBox="1"/>
              <p:nvPr/>
            </p:nvSpPr>
            <p:spPr>
              <a:xfrm>
                <a:off x="267907" y="1661994"/>
                <a:ext cx="11575798" cy="1938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rule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product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as a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permutations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At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ground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floor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building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with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7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floors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including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ground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floor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6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people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enter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elevator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each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intending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to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get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off on 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different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floor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doesn’t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matter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gets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where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). In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how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many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different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ways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people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arranged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?</a:t>
                </a: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6A0FA305-7314-2B68-25CB-CAC9318961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907" y="1661994"/>
                <a:ext cx="11575798" cy="1938992"/>
              </a:xfrm>
              <a:prstGeom prst="rect">
                <a:avLst/>
              </a:prstGeom>
              <a:blipFill>
                <a:blip r:embed="rId3"/>
                <a:stretch>
                  <a:fillRect l="-843" t="-2516" b="-62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ole tekstowe 3">
            <a:extLst>
              <a:ext uri="{FF2B5EF4-FFF2-40B4-BE49-F238E27FC236}">
                <a16:creationId xmlns:a16="http://schemas.microsoft.com/office/drawing/2014/main" id="{8142ABB9-96AC-4A6C-86E2-36D7AFD10446}"/>
              </a:ext>
            </a:extLst>
          </p:cNvPr>
          <p:cNvSpPr txBox="1"/>
          <p:nvPr/>
        </p:nvSpPr>
        <p:spPr>
          <a:xfrm>
            <a:off x="3641450" y="0"/>
            <a:ext cx="4909101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Rule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product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04329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B8230-A2DA-8939-BDA3-0373CF7EE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EDB0D98F-4BED-0A5D-0347-70BAF3A90060}"/>
                  </a:ext>
                </a:extLst>
              </p:cNvPr>
              <p:cNvSpPr txBox="1"/>
              <p:nvPr/>
            </p:nvSpPr>
            <p:spPr>
              <a:xfrm>
                <a:off x="267908" y="830997"/>
                <a:ext cx="9633791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rule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product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more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general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concept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underlies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permutations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including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permutations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tuples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EDB0D98F-4BED-0A5D-0347-70BAF3A900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908" y="830997"/>
                <a:ext cx="9633791" cy="830997"/>
              </a:xfrm>
              <a:prstGeom prst="rect">
                <a:avLst/>
              </a:prstGeom>
              <a:blipFill>
                <a:blip r:embed="rId2"/>
                <a:stretch>
                  <a:fillRect l="-1013" t="-5839" b="-145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6ECA69C7-CB60-40F3-58BC-57655E73FF73}"/>
                  </a:ext>
                </a:extLst>
              </p:cNvPr>
              <p:cNvSpPr txBox="1"/>
              <p:nvPr/>
            </p:nvSpPr>
            <p:spPr>
              <a:xfrm>
                <a:off x="267907" y="1661994"/>
                <a:ext cx="11575798" cy="1938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rule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product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as a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permutations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At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ground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floor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building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with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7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floors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including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ground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floor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6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people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enter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elevator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each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intending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to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get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off on 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different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floor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doesn’t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matter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gets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where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). In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how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many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different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ways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people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arranged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?</a:t>
                </a: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6ECA69C7-CB60-40F3-58BC-57655E73FF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907" y="1661994"/>
                <a:ext cx="11575798" cy="1938992"/>
              </a:xfrm>
              <a:prstGeom prst="rect">
                <a:avLst/>
              </a:prstGeom>
              <a:blipFill>
                <a:blip r:embed="rId3"/>
                <a:stretch>
                  <a:fillRect l="-843" t="-2516" b="-62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B8487CA2-E685-80AC-6A3F-8101845CFCB9}"/>
                  </a:ext>
                </a:extLst>
              </p:cNvPr>
              <p:cNvSpPr txBox="1"/>
              <p:nvPr/>
            </p:nvSpPr>
            <p:spPr>
              <a:xfrm>
                <a:off x="267907" y="3600986"/>
                <a:ext cx="11288860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Solution: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all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6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floors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are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used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 On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first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floor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any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the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6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people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can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get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off. On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second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floor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any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remaining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5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get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off. On the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third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floor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any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remaining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4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and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on…</a:t>
                </a: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B8487CA2-E685-80AC-6A3F-8101845CFC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907" y="3600986"/>
                <a:ext cx="11288860" cy="1200329"/>
              </a:xfrm>
              <a:prstGeom prst="rect">
                <a:avLst/>
              </a:prstGeom>
              <a:blipFill>
                <a:blip r:embed="rId4"/>
                <a:stretch>
                  <a:fillRect l="-864" t="-4569" b="-10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ole tekstowe 5">
            <a:extLst>
              <a:ext uri="{FF2B5EF4-FFF2-40B4-BE49-F238E27FC236}">
                <a16:creationId xmlns:a16="http://schemas.microsoft.com/office/drawing/2014/main" id="{2BBB33F2-A101-060F-F478-ACBBC03C2ED1}"/>
              </a:ext>
            </a:extLst>
          </p:cNvPr>
          <p:cNvSpPr txBox="1"/>
          <p:nvPr/>
        </p:nvSpPr>
        <p:spPr>
          <a:xfrm>
            <a:off x="3641450" y="0"/>
            <a:ext cx="4909101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Rule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product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66960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CF03B-C3AF-C234-D59D-EAC5E8031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A91BA187-E5EC-F497-4E51-66084FA55EDA}"/>
                  </a:ext>
                </a:extLst>
              </p:cNvPr>
              <p:cNvSpPr txBox="1"/>
              <p:nvPr/>
            </p:nvSpPr>
            <p:spPr>
              <a:xfrm>
                <a:off x="267908" y="830997"/>
                <a:ext cx="9633791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rule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product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more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general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concept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underlies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permutations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including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permutations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tuples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A91BA187-E5EC-F497-4E51-66084FA55E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908" y="830997"/>
                <a:ext cx="9633791" cy="830997"/>
              </a:xfrm>
              <a:prstGeom prst="rect">
                <a:avLst/>
              </a:prstGeom>
              <a:blipFill>
                <a:blip r:embed="rId2"/>
                <a:stretch>
                  <a:fillRect l="-1013" t="-5839" b="-145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DEF38D29-ABDE-3A42-335D-DB234E010CAA}"/>
                  </a:ext>
                </a:extLst>
              </p:cNvPr>
              <p:cNvSpPr txBox="1"/>
              <p:nvPr/>
            </p:nvSpPr>
            <p:spPr>
              <a:xfrm>
                <a:off x="267907" y="1661994"/>
                <a:ext cx="11575798" cy="1938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rule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product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as a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permutations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At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ground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floor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building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with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7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floors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including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ground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floor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6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people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enter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elevator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each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intending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to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get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off on 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different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floor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doesn’t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matter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gets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where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). In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how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many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different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ways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people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arranged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?</a:t>
                </a: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DEF38D29-ABDE-3A42-335D-DB234E010C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907" y="1661994"/>
                <a:ext cx="11575798" cy="1938992"/>
              </a:xfrm>
              <a:prstGeom prst="rect">
                <a:avLst/>
              </a:prstGeom>
              <a:blipFill>
                <a:blip r:embed="rId3"/>
                <a:stretch>
                  <a:fillRect l="-843" t="-2516" b="-62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BF1B9358-9F56-1744-EC6C-1CAE223734AC}"/>
                  </a:ext>
                </a:extLst>
              </p:cNvPr>
              <p:cNvSpPr txBox="1"/>
              <p:nvPr/>
            </p:nvSpPr>
            <p:spPr>
              <a:xfrm>
                <a:off x="267907" y="3600986"/>
                <a:ext cx="11288860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Solution: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all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6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floors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are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used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 On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first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floor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any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the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6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people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can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get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off. On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second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floor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any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remaining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5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get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off. On the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third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floor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any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remaining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4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and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on…</a:t>
                </a: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BF1B9358-9F56-1744-EC6C-1CAE223734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907" y="3600986"/>
                <a:ext cx="11288860" cy="1200329"/>
              </a:xfrm>
              <a:prstGeom prst="rect">
                <a:avLst/>
              </a:prstGeom>
              <a:blipFill>
                <a:blip r:embed="rId4"/>
                <a:stretch>
                  <a:fillRect l="-864" t="-4569" b="-10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1FAC3EA8-6BF6-B268-5FC5-5B8A42262495}"/>
                  </a:ext>
                </a:extLst>
              </p:cNvPr>
              <p:cNvSpPr txBox="1"/>
              <p:nvPr/>
            </p:nvSpPr>
            <p:spPr>
              <a:xfrm>
                <a:off x="267907" y="4797485"/>
                <a:ext cx="1117543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Total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possible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arrangements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6⋅5⋅4⋅3⋅2⋅1=6!</m:t>
                    </m:r>
                  </m:oMath>
                </a14:m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 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(</m:t>
                    </m:r>
                    <m:r>
                      <a:rPr lang="pl-PL" sz="240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7</m:t>
                    </m:r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20 </m:t>
                    </m:r>
                    <m:r>
                      <m:rPr>
                        <m:sty m:val="p"/>
                      </m:rPr>
                      <a:rPr lang="pl-PL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ways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)</m:t>
                    </m:r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1FAC3EA8-6BF6-B268-5FC5-5B8A422624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907" y="4797485"/>
                <a:ext cx="11175432" cy="461665"/>
              </a:xfrm>
              <a:prstGeom prst="rect">
                <a:avLst/>
              </a:prstGeom>
              <a:blipFill>
                <a:blip r:embed="rId5"/>
                <a:stretch>
                  <a:fillRect l="-873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36190CEC-AC09-1EB5-54FB-421AAAAC2F84}"/>
              </a:ext>
            </a:extLst>
          </p:cNvPr>
          <p:cNvSpPr txBox="1"/>
          <p:nvPr/>
        </p:nvSpPr>
        <p:spPr>
          <a:xfrm>
            <a:off x="3641450" y="0"/>
            <a:ext cx="4909101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Rule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product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42124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0A251-9026-2662-6CEE-FBCEDC4C3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22438069-A160-80C5-E6E9-4102B50695B6}"/>
                  </a:ext>
                </a:extLst>
              </p:cNvPr>
              <p:cNvSpPr txBox="1"/>
              <p:nvPr/>
            </p:nvSpPr>
            <p:spPr>
              <a:xfrm>
                <a:off x="267908" y="830997"/>
                <a:ext cx="9633791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rule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product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more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general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concept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underlies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permutations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including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permutations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tuples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22438069-A160-80C5-E6E9-4102B50695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908" y="830997"/>
                <a:ext cx="9633791" cy="830997"/>
              </a:xfrm>
              <a:prstGeom prst="rect">
                <a:avLst/>
              </a:prstGeom>
              <a:blipFill>
                <a:blip r:embed="rId2"/>
                <a:stretch>
                  <a:fillRect l="-1013" t="-5839" b="-145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11894C63-F7B4-8BEB-CFF5-96FFD7F8CB32}"/>
                  </a:ext>
                </a:extLst>
              </p:cNvPr>
              <p:cNvSpPr txBox="1"/>
              <p:nvPr/>
            </p:nvSpPr>
            <p:spPr>
              <a:xfrm>
                <a:off x="267907" y="1661994"/>
                <a:ext cx="12071446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rule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product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as a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permutations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Into the empty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elevator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a building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7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floors 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including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ground floor),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3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people enter on the ground floor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each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wanting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to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get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off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on a different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floor. In how many ways can they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distributed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in the building?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11894C63-F7B4-8BEB-CFF5-96FFD7F8CB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907" y="1661994"/>
                <a:ext cx="12071446" cy="1569660"/>
              </a:xfrm>
              <a:prstGeom prst="rect">
                <a:avLst/>
              </a:prstGeom>
              <a:blipFill>
                <a:blip r:embed="rId3"/>
                <a:stretch>
                  <a:fillRect l="-808" t="-3502" b="-81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ole tekstowe 3">
            <a:extLst>
              <a:ext uri="{FF2B5EF4-FFF2-40B4-BE49-F238E27FC236}">
                <a16:creationId xmlns:a16="http://schemas.microsoft.com/office/drawing/2014/main" id="{B85CE379-4CE9-16A5-22EC-C07DA88DCDD7}"/>
              </a:ext>
            </a:extLst>
          </p:cNvPr>
          <p:cNvSpPr txBox="1"/>
          <p:nvPr/>
        </p:nvSpPr>
        <p:spPr>
          <a:xfrm>
            <a:off x="3641450" y="0"/>
            <a:ext cx="4909101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Rule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product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05977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5CCE5-931D-6332-F223-12F7F60E6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379A3952-1F5C-73CB-064C-AC5BCC3E72B1}"/>
                  </a:ext>
                </a:extLst>
              </p:cNvPr>
              <p:cNvSpPr txBox="1"/>
              <p:nvPr/>
            </p:nvSpPr>
            <p:spPr>
              <a:xfrm>
                <a:off x="267908" y="830997"/>
                <a:ext cx="9633791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rule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product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more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general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concept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underlies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permutations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including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permutations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tuples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379A3952-1F5C-73CB-064C-AC5BCC3E72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908" y="830997"/>
                <a:ext cx="9633791" cy="830997"/>
              </a:xfrm>
              <a:prstGeom prst="rect">
                <a:avLst/>
              </a:prstGeom>
              <a:blipFill>
                <a:blip r:embed="rId2"/>
                <a:stretch>
                  <a:fillRect l="-1013" t="-5839" b="-145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229E27E3-BC1D-763A-4E1F-D44FA02CA9EB}"/>
                  </a:ext>
                </a:extLst>
              </p:cNvPr>
              <p:cNvSpPr txBox="1"/>
              <p:nvPr/>
            </p:nvSpPr>
            <p:spPr>
              <a:xfrm>
                <a:off x="267907" y="1661994"/>
                <a:ext cx="12071446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rule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product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as a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permutations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Into the empty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elevator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a building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7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floors 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including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ground floor),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3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people enter on the ground floor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each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wanting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to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get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off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on a different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floor. In how many ways can they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distributed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in the building?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229E27E3-BC1D-763A-4E1F-D44FA02CA9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907" y="1661994"/>
                <a:ext cx="12071446" cy="1569660"/>
              </a:xfrm>
              <a:prstGeom prst="rect">
                <a:avLst/>
              </a:prstGeom>
              <a:blipFill>
                <a:blip r:embed="rId3"/>
                <a:stretch>
                  <a:fillRect l="-808" t="-3502" b="-81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6135CAA0-3405-D35C-5245-39A3542D5851}"/>
              </a:ext>
            </a:extLst>
          </p:cNvPr>
          <p:cNvSpPr txBox="1"/>
          <p:nvPr/>
        </p:nvSpPr>
        <p:spPr>
          <a:xfrm>
            <a:off x="267908" y="3231654"/>
            <a:ext cx="818044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first person can go out on one of the six floors,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second on one of the remaining five floors,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third on one of the remaining four floor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s.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31AB86E2-C89E-BF63-9FDF-BFF796B32008}"/>
              </a:ext>
            </a:extLst>
          </p:cNvPr>
          <p:cNvSpPr txBox="1"/>
          <p:nvPr/>
        </p:nvSpPr>
        <p:spPr>
          <a:xfrm>
            <a:off x="3641450" y="0"/>
            <a:ext cx="4909101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Rule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product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3044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3A796-5D2F-58A8-2878-A225BBC39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58ACF3CF-76DF-43DD-DC90-48C9254C15B3}"/>
                  </a:ext>
                </a:extLst>
              </p:cNvPr>
              <p:cNvSpPr txBox="1"/>
              <p:nvPr/>
            </p:nvSpPr>
            <p:spPr>
              <a:xfrm>
                <a:off x="267908" y="830997"/>
                <a:ext cx="9829357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rule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product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more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general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concept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underlies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permutations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including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permutations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tuples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58ACF3CF-76DF-43DD-DC90-48C9254C15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908" y="830997"/>
                <a:ext cx="9829357" cy="830997"/>
              </a:xfrm>
              <a:prstGeom prst="rect">
                <a:avLst/>
              </a:prstGeom>
              <a:blipFill>
                <a:blip r:embed="rId2"/>
                <a:stretch>
                  <a:fillRect l="-993" t="-5839" b="-145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3C98FD1A-16F5-E318-BB67-5468A2FC6C01}"/>
                  </a:ext>
                </a:extLst>
              </p:cNvPr>
              <p:cNvSpPr txBox="1"/>
              <p:nvPr/>
            </p:nvSpPr>
            <p:spPr>
              <a:xfrm>
                <a:off x="267907" y="1661994"/>
                <a:ext cx="12071446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rule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product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as a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permutations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Into the empty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elevator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a building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7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floors 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including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ground floor),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3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people enter on the ground floor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each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wanting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to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get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off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on a different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floor. In how many ways can they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distributed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in the building?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3C98FD1A-16F5-E318-BB67-5468A2FC6C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907" y="1661994"/>
                <a:ext cx="12071446" cy="1569660"/>
              </a:xfrm>
              <a:prstGeom prst="rect">
                <a:avLst/>
              </a:prstGeom>
              <a:blipFill>
                <a:blip r:embed="rId3"/>
                <a:stretch>
                  <a:fillRect l="-808" t="-3502" b="-81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1D471730-E70F-3305-BB5C-4150EA9BF684}"/>
              </a:ext>
            </a:extLst>
          </p:cNvPr>
          <p:cNvSpPr txBox="1"/>
          <p:nvPr/>
        </p:nvSpPr>
        <p:spPr>
          <a:xfrm>
            <a:off x="267908" y="3231654"/>
            <a:ext cx="818044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first person can go out on one of the six floors,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second on one of the remaining five floors,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third on one of the remaining four floor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DB8BD348-0E84-6D6D-50B3-7F313F20BFED}"/>
                  </a:ext>
                </a:extLst>
              </p:cNvPr>
              <p:cNvSpPr txBox="1"/>
              <p:nvPr/>
            </p:nvSpPr>
            <p:spPr>
              <a:xfrm>
                <a:off x="267907" y="4450271"/>
                <a:ext cx="4028667" cy="6241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total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6⋅5⋅4=120=</m:t>
                    </m:r>
                    <m:f>
                      <m:fPr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6!</m:t>
                        </m:r>
                      </m:num>
                      <m:den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3!</m:t>
                        </m:r>
                      </m:den>
                    </m:f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DB8BD348-0E84-6D6D-50B3-7F313F20BF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907" y="4450271"/>
                <a:ext cx="4028667" cy="624145"/>
              </a:xfrm>
              <a:prstGeom prst="rect">
                <a:avLst/>
              </a:prstGeom>
              <a:blipFill>
                <a:blip r:embed="rId4"/>
                <a:stretch>
                  <a:fillRect l="-2421" b="-68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ole tekstowe 5">
            <a:extLst>
              <a:ext uri="{FF2B5EF4-FFF2-40B4-BE49-F238E27FC236}">
                <a16:creationId xmlns:a16="http://schemas.microsoft.com/office/drawing/2014/main" id="{67FCDDEA-5D20-6800-307C-126C5D58DEB8}"/>
              </a:ext>
            </a:extLst>
          </p:cNvPr>
          <p:cNvSpPr txBox="1"/>
          <p:nvPr/>
        </p:nvSpPr>
        <p:spPr>
          <a:xfrm>
            <a:off x="3641450" y="0"/>
            <a:ext cx="4909101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Rule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product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58964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C880E-6FA2-F871-0DA6-E469F7899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403CB897-AE6A-3101-5179-F8AF4F4E4829}"/>
                  </a:ext>
                </a:extLst>
              </p:cNvPr>
              <p:cNvSpPr txBox="1"/>
              <p:nvPr/>
            </p:nvSpPr>
            <p:spPr>
              <a:xfrm>
                <a:off x="267908" y="830997"/>
                <a:ext cx="9633791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rule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product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more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general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concept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underlies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permutations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including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permutations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tuples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403CB897-AE6A-3101-5179-F8AF4F4E48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908" y="830997"/>
                <a:ext cx="9633791" cy="830997"/>
              </a:xfrm>
              <a:prstGeom prst="rect">
                <a:avLst/>
              </a:prstGeom>
              <a:blipFill>
                <a:blip r:embed="rId2"/>
                <a:stretch>
                  <a:fillRect l="-1013" t="-5839" b="-145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6C0FFCD2-06C6-C54F-82F8-D38808A6349C}"/>
                  </a:ext>
                </a:extLst>
              </p:cNvPr>
              <p:cNvSpPr txBox="1"/>
              <p:nvPr/>
            </p:nvSpPr>
            <p:spPr>
              <a:xfrm>
                <a:off x="267907" y="1661994"/>
                <a:ext cx="12071446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rule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product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as a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tuples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Into the empty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elevator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a building of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7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floors 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including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ground floor),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5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people enter on the ground floor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know nothing about their intentions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of getting off. In how many ways can they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distributed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in the building?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6C0FFCD2-06C6-C54F-82F8-D38808A634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907" y="1661994"/>
                <a:ext cx="12071446" cy="1569660"/>
              </a:xfrm>
              <a:prstGeom prst="rect">
                <a:avLst/>
              </a:prstGeom>
              <a:blipFill>
                <a:blip r:embed="rId3"/>
                <a:stretch>
                  <a:fillRect l="-808" t="-3502" b="-81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ole tekstowe 3">
            <a:extLst>
              <a:ext uri="{FF2B5EF4-FFF2-40B4-BE49-F238E27FC236}">
                <a16:creationId xmlns:a16="http://schemas.microsoft.com/office/drawing/2014/main" id="{D301EDB9-4F84-38B3-1FEA-F8165C5018A9}"/>
              </a:ext>
            </a:extLst>
          </p:cNvPr>
          <p:cNvSpPr txBox="1"/>
          <p:nvPr/>
        </p:nvSpPr>
        <p:spPr>
          <a:xfrm>
            <a:off x="3641450" y="0"/>
            <a:ext cx="4909101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Rule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product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8981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11E13-E338-CF8E-3A38-1C9FF3738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8434D013-F764-4271-1577-C32D662C3B8A}"/>
                  </a:ext>
                </a:extLst>
              </p:cNvPr>
              <p:cNvSpPr txBox="1"/>
              <p:nvPr/>
            </p:nvSpPr>
            <p:spPr>
              <a:xfrm>
                <a:off x="267908" y="830997"/>
                <a:ext cx="9633791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rule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product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more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general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concept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underlies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permutations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including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permutations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tuples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8434D013-F764-4271-1577-C32D662C3B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908" y="830997"/>
                <a:ext cx="9633791" cy="830997"/>
              </a:xfrm>
              <a:prstGeom prst="rect">
                <a:avLst/>
              </a:prstGeom>
              <a:blipFill>
                <a:blip r:embed="rId2"/>
                <a:stretch>
                  <a:fillRect l="-1013" t="-5839" b="-145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825C4350-20B9-0837-047E-726DE7ECF2F3}"/>
                  </a:ext>
                </a:extLst>
              </p:cNvPr>
              <p:cNvSpPr txBox="1"/>
              <p:nvPr/>
            </p:nvSpPr>
            <p:spPr>
              <a:xfrm>
                <a:off x="267907" y="1661994"/>
                <a:ext cx="12071446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rule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product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as a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tuples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Into the empty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elevator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a building of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7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floors 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including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ground floor),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5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people enter on the ground floor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know nothing about their intentions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of getting off. In how many ways can they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distributed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in the building?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825C4350-20B9-0837-047E-726DE7ECF2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907" y="1661994"/>
                <a:ext cx="12071446" cy="1569660"/>
              </a:xfrm>
              <a:prstGeom prst="rect">
                <a:avLst/>
              </a:prstGeom>
              <a:blipFill>
                <a:blip r:embed="rId3"/>
                <a:stretch>
                  <a:fillRect l="-808" t="-3502" b="-81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ole tekstowe 7">
            <a:extLst>
              <a:ext uri="{FF2B5EF4-FFF2-40B4-BE49-F238E27FC236}">
                <a16:creationId xmlns:a16="http://schemas.microsoft.com/office/drawing/2014/main" id="{BC76B8D7-630D-C404-3864-E7045DA23E9A}"/>
              </a:ext>
            </a:extLst>
          </p:cNvPr>
          <p:cNvSpPr txBox="1"/>
          <p:nvPr/>
        </p:nvSpPr>
        <p:spPr>
          <a:xfrm>
            <a:off x="267906" y="3210848"/>
            <a:ext cx="894187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Solution: the first person can go to one of the six floors,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second person can go to one of the six floors, ....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A856E7B0-9045-6A2F-1042-E362D83D6A84}"/>
              </a:ext>
            </a:extLst>
          </p:cNvPr>
          <p:cNvSpPr txBox="1"/>
          <p:nvPr/>
        </p:nvSpPr>
        <p:spPr>
          <a:xfrm>
            <a:off x="3641450" y="0"/>
            <a:ext cx="4909101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Rule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product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07777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3F952-115E-BEBA-C088-D5517A6B2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6CCACD86-0D7E-5AE4-842E-DD2D64717CE7}"/>
                  </a:ext>
                </a:extLst>
              </p:cNvPr>
              <p:cNvSpPr txBox="1"/>
              <p:nvPr/>
            </p:nvSpPr>
            <p:spPr>
              <a:xfrm>
                <a:off x="267908" y="830997"/>
                <a:ext cx="9633791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rule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product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more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general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concept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underlies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permutations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including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permutations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tuples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6CCACD86-0D7E-5AE4-842E-DD2D64717C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908" y="830997"/>
                <a:ext cx="9633791" cy="830997"/>
              </a:xfrm>
              <a:prstGeom prst="rect">
                <a:avLst/>
              </a:prstGeom>
              <a:blipFill>
                <a:blip r:embed="rId2"/>
                <a:stretch>
                  <a:fillRect l="-1013" t="-5839" b="-145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B27B3454-6957-918C-E676-8F381568B523}"/>
                  </a:ext>
                </a:extLst>
              </p:cNvPr>
              <p:cNvSpPr txBox="1"/>
              <p:nvPr/>
            </p:nvSpPr>
            <p:spPr>
              <a:xfrm>
                <a:off x="267907" y="1661994"/>
                <a:ext cx="12071446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rule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product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as a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tuples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Into the empty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elevator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a building of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7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floors 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including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ground floor),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5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people enter on the ground floor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know nothing about their intentions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of getting off. In how many ways can they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distributed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in the building?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B27B3454-6957-918C-E676-8F381568B5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907" y="1661994"/>
                <a:ext cx="12071446" cy="1569660"/>
              </a:xfrm>
              <a:prstGeom prst="rect">
                <a:avLst/>
              </a:prstGeom>
              <a:blipFill>
                <a:blip r:embed="rId3"/>
                <a:stretch>
                  <a:fillRect l="-808" t="-3502" b="-81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ole tekstowe 7">
            <a:extLst>
              <a:ext uri="{FF2B5EF4-FFF2-40B4-BE49-F238E27FC236}">
                <a16:creationId xmlns:a16="http://schemas.microsoft.com/office/drawing/2014/main" id="{5B03A793-0975-40E9-5264-A39417621FB6}"/>
              </a:ext>
            </a:extLst>
          </p:cNvPr>
          <p:cNvSpPr txBox="1"/>
          <p:nvPr/>
        </p:nvSpPr>
        <p:spPr>
          <a:xfrm>
            <a:off x="267906" y="3210848"/>
            <a:ext cx="894187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Solution: the first person can go to one of the six floors,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second person can go to one of the six floors, ....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BEB3EE92-5E00-F36A-8778-F381B9F2CD47}"/>
                  </a:ext>
                </a:extLst>
              </p:cNvPr>
              <p:cNvSpPr txBox="1"/>
              <p:nvPr/>
            </p:nvSpPr>
            <p:spPr>
              <a:xfrm>
                <a:off x="267905" y="4041845"/>
                <a:ext cx="5103769" cy="4658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total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6⋅6⋅6⋅6⋅6=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6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5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=7776</m:t>
                    </m:r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BEB3EE92-5E00-F36A-8778-F381B9F2CD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905" y="4041845"/>
                <a:ext cx="5103769" cy="465833"/>
              </a:xfrm>
              <a:prstGeom prst="rect">
                <a:avLst/>
              </a:prstGeom>
              <a:blipFill>
                <a:blip r:embed="rId4"/>
                <a:stretch>
                  <a:fillRect l="-1912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ole tekstowe 5">
            <a:extLst>
              <a:ext uri="{FF2B5EF4-FFF2-40B4-BE49-F238E27FC236}">
                <a16:creationId xmlns:a16="http://schemas.microsoft.com/office/drawing/2014/main" id="{68A3B0AF-B9E7-4C98-4412-D6B60600DFE4}"/>
              </a:ext>
            </a:extLst>
          </p:cNvPr>
          <p:cNvSpPr txBox="1"/>
          <p:nvPr/>
        </p:nvSpPr>
        <p:spPr>
          <a:xfrm>
            <a:off x="3641450" y="0"/>
            <a:ext cx="4909101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Rule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product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62545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81CA4-2140-1558-5B5B-E5FDB2FC2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FD27F07C-7FF0-1390-A88D-E27D5F6327A7}"/>
                  </a:ext>
                </a:extLst>
              </p:cNvPr>
              <p:cNvSpPr txBox="1"/>
              <p:nvPr/>
            </p:nvSpPr>
            <p:spPr>
              <a:xfrm>
                <a:off x="267908" y="830997"/>
                <a:ext cx="9633791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rule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product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more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general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comcept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underlies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permutations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including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permutations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tuples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FD27F07C-7FF0-1390-A88D-E27D5F6327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908" y="830997"/>
                <a:ext cx="9633791" cy="830997"/>
              </a:xfrm>
              <a:prstGeom prst="rect">
                <a:avLst/>
              </a:prstGeom>
              <a:blipFill>
                <a:blip r:embed="rId2"/>
                <a:stretch>
                  <a:fillRect l="-1013" t="-5839" r="-190" b="-145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A896D04A-9F40-E042-2750-9E3D630CD983}"/>
                  </a:ext>
                </a:extLst>
              </p:cNvPr>
              <p:cNvSpPr txBox="1"/>
              <p:nvPr/>
            </p:nvSpPr>
            <p:spPr>
              <a:xfrm>
                <a:off x="267907" y="1661994"/>
                <a:ext cx="12071446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rule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product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as a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tuples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Into the empty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elevator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a building of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7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floors 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including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ground floor),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5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people enter on the ground floor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know nothing about their intentions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of getting off. In how many ways can they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distributed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in the building?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A896D04A-9F40-E042-2750-9E3D630CD9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907" y="1661994"/>
                <a:ext cx="12071446" cy="1569660"/>
              </a:xfrm>
              <a:prstGeom prst="rect">
                <a:avLst/>
              </a:prstGeom>
              <a:blipFill>
                <a:blip r:embed="rId3"/>
                <a:stretch>
                  <a:fillRect l="-808" t="-3502" b="-81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ole tekstowe 7">
            <a:extLst>
              <a:ext uri="{FF2B5EF4-FFF2-40B4-BE49-F238E27FC236}">
                <a16:creationId xmlns:a16="http://schemas.microsoft.com/office/drawing/2014/main" id="{906E3C7F-590A-479C-CC31-14983333B9CE}"/>
              </a:ext>
            </a:extLst>
          </p:cNvPr>
          <p:cNvSpPr txBox="1"/>
          <p:nvPr/>
        </p:nvSpPr>
        <p:spPr>
          <a:xfrm>
            <a:off x="267906" y="3210848"/>
            <a:ext cx="894187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Solution: the first person can go to one of the six floors,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second person can go to one of the six floors, ....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138BA11F-0B48-4508-CD45-2BA886899DC5}"/>
                  </a:ext>
                </a:extLst>
              </p:cNvPr>
              <p:cNvSpPr txBox="1"/>
              <p:nvPr/>
            </p:nvSpPr>
            <p:spPr>
              <a:xfrm>
                <a:off x="267905" y="4041845"/>
                <a:ext cx="5103769" cy="4658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total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6⋅6⋅6⋅6⋅6=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6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5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=7776</m:t>
                    </m:r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138BA11F-0B48-4508-CD45-2BA886899D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905" y="4041845"/>
                <a:ext cx="5103769" cy="465833"/>
              </a:xfrm>
              <a:prstGeom prst="rect">
                <a:avLst/>
              </a:prstGeom>
              <a:blipFill>
                <a:blip r:embed="rId4"/>
                <a:stretch>
                  <a:fillRect l="-1912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ole tekstowe 5">
            <a:extLst>
              <a:ext uri="{FF2B5EF4-FFF2-40B4-BE49-F238E27FC236}">
                <a16:creationId xmlns:a16="http://schemas.microsoft.com/office/drawing/2014/main" id="{EF3A9CB4-5DCE-0379-FA80-EDFD579B4568}"/>
              </a:ext>
            </a:extLst>
          </p:cNvPr>
          <p:cNvSpPr txBox="1"/>
          <p:nvPr/>
        </p:nvSpPr>
        <p:spPr>
          <a:xfrm>
            <a:off x="267905" y="4503510"/>
            <a:ext cx="1030352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That is, as many as there are five-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tuples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(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with repetitions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the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six-element set (=five-letter words consisting each solely of the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letters </a:t>
            </a:r>
            <a:r>
              <a:rPr lang="en-US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abcdef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).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792DF60E-7227-EBE3-0FF6-8CB11CE05398}"/>
              </a:ext>
            </a:extLst>
          </p:cNvPr>
          <p:cNvSpPr txBox="1"/>
          <p:nvPr/>
        </p:nvSpPr>
        <p:spPr>
          <a:xfrm>
            <a:off x="3641450" y="0"/>
            <a:ext cx="4909101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Rule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product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69480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E2A5A-8C03-24A1-C435-974E2718C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4EEC63EB-1FC7-17A0-55A4-371D2A7CA451}"/>
                  </a:ext>
                </a:extLst>
              </p:cNvPr>
              <p:cNvSpPr txBox="1"/>
              <p:nvPr/>
            </p:nvSpPr>
            <p:spPr>
              <a:xfrm>
                <a:off x="267908" y="830997"/>
                <a:ext cx="11878252" cy="23083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So the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rule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product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says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first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bag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set)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contains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𝑛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objects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second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bag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contains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𝑛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objects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…, and the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-th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bag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contains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𝑛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𝑘</m:t>
                        </m:r>
                      </m:sub>
                    </m:sSub>
                  </m:oMath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objects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randomly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select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one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object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from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each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bag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total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different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possible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outcomes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(i.e.,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final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states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after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all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selections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⋅…⋅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4EEC63EB-1FC7-17A0-55A4-371D2A7CA4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908" y="830997"/>
                <a:ext cx="11878252" cy="2308324"/>
              </a:xfrm>
              <a:prstGeom prst="rect">
                <a:avLst/>
              </a:prstGeom>
              <a:blipFill>
                <a:blip r:embed="rId2"/>
                <a:stretch>
                  <a:fillRect l="-821" t="-2375" b="-2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ole tekstowe 3">
            <a:extLst>
              <a:ext uri="{FF2B5EF4-FFF2-40B4-BE49-F238E27FC236}">
                <a16:creationId xmlns:a16="http://schemas.microsoft.com/office/drawing/2014/main" id="{09BCCE6B-0992-BBA7-0070-21AABEB0DA90}"/>
              </a:ext>
            </a:extLst>
          </p:cNvPr>
          <p:cNvSpPr txBox="1"/>
          <p:nvPr/>
        </p:nvSpPr>
        <p:spPr>
          <a:xfrm>
            <a:off x="3641450" y="0"/>
            <a:ext cx="4909101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Rule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product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7163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AF83D-90A4-CFE9-949E-DCD611D36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BF167F11-F020-CE19-015A-9B1461AD07E2}"/>
                  </a:ext>
                </a:extLst>
              </p:cNvPr>
              <p:cNvSpPr txBox="1"/>
              <p:nvPr/>
            </p:nvSpPr>
            <p:spPr>
              <a:xfrm>
                <a:off x="267908" y="830997"/>
                <a:ext cx="11878252" cy="23083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So the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rule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product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says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first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bag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set)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contains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𝑛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objects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second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bag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contains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𝑛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objects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…, and the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-th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bag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contains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𝑛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𝑘</m:t>
                        </m:r>
                      </m:sub>
                    </m:sSub>
                  </m:oMath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objects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randomly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select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one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object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from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each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bag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total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different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possible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outcomes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(i.e.,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final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states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after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all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selections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⋅…⋅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BF167F11-F020-CE19-015A-9B1461AD07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908" y="830997"/>
                <a:ext cx="11878252" cy="2308324"/>
              </a:xfrm>
              <a:prstGeom prst="rect">
                <a:avLst/>
              </a:prstGeom>
              <a:blipFill>
                <a:blip r:embed="rId2"/>
                <a:stretch>
                  <a:fillRect l="-821" t="-2375" b="-2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pole tekstowe 2">
            <a:extLst>
              <a:ext uri="{FF2B5EF4-FFF2-40B4-BE49-F238E27FC236}">
                <a16:creationId xmlns:a16="http://schemas.microsoft.com/office/drawing/2014/main" id="{F8AF48A8-AC71-FB67-6C2E-40975936D90F}"/>
              </a:ext>
            </a:extLst>
          </p:cNvPr>
          <p:cNvSpPr txBox="1"/>
          <p:nvPr/>
        </p:nvSpPr>
        <p:spPr>
          <a:xfrm>
            <a:off x="267908" y="3139321"/>
            <a:ext cx="10574241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rule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product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closely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related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to 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logical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connector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"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and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"</a:t>
            </a:r>
          </a:p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 read that a man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has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choices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one of five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pairs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pants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and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one of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eight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shirts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and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one of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three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pairs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shoes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Each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occurence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word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and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corresponds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to a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multiplication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operation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8F0EF175-BE33-A0BE-D117-0B18AC269DA3}"/>
              </a:ext>
            </a:extLst>
          </p:cNvPr>
          <p:cNvSpPr txBox="1"/>
          <p:nvPr/>
        </p:nvSpPr>
        <p:spPr>
          <a:xfrm>
            <a:off x="3641450" y="0"/>
            <a:ext cx="4909101" cy="83099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Rule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product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6865844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2093</TotalTime>
  <Words>2407</Words>
  <Application>Microsoft Office PowerPoint</Application>
  <PresentationFormat>Panoramiczny</PresentationFormat>
  <Paragraphs>92</Paragraphs>
  <Slides>24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5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24</vt:i4>
      </vt:variant>
    </vt:vector>
  </HeadingPairs>
  <TitlesOfParts>
    <vt:vector size="30" baseType="lpstr">
      <vt:lpstr>Arial</vt:lpstr>
      <vt:lpstr>Calibri</vt:lpstr>
      <vt:lpstr>Calibri Light</vt:lpstr>
      <vt:lpstr>Cambria Math</vt:lpstr>
      <vt:lpstr>Verdana</vt:lpstr>
      <vt:lpstr>Motyw pakietu Office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Karol Kurek</dc:creator>
  <cp:lastModifiedBy>Karol Kurek</cp:lastModifiedBy>
  <cp:revision>59</cp:revision>
  <dcterms:created xsi:type="dcterms:W3CDTF">2024-10-31T12:17:59Z</dcterms:created>
  <dcterms:modified xsi:type="dcterms:W3CDTF">2025-04-17T12:00:13Z</dcterms:modified>
</cp:coreProperties>
</file>
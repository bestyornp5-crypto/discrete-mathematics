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304" r:id="rId4"/>
    <p:sldId id="303" r:id="rId5"/>
    <p:sldId id="302" r:id="rId6"/>
    <p:sldId id="269" r:id="rId7"/>
    <p:sldId id="311" r:id="rId8"/>
    <p:sldId id="310" r:id="rId9"/>
    <p:sldId id="309" r:id="rId10"/>
    <p:sldId id="308" r:id="rId11"/>
    <p:sldId id="307" r:id="rId12"/>
    <p:sldId id="306" r:id="rId13"/>
    <p:sldId id="305" r:id="rId14"/>
    <p:sldId id="279" r:id="rId15"/>
    <p:sldId id="318" r:id="rId16"/>
    <p:sldId id="317" r:id="rId17"/>
    <p:sldId id="316" r:id="rId18"/>
    <p:sldId id="315" r:id="rId19"/>
    <p:sldId id="314" r:id="rId20"/>
    <p:sldId id="313" r:id="rId21"/>
    <p:sldId id="312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7" r:id="rId38"/>
    <p:sldId id="298" r:id="rId39"/>
    <p:sldId id="299" r:id="rId40"/>
    <p:sldId id="300" r:id="rId41"/>
    <p:sldId id="30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375E7-006E-71E5-D6B4-D47E510F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038049B-53D5-DBA2-027A-E7264AED4B4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9827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 numbers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natural numbers greater than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exactly two divisors: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themselves.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038049B-53D5-DBA2-027A-E7264AED4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9827434" cy="830997"/>
              </a:xfrm>
              <a:prstGeom prst="rect">
                <a:avLst/>
              </a:prstGeom>
              <a:blipFill>
                <a:blip r:embed="rId2"/>
                <a:stretch>
                  <a:fillRect l="-993" t="-6618" r="-124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903F310A-03EF-9E89-A900-B429123078DD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14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D78F0-1428-9F7A-07B9-75E2951AB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F0AAC91-E00A-4A06-D0D4-A1BFCCFA4FC7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9827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 numbers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natural numbers greater than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exactly two divisors: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themselves.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F0AAC91-E00A-4A06-D0D4-A1BFCCFA4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9827434" cy="830997"/>
              </a:xfrm>
              <a:prstGeom prst="rect">
                <a:avLst/>
              </a:prstGeom>
              <a:blipFill>
                <a:blip r:embed="rId2"/>
                <a:stretch>
                  <a:fillRect l="-993" t="-6618" r="-124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C916379-6B90-59A0-8480-CA69B8D4FD4D}"/>
                  </a:ext>
                </a:extLst>
              </p:cNvPr>
              <p:cNvSpPr txBox="1"/>
              <p:nvPr/>
            </p:nvSpPr>
            <p:spPr>
              <a:xfrm>
                <a:off x="58810" y="1616274"/>
                <a:ext cx="76226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2, 3, 5, 7, 11, 13, 17, 19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C916379-6B90-59A0-8480-CA69B8D4F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616274"/>
                <a:ext cx="7622600" cy="461665"/>
              </a:xfrm>
              <a:prstGeom prst="rect">
                <a:avLst/>
              </a:prstGeom>
              <a:blipFill>
                <a:blip r:embed="rId3"/>
                <a:stretch>
                  <a:fillRect l="-128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58B2AA38-C17C-BC06-E199-10EE1D9EE5C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15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4F0DE-C8C5-2646-DB42-45CFC6DC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C061EEF-4E16-1888-97BB-152E1C8017DE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9827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 numbers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natural numbers greater than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exactly two divisors: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themselves.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C061EEF-4E16-1888-97BB-152E1C801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9827434" cy="830997"/>
              </a:xfrm>
              <a:prstGeom prst="rect">
                <a:avLst/>
              </a:prstGeom>
              <a:blipFill>
                <a:blip r:embed="rId2"/>
                <a:stretch>
                  <a:fillRect l="-993" t="-6618" r="-124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102D256-3209-EA08-5E20-70245C66A977}"/>
                  </a:ext>
                </a:extLst>
              </p:cNvPr>
              <p:cNvSpPr txBox="1"/>
              <p:nvPr/>
            </p:nvSpPr>
            <p:spPr>
              <a:xfrm>
                <a:off x="58810" y="1616274"/>
                <a:ext cx="76226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2, 3, 5, 7, 11, 13, 17, 19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102D256-3209-EA08-5E20-70245C66A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616274"/>
                <a:ext cx="7622600" cy="461665"/>
              </a:xfrm>
              <a:prstGeom prst="rect">
                <a:avLst/>
              </a:prstGeom>
              <a:blipFill>
                <a:blip r:embed="rId3"/>
                <a:stretch>
                  <a:fillRect l="-128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2FDD19D-89C1-F182-EBD2-FF4BBCF9B2BC}"/>
                  </a:ext>
                </a:extLst>
              </p:cNvPr>
              <p:cNvSpPr txBox="1"/>
              <p:nvPr/>
            </p:nvSpPr>
            <p:spPr>
              <a:xfrm>
                <a:off x="58811" y="2077939"/>
                <a:ext cx="1057443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Composite numbers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natural numbers greater 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62FDD19D-89C1-F182-EBD2-FF4BBCF9B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077939"/>
                <a:ext cx="10574433" cy="830997"/>
              </a:xfrm>
              <a:prstGeom prst="rect">
                <a:avLst/>
              </a:prstGeom>
              <a:blipFill>
                <a:blip r:embed="rId4"/>
                <a:stretch>
                  <a:fillRect l="-923" t="-6618" r="-5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1B2E9890-7E70-BBFA-5EC0-9C7FDB5AFA8D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43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2EC49-D914-73C7-73BA-FFB29E17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A9E34E6-C8AE-B720-20B2-7183D642AE2C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98274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 numbers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natural numbers greater than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exactly two divisors: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themselves.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A9E34E6-C8AE-B720-20B2-7183D642A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9827434" cy="830997"/>
              </a:xfrm>
              <a:prstGeom prst="rect">
                <a:avLst/>
              </a:prstGeom>
              <a:blipFill>
                <a:blip r:embed="rId2"/>
                <a:stretch>
                  <a:fillRect l="-993" t="-6618" r="-124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564B358-F3DF-B8B3-175F-E6278BE4C6DF}"/>
                  </a:ext>
                </a:extLst>
              </p:cNvPr>
              <p:cNvSpPr txBox="1"/>
              <p:nvPr/>
            </p:nvSpPr>
            <p:spPr>
              <a:xfrm>
                <a:off x="58810" y="1616274"/>
                <a:ext cx="76226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2, 3, 5, 7, 11, 13, 17, 19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564B358-F3DF-B8B3-175F-E6278BE4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616274"/>
                <a:ext cx="7622600" cy="461665"/>
              </a:xfrm>
              <a:prstGeom prst="rect">
                <a:avLst/>
              </a:prstGeom>
              <a:blipFill>
                <a:blip r:embed="rId3"/>
                <a:stretch>
                  <a:fillRect l="-128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98A9498-61E8-53F5-9FD2-C3A8AB9C7A03}"/>
                  </a:ext>
                </a:extLst>
              </p:cNvPr>
              <p:cNvSpPr txBox="1"/>
              <p:nvPr/>
            </p:nvSpPr>
            <p:spPr>
              <a:xfrm>
                <a:off x="58811" y="2077939"/>
                <a:ext cx="1057443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Composite numbers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are natural numbers greater 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have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more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two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98A9498-61E8-53F5-9FD2-C3A8AB9C7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077939"/>
                <a:ext cx="10574433" cy="830997"/>
              </a:xfrm>
              <a:prstGeom prst="rect">
                <a:avLst/>
              </a:prstGeom>
              <a:blipFill>
                <a:blip r:embed="rId4"/>
                <a:stretch>
                  <a:fillRect l="-923" t="-6618" r="-5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CBB8672-CCD5-A5B4-247C-21C2CD5E79DE}"/>
                  </a:ext>
                </a:extLst>
              </p:cNvPr>
              <p:cNvSpPr txBox="1"/>
              <p:nvPr/>
            </p:nvSpPr>
            <p:spPr>
              <a:xfrm>
                <a:off x="58810" y="2908936"/>
                <a:ext cx="82573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composite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6, 8, 9, 10, 15, 57,99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FCBB8672-CCD5-A5B4-247C-21C2CD5E7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908936"/>
                <a:ext cx="8257389" cy="461665"/>
              </a:xfrm>
              <a:prstGeom prst="rect">
                <a:avLst/>
              </a:prstGeom>
              <a:blipFill>
                <a:blip r:embed="rId5"/>
                <a:stretch>
                  <a:fillRect l="-118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3D837BDC-152B-A425-665F-FBF365AA8738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016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A9F86-244C-352A-8125-DB29AAE6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8C3B8691-E7E9-5E3A-C20B-1A1BD3EBE4CE}"/>
              </a:ext>
            </a:extLst>
          </p:cNvPr>
          <p:cNvSpPr txBox="1"/>
          <p:nvPr/>
        </p:nvSpPr>
        <p:spPr>
          <a:xfrm>
            <a:off x="58811" y="785277"/>
            <a:ext cx="827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4DE2C63-BFBF-B413-7D45-023A07144000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69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0B95-A766-E6CD-F554-7222E5D2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EA2563A6-5BE3-3B78-026B-5241345854BF}"/>
              </a:ext>
            </a:extLst>
          </p:cNvPr>
          <p:cNvSpPr txBox="1"/>
          <p:nvPr/>
        </p:nvSpPr>
        <p:spPr>
          <a:xfrm>
            <a:off x="58811" y="785277"/>
            <a:ext cx="827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ED5C905-819B-88B7-89F2-AEB7B4C4EBC7}"/>
              </a:ext>
            </a:extLst>
          </p:cNvPr>
          <p:cNvSpPr txBox="1"/>
          <p:nvPr/>
        </p:nvSpPr>
        <p:spPr>
          <a:xfrm>
            <a:off x="58811" y="1246942"/>
            <a:ext cx="11458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Assume that this is not the case (finitely many prime numbers).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9BB0BBF-E288-2F98-85BE-127BD5248382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49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8FDF-E898-C4F2-76D9-697CB3EF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4440C559-4DAF-D56D-D86F-A645F913E4FE}"/>
              </a:ext>
            </a:extLst>
          </p:cNvPr>
          <p:cNvSpPr txBox="1"/>
          <p:nvPr/>
        </p:nvSpPr>
        <p:spPr>
          <a:xfrm>
            <a:off x="58811" y="1246942"/>
            <a:ext cx="11458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Assume that this is not the case (finitely many prime numbers).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EBDA5A4-6B1E-A366-EFB1-9C1CCFECB053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then list (name) these prime numbers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=3,  …,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the largest prime number, and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index.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EBDA5A4-6B1E-A366-EFB1-9C1CCFECB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blipFill>
                <a:blip r:embed="rId2"/>
                <a:stretch>
                  <a:fillRect l="-81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070BB861-60AF-B80D-0CF4-7357736F9105}"/>
              </a:ext>
            </a:extLst>
          </p:cNvPr>
          <p:cNvSpPr txBox="1"/>
          <p:nvPr/>
        </p:nvSpPr>
        <p:spPr>
          <a:xfrm>
            <a:off x="58811" y="785277"/>
            <a:ext cx="827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5F3713E5-534D-ABB1-8E6B-5417195BFBF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86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E7306-4063-BB03-C37E-0A3E9AE0F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21284ACE-A934-B7B3-FF53-86AC55433CAE}"/>
              </a:ext>
            </a:extLst>
          </p:cNvPr>
          <p:cNvSpPr txBox="1"/>
          <p:nvPr/>
        </p:nvSpPr>
        <p:spPr>
          <a:xfrm>
            <a:off x="58811" y="1246942"/>
            <a:ext cx="11458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Assume that this is not the case (finitely many prime numbers).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199B034-1B4C-F906-8882-9FE29105C294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then list (name) these prime numbers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=3,  …,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the largest prime number, and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index.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199B034-1B4C-F906-8882-9FE29105C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blipFill>
                <a:blip r:embed="rId2"/>
                <a:stretch>
                  <a:fillRect l="-81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2FACC84-4D23-F14D-8214-BF95D822DE1A}"/>
                  </a:ext>
                </a:extLst>
              </p:cNvPr>
              <p:cNvSpPr txBox="1"/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construct a number that is the product of all these prime numbers: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=2⋅3⋅…⋅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52FACC84-4D23-F14D-8214-BF95D822D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blipFill>
                <a:blip r:embed="rId3"/>
                <a:stretch>
                  <a:fillRect l="-815" t="-5839" b="-6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72205DBF-EE34-AF1F-780E-8E7A0BDA4F0F}"/>
              </a:ext>
            </a:extLst>
          </p:cNvPr>
          <p:cNvSpPr txBox="1"/>
          <p:nvPr/>
        </p:nvSpPr>
        <p:spPr>
          <a:xfrm>
            <a:off x="58811" y="785277"/>
            <a:ext cx="827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EFA7A67-1F8A-1451-66FF-D0CBA2E0716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798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65468-A604-0219-438C-B153A5FF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40A1135E-5468-1338-438F-CEADCFE23B0E}"/>
              </a:ext>
            </a:extLst>
          </p:cNvPr>
          <p:cNvSpPr txBox="1"/>
          <p:nvPr/>
        </p:nvSpPr>
        <p:spPr>
          <a:xfrm>
            <a:off x="58811" y="1246942"/>
            <a:ext cx="11458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Assume that this is not the case (finitely many prime numbers).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59855A0-6251-251B-DBCE-FB5462D9F4EF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then list (name) these prime numbers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=3,  …,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the largest prime number, and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index.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59855A0-6251-251B-DBCE-FB5462D9F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blipFill>
                <a:blip r:embed="rId2"/>
                <a:stretch>
                  <a:fillRect l="-81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2116A9-5488-C30D-61E7-E0F8F40B6BCD}"/>
                  </a:ext>
                </a:extLst>
              </p:cNvPr>
              <p:cNvSpPr txBox="1"/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construct a number that is the product of all these prime numbers: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=2⋅3⋅…⋅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62116A9-5488-C30D-61E7-E0F8F40B6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blipFill>
                <a:blip r:embed="rId3"/>
                <a:stretch>
                  <a:fillRect l="-815" t="-5839" b="-6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6A3FF67-7E1D-3435-08A5-B962F8F378C0}"/>
                  </a:ext>
                </a:extLst>
              </p:cNvPr>
              <p:cNvSpPr txBox="1"/>
              <p:nvPr/>
            </p:nvSpPr>
            <p:spPr>
              <a:xfrm>
                <a:off x="58811" y="3739933"/>
                <a:ext cx="109286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a composite number and is divisible by all the 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6A3FF67-7E1D-3435-08A5-B962F8F37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739933"/>
                <a:ext cx="10928697" cy="830997"/>
              </a:xfrm>
              <a:prstGeom prst="rect">
                <a:avLst/>
              </a:prstGeom>
              <a:blipFill>
                <a:blip r:embed="rId4"/>
                <a:stretch>
                  <a:fillRect l="-89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FF8052E-CD7C-3CFB-9583-626E523F3CC9}"/>
              </a:ext>
            </a:extLst>
          </p:cNvPr>
          <p:cNvSpPr txBox="1"/>
          <p:nvPr/>
        </p:nvSpPr>
        <p:spPr>
          <a:xfrm>
            <a:off x="58811" y="785277"/>
            <a:ext cx="827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20DC95F-BFA0-82E3-DFA3-A83C4EE5018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39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56A9F-135A-8B8E-814C-618229CA4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2BAF15F-A94E-F1A1-8BFE-72A70D51B124}"/>
              </a:ext>
            </a:extLst>
          </p:cNvPr>
          <p:cNvSpPr txBox="1"/>
          <p:nvPr/>
        </p:nvSpPr>
        <p:spPr>
          <a:xfrm>
            <a:off x="58811" y="1246942"/>
            <a:ext cx="11458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Assume that this is not the case (finitely many prime numbers).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73FF8A9-5F52-E476-21BD-FB07C7E4F298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then list (name) these prime numbers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=3,  …,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the largest prime number, and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index.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73FF8A9-5F52-E476-21BD-FB07C7E4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blipFill>
                <a:blip r:embed="rId2"/>
                <a:stretch>
                  <a:fillRect l="-81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C1EC8F-16A7-2368-1B3C-8C55E98DE31D}"/>
                  </a:ext>
                </a:extLst>
              </p:cNvPr>
              <p:cNvSpPr txBox="1"/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construct a number that is the product of all these prime numbers: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=2⋅3⋅…⋅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84C1EC8F-16A7-2368-1B3C-8C55E98DE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blipFill>
                <a:blip r:embed="rId3"/>
                <a:stretch>
                  <a:fillRect l="-815" t="-5839" b="-6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2DFC832-AA3D-DD1C-7E32-415A5A8DF912}"/>
                  </a:ext>
                </a:extLst>
              </p:cNvPr>
              <p:cNvSpPr txBox="1"/>
              <p:nvPr/>
            </p:nvSpPr>
            <p:spPr>
              <a:xfrm>
                <a:off x="58811" y="3739933"/>
                <a:ext cx="109286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a composite number and is divisible by all the 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2DFC832-AA3D-DD1C-7E32-415A5A8DF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739933"/>
                <a:ext cx="10928697" cy="830997"/>
              </a:xfrm>
              <a:prstGeom prst="rect">
                <a:avLst/>
              </a:prstGeom>
              <a:blipFill>
                <a:blip r:embed="rId4"/>
                <a:stretch>
                  <a:fillRect l="-89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C1C3573-67BE-78FE-2BFB-C3030CB9B1A1}"/>
                  </a:ext>
                </a:extLst>
              </p:cNvPr>
              <p:cNvSpPr txBox="1"/>
              <p:nvPr/>
            </p:nvSpPr>
            <p:spPr>
              <a:xfrm>
                <a:off x="1694352" y="4109265"/>
                <a:ext cx="87043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–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number one greater 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6C1C3573-67BE-78FE-2BFB-C3030CB9B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52" y="4109265"/>
                <a:ext cx="8704371" cy="461665"/>
              </a:xfrm>
              <a:prstGeom prst="rect">
                <a:avLst/>
              </a:prstGeom>
              <a:blipFill>
                <a:blip r:embed="rId5"/>
                <a:stretch>
                  <a:fillRect l="-1120" t="-11842" r="-7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9754FA1E-7012-B8B9-27AD-149E427B6BB9}"/>
              </a:ext>
            </a:extLst>
          </p:cNvPr>
          <p:cNvSpPr txBox="1"/>
          <p:nvPr/>
        </p:nvSpPr>
        <p:spPr>
          <a:xfrm>
            <a:off x="58811" y="785277"/>
            <a:ext cx="827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0BE7BC45-29BC-4FC9-BC33-46C1D4546A01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2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17863-5A9B-5725-40E6-A92E0C985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C120BDFA-9590-73CD-9370-A4F0F195846A}"/>
              </a:ext>
            </a:extLst>
          </p:cNvPr>
          <p:cNvSpPr txBox="1"/>
          <p:nvPr/>
        </p:nvSpPr>
        <p:spPr>
          <a:xfrm>
            <a:off x="58811" y="1246942"/>
            <a:ext cx="11458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Assume that this is not the case (finitely many prime numbers).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DB39EC9-02B1-5E9B-E003-8E395881807F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then list (name) these prime numbers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=3,  …,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the largest prime number, and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index.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DB39EC9-02B1-5E9B-E003-8E3958818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blipFill>
                <a:blip r:embed="rId2"/>
                <a:stretch>
                  <a:fillRect l="-81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F0AA3FD-B244-3D65-9254-4813C1B6DBF6}"/>
                  </a:ext>
                </a:extLst>
              </p:cNvPr>
              <p:cNvSpPr txBox="1"/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construct a number that is the product of all these prime numbers: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=2⋅3⋅…⋅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F0AA3FD-B244-3D65-9254-4813C1B6D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blipFill>
                <a:blip r:embed="rId3"/>
                <a:stretch>
                  <a:fillRect l="-815" t="-5839" b="-6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514ED69-B481-5F6A-DAEB-C1E0B22186A8}"/>
                  </a:ext>
                </a:extLst>
              </p:cNvPr>
              <p:cNvSpPr txBox="1"/>
              <p:nvPr/>
            </p:nvSpPr>
            <p:spPr>
              <a:xfrm>
                <a:off x="58811" y="3739933"/>
                <a:ext cx="109286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a composite number and is divisible by all the 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B514ED69-B481-5F6A-DAEB-C1E0B2218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739933"/>
                <a:ext cx="10928697" cy="830997"/>
              </a:xfrm>
              <a:prstGeom prst="rect">
                <a:avLst/>
              </a:prstGeom>
              <a:blipFill>
                <a:blip r:embed="rId4"/>
                <a:stretch>
                  <a:fillRect l="-89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77B19AD-120F-C7E7-FE15-78B9E3AAA617}"/>
                  </a:ext>
                </a:extLst>
              </p:cNvPr>
              <p:cNvSpPr txBox="1"/>
              <p:nvPr/>
            </p:nvSpPr>
            <p:spPr>
              <a:xfrm>
                <a:off x="1694352" y="4109265"/>
                <a:ext cx="87043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–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number one greater 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77B19AD-120F-C7E7-FE15-78B9E3AAA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52" y="4109265"/>
                <a:ext cx="8704371" cy="461665"/>
              </a:xfrm>
              <a:prstGeom prst="rect">
                <a:avLst/>
              </a:prstGeom>
              <a:blipFill>
                <a:blip r:embed="rId5"/>
                <a:stretch>
                  <a:fillRect l="-1120" t="-11842" r="-7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8A7C2BD-8277-109E-B42A-F0D2C707B926}"/>
                  </a:ext>
                </a:extLst>
              </p:cNvPr>
              <p:cNvSpPr txBox="1"/>
              <p:nvPr/>
            </p:nvSpPr>
            <p:spPr>
              <a:xfrm>
                <a:off x="58808" y="4549228"/>
                <a:ext cx="1232952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it is not divisible by any of the 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2,3,…,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has only two 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itself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contradiction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8A7C2BD-8277-109E-B42A-F0D2C707B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8" y="4549228"/>
                <a:ext cx="12329529" cy="1200329"/>
              </a:xfrm>
              <a:prstGeom prst="rect">
                <a:avLst/>
              </a:prstGeom>
              <a:blipFill>
                <a:blip r:embed="rId6"/>
                <a:stretch>
                  <a:fillRect l="-791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15B3B2E6-2BAA-146C-FE58-E255C3425CD7}"/>
              </a:ext>
            </a:extLst>
          </p:cNvPr>
          <p:cNvSpPr txBox="1"/>
          <p:nvPr/>
        </p:nvSpPr>
        <p:spPr>
          <a:xfrm>
            <a:off x="58811" y="785277"/>
            <a:ext cx="827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071A1C5-96B3-8630-C1A6-ADEC4CB52F0B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025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E96AB-B55C-057F-E73C-8965A424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FB4BA453-42C6-1793-2AE1-3BA2672F06A6}"/>
              </a:ext>
            </a:extLst>
          </p:cNvPr>
          <p:cNvSpPr txBox="1"/>
          <p:nvPr/>
        </p:nvSpPr>
        <p:spPr>
          <a:xfrm>
            <a:off x="58811" y="1246942"/>
            <a:ext cx="11203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Proof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Assume that this is not the case (finitely many prime numbers).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F7EBA90-3ACD-B024-B6D4-74DE7D330A48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then list (name) these prime numbers as: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=3,  …,  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where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the largest prime number, and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index.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F7EBA90-3ACD-B024-B6D4-74DE7D330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11975457" cy="1200329"/>
              </a:xfrm>
              <a:prstGeom prst="rect">
                <a:avLst/>
              </a:prstGeom>
              <a:blipFill>
                <a:blip r:embed="rId2"/>
                <a:stretch>
                  <a:fillRect l="-815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682A81-2971-71C7-F193-06C841001F16}"/>
                  </a:ext>
                </a:extLst>
              </p:cNvPr>
              <p:cNvSpPr txBox="1"/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 can construct a number that is the product of all these prime numbers: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=2⋅3⋅…⋅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⋅…⋅</m:t>
                      </m:r>
                      <m:sSub>
                        <m:sSub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7682A81-2971-71C7-F193-06C841001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2" y="2908936"/>
                <a:ext cx="11975456" cy="830997"/>
              </a:xfrm>
              <a:prstGeom prst="rect">
                <a:avLst/>
              </a:prstGeom>
              <a:blipFill>
                <a:blip r:embed="rId3"/>
                <a:stretch>
                  <a:fillRect l="-815" t="-5839" b="-6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D9C2DEA-858A-8498-D3C9-8ACC2DB99F6C}"/>
                  </a:ext>
                </a:extLst>
              </p:cNvPr>
              <p:cNvSpPr txBox="1"/>
              <p:nvPr/>
            </p:nvSpPr>
            <p:spPr>
              <a:xfrm>
                <a:off x="58811" y="3739933"/>
                <a:ext cx="1092869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a composite number and is divisible by all the prime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6D9C2DEA-858A-8498-D3C9-8ACC2DB99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739933"/>
                <a:ext cx="10928697" cy="830997"/>
              </a:xfrm>
              <a:prstGeom prst="rect">
                <a:avLst/>
              </a:prstGeom>
              <a:blipFill>
                <a:blip r:embed="rId4"/>
                <a:stretch>
                  <a:fillRect l="-893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69D26D2-5491-0077-9123-054C6A4E45ED}"/>
                  </a:ext>
                </a:extLst>
              </p:cNvPr>
              <p:cNvSpPr txBox="1"/>
              <p:nvPr/>
            </p:nvSpPr>
            <p:spPr>
              <a:xfrm>
                <a:off x="1694352" y="4109265"/>
                <a:ext cx="87043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Now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let’s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put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–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 number one greater 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𝐿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69D26D2-5491-0077-9123-054C6A4E4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52" y="4109265"/>
                <a:ext cx="8704371" cy="461665"/>
              </a:xfrm>
              <a:prstGeom prst="rect">
                <a:avLst/>
              </a:prstGeom>
              <a:blipFill>
                <a:blip r:embed="rId5"/>
                <a:stretch>
                  <a:fillRect l="-1120" t="-11842" r="-70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562BA0D-D220-006C-44E7-EE59AD6E2010}"/>
                  </a:ext>
                </a:extLst>
              </p:cNvPr>
              <p:cNvSpPr txBox="1"/>
              <p:nvPr/>
            </p:nvSpPr>
            <p:spPr>
              <a:xfrm>
                <a:off x="58808" y="4549228"/>
                <a:ext cx="1232952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𝑀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𝑝</m:t>
                        </m:r>
                      </m:e>
                      <m:sub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and it is not divisible by any of the 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2,3,…,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has only two 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itself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contradiction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562BA0D-D220-006C-44E7-EE59AD6E2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8" y="4549228"/>
                <a:ext cx="12329529" cy="1200329"/>
              </a:xfrm>
              <a:prstGeom prst="rect">
                <a:avLst/>
              </a:prstGeom>
              <a:blipFill>
                <a:blip r:embed="rId6"/>
                <a:stretch>
                  <a:fillRect l="-791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6245E816-9922-0B1F-EBAB-64F3A47CF169}"/>
              </a:ext>
            </a:extLst>
          </p:cNvPr>
          <p:cNvSpPr txBox="1"/>
          <p:nvPr/>
        </p:nvSpPr>
        <p:spPr>
          <a:xfrm>
            <a:off x="58811" y="5863592"/>
            <a:ext cx="8281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Therefore, there are infinitely many prime numbers.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4235A88-0EA9-BECE-82CF-8E6A76FEBB17}"/>
              </a:ext>
            </a:extLst>
          </p:cNvPr>
          <p:cNvSpPr txBox="1"/>
          <p:nvPr/>
        </p:nvSpPr>
        <p:spPr>
          <a:xfrm>
            <a:off x="58811" y="785277"/>
            <a:ext cx="827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Theorem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16F1513-84E9-A929-A0E9-726E47808C16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0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FAFB6-6DA0-1BC1-EE6A-1EBA50230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29E84053-90BE-3150-6765-EC633B9E5C0C}"/>
              </a:ext>
            </a:extLst>
          </p:cNvPr>
          <p:cNvSpPr txBox="1"/>
          <p:nvPr/>
        </p:nvSpPr>
        <p:spPr>
          <a:xfrm>
            <a:off x="58811" y="785277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A3DBC3E-8579-66AA-11FC-BDFF8098F500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495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F084D-17DA-BF8C-E94A-84BDBFEA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07E5B6E7-A9D8-E235-D093-FE321C409DCE}"/>
              </a:ext>
            </a:extLst>
          </p:cNvPr>
          <p:cNvSpPr txBox="1"/>
          <p:nvPr/>
        </p:nvSpPr>
        <p:spPr>
          <a:xfrm>
            <a:off x="58811" y="785277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CBFE80DF-0FFB-6FBE-8A2A-A85B78A6AD20}"/>
              </a:ext>
            </a:extLst>
          </p:cNvPr>
          <p:cNvSpPr txBox="1"/>
          <p:nvPr/>
        </p:nvSpPr>
        <p:spPr>
          <a:xfrm>
            <a:off x="58811" y="1246942"/>
            <a:ext cx="700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01028C8-0FD8-3F2C-9E0A-472F7B8BCEEF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35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75572-F6AD-F08E-5DD3-42E64DE9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6F81CD0D-638F-56B1-04E5-72906026B770}"/>
              </a:ext>
            </a:extLst>
          </p:cNvPr>
          <p:cNvSpPr txBox="1"/>
          <p:nvPr/>
        </p:nvSpPr>
        <p:spPr>
          <a:xfrm>
            <a:off x="58811" y="785277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7BE1160-B9B1-4B00-28D7-CC906F531D68}"/>
              </a:ext>
            </a:extLst>
          </p:cNvPr>
          <p:cNvSpPr txBox="1"/>
          <p:nvPr/>
        </p:nvSpPr>
        <p:spPr>
          <a:xfrm>
            <a:off x="58811" y="1246942"/>
            <a:ext cx="700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7A7306B-AE4F-1682-5511-7229AF5B1FA1}"/>
              </a:ext>
            </a:extLst>
          </p:cNvPr>
          <p:cNvSpPr txBox="1"/>
          <p:nvPr/>
        </p:nvSpPr>
        <p:spPr>
          <a:xfrm>
            <a:off x="58811" y="1708607"/>
            <a:ext cx="7690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composite numbers.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09B2689-9606-C6E6-21CD-5DDD3FD02983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32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46233-86B8-21D0-6EFF-A0BC6A77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DCEB789D-AF2C-87B3-E33D-7D788D61D852}"/>
              </a:ext>
            </a:extLst>
          </p:cNvPr>
          <p:cNvSpPr txBox="1"/>
          <p:nvPr/>
        </p:nvSpPr>
        <p:spPr>
          <a:xfrm>
            <a:off x="58811" y="785277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F912660E-3D8F-E4E6-9DCF-BA70C962F06B}"/>
              </a:ext>
            </a:extLst>
          </p:cNvPr>
          <p:cNvSpPr txBox="1"/>
          <p:nvPr/>
        </p:nvSpPr>
        <p:spPr>
          <a:xfrm>
            <a:off x="58811" y="1246942"/>
            <a:ext cx="700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27F4CD6-C5AA-2128-0031-F71699E39774}"/>
              </a:ext>
            </a:extLst>
          </p:cNvPr>
          <p:cNvSpPr txBox="1"/>
          <p:nvPr/>
        </p:nvSpPr>
        <p:spPr>
          <a:xfrm>
            <a:off x="58811" y="1708607"/>
            <a:ext cx="7690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composite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9B0F04E-D900-135D-379C-568F7C70978A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neither prime numbers nor composite numbers.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29B0F04E-D900-135D-379C-568F7C709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blipFill>
                <a:blip r:embed="rId2"/>
                <a:stretch>
                  <a:fillRect l="-86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B75BED3-6AB0-55F4-A83B-5D1719BE4793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793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0BA1A-7276-12CA-AB16-162060448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D646C8B9-DC0D-6B76-4EFF-68C922BAA36C}"/>
              </a:ext>
            </a:extLst>
          </p:cNvPr>
          <p:cNvSpPr txBox="1"/>
          <p:nvPr/>
        </p:nvSpPr>
        <p:spPr>
          <a:xfrm>
            <a:off x="58811" y="785277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5CDA58D-98CF-6285-1F79-D175DADC57AE}"/>
              </a:ext>
            </a:extLst>
          </p:cNvPr>
          <p:cNvSpPr txBox="1"/>
          <p:nvPr/>
        </p:nvSpPr>
        <p:spPr>
          <a:xfrm>
            <a:off x="58811" y="1246942"/>
            <a:ext cx="700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0E1CCC8-9A80-B560-A3C1-86634995CAB5}"/>
              </a:ext>
            </a:extLst>
          </p:cNvPr>
          <p:cNvSpPr txBox="1"/>
          <p:nvPr/>
        </p:nvSpPr>
        <p:spPr>
          <a:xfrm>
            <a:off x="58811" y="1708607"/>
            <a:ext cx="7690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composite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2E119DE-7159-8FDC-8581-D49DEE0B272F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neither prime numbers nor composite numbers.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2E119DE-7159-8FDC-8581-D49DEE0B2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blipFill>
                <a:blip r:embed="rId2"/>
                <a:stretch>
                  <a:fillRect l="-86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0BF7B02-82CF-6F95-F09D-3BD77A8A9EDF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174924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composite number can be written as a product of prime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70=2⋅5⋅7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100=2⋅2⋅5⋅5=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40BF7B02-82CF-6F95-F09D-3BD77A8A9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1749242" cy="830997"/>
              </a:xfrm>
              <a:prstGeom prst="rect">
                <a:avLst/>
              </a:prstGeom>
              <a:blipFill>
                <a:blip r:embed="rId3"/>
                <a:stretch>
                  <a:fillRect l="-727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2F8D3DA-9211-8D6D-FD68-7FCD95BD95A8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429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BF284-EFD3-E0ED-96FD-FFA2641CE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88ABC5E7-3D60-B66C-361E-55641BDFA35E}"/>
              </a:ext>
            </a:extLst>
          </p:cNvPr>
          <p:cNvSpPr txBox="1"/>
          <p:nvPr/>
        </p:nvSpPr>
        <p:spPr>
          <a:xfrm>
            <a:off x="58811" y="785277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5F04D15-527D-D568-F419-D352A38E1E75}"/>
              </a:ext>
            </a:extLst>
          </p:cNvPr>
          <p:cNvSpPr txBox="1"/>
          <p:nvPr/>
        </p:nvSpPr>
        <p:spPr>
          <a:xfrm>
            <a:off x="58811" y="1246942"/>
            <a:ext cx="700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6BCC8536-C49A-A356-7DA9-CB264795927D}"/>
              </a:ext>
            </a:extLst>
          </p:cNvPr>
          <p:cNvSpPr txBox="1"/>
          <p:nvPr/>
        </p:nvSpPr>
        <p:spPr>
          <a:xfrm>
            <a:off x="58811" y="1708607"/>
            <a:ext cx="7690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composite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E776F2D-19F7-0E3B-7ACD-54F736086CAA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neither prime numbers nor composite numbers.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E776F2D-19F7-0E3B-7ACD-54F736086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blipFill>
                <a:blip r:embed="rId2"/>
                <a:stretch>
                  <a:fillRect l="-86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5912741-A6DC-A947-CC60-0DC5632A46C7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174924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composite number can be written as a product of prime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70=2⋅5⋅7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100=2⋅2⋅5⋅5=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5912741-A6DC-A947-CC60-0DC5632A4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1749242" cy="830997"/>
              </a:xfrm>
              <a:prstGeom prst="rect">
                <a:avLst/>
              </a:prstGeom>
              <a:blipFill>
                <a:blip r:embed="rId3"/>
                <a:stretch>
                  <a:fillRect l="-727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F82260C-2C57-8CF0-5B04-73202167FED9}"/>
                  </a:ext>
                </a:extLst>
              </p:cNvPr>
              <p:cNvSpPr txBox="1"/>
              <p:nvPr/>
            </p:nvSpPr>
            <p:spPr>
              <a:xfrm>
                <a:off x="58811" y="3462934"/>
                <a:ext cx="68889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only one even prime number: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9F82260C-2C57-8CF0-5B04-73202167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462934"/>
                <a:ext cx="6888937" cy="461665"/>
              </a:xfrm>
              <a:prstGeom prst="rect">
                <a:avLst/>
              </a:prstGeom>
              <a:blipFill>
                <a:blip r:embed="rId4"/>
                <a:stretch>
                  <a:fillRect l="-1239" t="-11842" r="-35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DFFD2EB-A0C9-A1F2-425B-D71ABD06016F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072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E3E7-A564-B85B-AF15-27E659DA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28744CA5-BD5E-CFCA-EBB7-B3518DBF70A6}"/>
              </a:ext>
            </a:extLst>
          </p:cNvPr>
          <p:cNvSpPr txBox="1"/>
          <p:nvPr/>
        </p:nvSpPr>
        <p:spPr>
          <a:xfrm>
            <a:off x="58811" y="785277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0DB1935-C512-F7C3-89FA-BAC69DCE280D}"/>
              </a:ext>
            </a:extLst>
          </p:cNvPr>
          <p:cNvSpPr txBox="1"/>
          <p:nvPr/>
        </p:nvSpPr>
        <p:spPr>
          <a:xfrm>
            <a:off x="58811" y="1246942"/>
            <a:ext cx="700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EC0716F9-C644-935A-867B-611097BEE014}"/>
              </a:ext>
            </a:extLst>
          </p:cNvPr>
          <p:cNvSpPr txBox="1"/>
          <p:nvPr/>
        </p:nvSpPr>
        <p:spPr>
          <a:xfrm>
            <a:off x="58811" y="1708607"/>
            <a:ext cx="7690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composite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7FCA3B-88CA-DD91-EAC6-F90946518526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neither prime numbers nor composite numbers.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D7FCA3B-88CA-DD91-EAC6-F90946518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blipFill>
                <a:blip r:embed="rId2"/>
                <a:stretch>
                  <a:fillRect l="-86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7053D2E-7FAA-B280-6036-5EA4F5AA1BD0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174924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composite number can be written as a product of prime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70=2⋅5⋅7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100=2⋅2⋅5⋅5=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7053D2E-7FAA-B280-6036-5EA4F5AA1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1749242" cy="830997"/>
              </a:xfrm>
              <a:prstGeom prst="rect">
                <a:avLst/>
              </a:prstGeom>
              <a:blipFill>
                <a:blip r:embed="rId3"/>
                <a:stretch>
                  <a:fillRect l="-727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5CBC9D7-3ECC-1C28-8C54-FD0A47C8DE87}"/>
                  </a:ext>
                </a:extLst>
              </p:cNvPr>
              <p:cNvSpPr txBox="1"/>
              <p:nvPr/>
            </p:nvSpPr>
            <p:spPr>
              <a:xfrm>
                <a:off x="58811" y="3462934"/>
                <a:ext cx="68889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only one even prime number: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5CBC9D7-3ECC-1C28-8C54-FD0A47C8D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462934"/>
                <a:ext cx="6888937" cy="461665"/>
              </a:xfrm>
              <a:prstGeom prst="rect">
                <a:avLst/>
              </a:prstGeom>
              <a:blipFill>
                <a:blip r:embed="rId4"/>
                <a:stretch>
                  <a:fillRect l="-1239" t="-11842" r="-35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F4F3BC3-172B-BE94-77E3-C449351C3D0A}"/>
                  </a:ext>
                </a:extLst>
              </p:cNvPr>
              <p:cNvSpPr txBox="1"/>
              <p:nvPr/>
            </p:nvSpPr>
            <p:spPr>
              <a:xfrm>
                <a:off x="58810" y="3924599"/>
                <a:ext cx="1042830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 other primes are of the form: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+1,  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&gt;3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potential primes can only be of the form: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primes can only be of the form: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−1, 6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F4F3BC3-172B-BE94-77E3-C449351C3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924599"/>
                <a:ext cx="10428304" cy="1200329"/>
              </a:xfrm>
              <a:prstGeom prst="rect">
                <a:avLst/>
              </a:prstGeom>
              <a:blipFill>
                <a:blip r:embed="rId5"/>
                <a:stretch>
                  <a:fillRect l="-819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FBF3FD5-BB70-108E-1C45-F6D7E58F36EC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277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E08E6-B5F6-7561-A7B6-CE34B418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6F032722-0EC2-7EA4-8072-9E17259C4DFD}"/>
              </a:ext>
            </a:extLst>
          </p:cNvPr>
          <p:cNvSpPr txBox="1"/>
          <p:nvPr/>
        </p:nvSpPr>
        <p:spPr>
          <a:xfrm>
            <a:off x="58811" y="785277"/>
            <a:ext cx="28023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properties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1B861101-65D9-2CD7-CB08-9C0E7FDC9B6C}"/>
              </a:ext>
            </a:extLst>
          </p:cNvPr>
          <p:cNvSpPr txBox="1"/>
          <p:nvPr/>
        </p:nvSpPr>
        <p:spPr>
          <a:xfrm>
            <a:off x="58811" y="1246942"/>
            <a:ext cx="700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prime numbers.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DD07FE1-A419-8FE8-97A0-125004AA7E5B}"/>
              </a:ext>
            </a:extLst>
          </p:cNvPr>
          <p:cNvSpPr txBox="1"/>
          <p:nvPr/>
        </p:nvSpPr>
        <p:spPr>
          <a:xfrm>
            <a:off x="58811" y="1708607"/>
            <a:ext cx="7690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are infinitely many composite numbers.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70654BC-9C74-6D7D-CD22-6B8F50611992}"/>
                  </a:ext>
                </a:extLst>
              </p:cNvPr>
              <p:cNvSpPr txBox="1"/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are neither prime numbers nor composite numbers.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70654BC-9C74-6D7D-CD22-6B8F50611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170272"/>
                <a:ext cx="9879628" cy="461665"/>
              </a:xfrm>
              <a:prstGeom prst="rect">
                <a:avLst/>
              </a:prstGeom>
              <a:blipFill>
                <a:blip r:embed="rId2"/>
                <a:stretch>
                  <a:fillRect l="-864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39891C1-BEBF-8704-0F17-D213644A4C90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1174924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Every composite number can be written as a product of prime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e.g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70=2⋅5⋅7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100=2⋅2⋅5⋅5=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sSup>
                      <m:sSup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5</m:t>
                        </m:r>
                      </m:e>
                      <m:sup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039891C1-BEBF-8704-0F17-D213644A4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11749242" cy="830997"/>
              </a:xfrm>
              <a:prstGeom prst="rect">
                <a:avLst/>
              </a:prstGeom>
              <a:blipFill>
                <a:blip r:embed="rId3"/>
                <a:stretch>
                  <a:fillRect l="-727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6C49B70-B838-3325-238C-4075BD2D157A}"/>
                  </a:ext>
                </a:extLst>
              </p:cNvPr>
              <p:cNvSpPr txBox="1"/>
              <p:nvPr/>
            </p:nvSpPr>
            <p:spPr>
              <a:xfrm>
                <a:off x="58811" y="3462934"/>
                <a:ext cx="68889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is only one even prime number: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F6C49B70-B838-3325-238C-4075BD2D1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462934"/>
                <a:ext cx="6888937" cy="461665"/>
              </a:xfrm>
              <a:prstGeom prst="rect">
                <a:avLst/>
              </a:prstGeom>
              <a:blipFill>
                <a:blip r:embed="rId4"/>
                <a:stretch>
                  <a:fillRect l="-1239" t="-11842" r="-354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7FA0DE0-0185-6B61-E478-3E6A31139B08}"/>
                  </a:ext>
                </a:extLst>
              </p:cNvPr>
              <p:cNvSpPr txBox="1"/>
              <p:nvPr/>
            </p:nvSpPr>
            <p:spPr>
              <a:xfrm>
                <a:off x="58810" y="3924599"/>
                <a:ext cx="1042830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 other primes are of the form: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+1,  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∈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ℕ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&gt;3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potential primes can only be of the form: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+2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≥5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primes can only be of the form: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−1, 6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𝑘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+1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17FA0DE0-0185-6B61-E478-3E6A31139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924599"/>
                <a:ext cx="10428304" cy="1200329"/>
              </a:xfrm>
              <a:prstGeom prst="rect">
                <a:avLst/>
              </a:prstGeom>
              <a:blipFill>
                <a:blip r:embed="rId5"/>
                <a:stretch>
                  <a:fillRect l="-819" t="-4569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660C5631-B717-2889-C8ED-DC9E73C19526}"/>
              </a:ext>
            </a:extLst>
          </p:cNvPr>
          <p:cNvSpPr txBox="1"/>
          <p:nvPr/>
        </p:nvSpPr>
        <p:spPr>
          <a:xfrm>
            <a:off x="71683" y="5078761"/>
            <a:ext cx="113073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One of the simplest, yet effective methods for finding prime numbers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the so-called Sieve of Eratosthenes.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142CE8B-73F6-D9A9-2B68-3C1DD3169FA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199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AD74-46AB-6F03-E51D-4338648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FD019758-446F-9DA1-52CD-B6760672E155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8C35FB1-B8EC-C2CA-6C94-A1A170457F0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374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F224C-195B-83E1-A589-731EECAD1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45AF3CA-202F-41ED-4C22-71269765F6C2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2, 3, 4, 5, 6, 7, 8, 9, 10, 11, 12, 13, 14, 15, 16, 17, 18, 19, 20, 21, 22, 23, 24, 25, 26, 27, 28, 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29, 30, 31, 32, 33, 34, 35, 36, 37, 38, 39, 40, 41, 42, 43, 44, 45, 46, 47, 48, 49, 50, 51, 52, 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53, 54, 55, 56, 57, 58, 59, 60, 61, 62, 63, 64, 65, 66, 67, 68, 69, 70, 71, 72, 73, 74, 75, 76, 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77, 78, 79, 80, 81, 82, 83, 84, 85, 86, 87, 88, 89, 90, 91, 92, 93, 94, 95, 96, 97, 98, 99, 100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45AF3CA-202F-41ED-4C22-71269765F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A49462E-EBF6-2AEB-6B71-F98919D789D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22F3AB7-EFBE-8C07-EE9C-9F8F888122E4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094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74666-9B77-549B-A399-7EE6B1E3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0E2539A-81CA-5A61-EB2F-182E1062041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3, 4, 5, 6, 7, 8, 9, 10, 11, 12, 13, 14, 15, 16, 17, 18, 19, 20, 21, 22, 23, 24, 25, 26, 27, 28,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29, 30, 31, 32, 33, 34, 35, 36, 37, 38, 39, 40, 41, 42, 43, 44, 45, 46, 47, 48, 49, 50, 51, 52, 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53, 54, 55, 56, 57, 58, 59, 60, 61, 62, 63, 64, 65, 66, 67, 68, 69, 70, 71, 72, 73, 74, 75, 76, 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77, 78, 79, 80, 81, 82, 83, 84, 85, 86, 87, 88, 89, 90, 91, 92, 93, 94, 95, 96, 97, 98, 99, 100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0E2539A-81CA-5A61-EB2F-182E10620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541CF789-F1CF-4FDC-F1AF-3261C147BCC3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9F4DB6E-E530-4C50-61E2-32B460B8F583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900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5B17A-AA12-BDC2-1B42-EA711D53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EF3FAFD-FB90-035B-490C-DE93C506C56D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5, 6, 7, 8, 9, 10, 11, 12, 13, 14, 15, 16, 17, 18, 19, 20, 21, 22, 23, 24, 25, 26, 27, 28,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29, 30, 31, 32, 33, 34, 35, 36, 37, 38, 39, 40, 41, 42, 43, 44, 45, 46, 47, 48, 49, 50, 51, 52, 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53, 54, 55, 56, 57, 58, 59, 60, 61, 62, 63, 64, 65, 66, 67, 68, 69, 70, 71, 72, 73, 74, 75, 76, 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77, 78, 79, 80, 81, 82, 83, 84, 85, 86, 87, 88, 89, 90, 91, 92, 93, 94, 95, 96, 97, 98, 99, 100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EF3FAFD-FB90-035B-490C-DE93C506C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CE124DB-7516-C630-27D1-9360D193A9F2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EE926F4-C169-3996-4FE7-828D48D83244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653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0F15-C032-51BE-FF65-0D1FF2EF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D49D9EC-FDE4-E0B0-E464-1E0F07A672D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8, 9, 10, 11, 12, 13, 14, 15, 16, 17, 18, 19, 20, 21, 22, 23, 24, 25, 26, 27, 28,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29, 30, 31, 32, 33, 34, 35, 36, 37, 38, 39, 40, 41, 42, 43, 44, 45, 46, 47, 48, 49, 50, 51, 52, 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53, 54, 55, 56, 57, 58, 59, 60, 61, 62, 63, 64, 65, 66, 67, 68, 69, 70, 71, 72, 73, 74, 75, 76, 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77, 78, 79, 80, 81, 82, 83, 84, 85, 86, 87, 88, 89, 90, 91, 92, 93, 94, 95, 96, 97, 98, 99, 100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D49D9EC-FDE4-E0B0-E464-1E0F07A67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76AB7728-6F5D-7DE6-8EAD-41DCDE552A8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C204920-9319-46C0-0723-5C626DAC10A9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54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88F7A-2DAB-6C0A-0F0C-A8E287E1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B78F5D6-4391-74FB-F00C-38000E0B6136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9, 10, 11, 12, 13, 14, 15, 16, 17, 18, 19, 20, 21, 22, 23, 24, 25, 26, 27, 28,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29, 30, 31, 32, 33, 34, 35, 36, 37, 38, 39, 40, 41, 42, 43, 44, 45, 46, 47, 48, 49, 50, 51, 52, 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53, 54, 55, 56, 57, 58, 59, 60, 61, 62, 63, 64, 65, 66, 67, 68, 69, 70, 71, 72, 73, 74, 75, 76, 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77, 78, 79, 80, 81, 82, 83, 84, 85, 86, 87, 88, 89, 90, 91, 92, 93, 94, 95, 96, 97, 98, 99, 100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B78F5D6-4391-74FB-F00C-38000E0B6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8B4938F7-A734-2134-AFEF-BDF1938881A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B40DAE0-41F4-640F-83DC-0442ACCBD19C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758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DB5C-3234-0D81-7667-070010751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2BE3627-16FF-D30F-6211-938F00B444E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21,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2BE3627-16FF-D30F-6211-938F00B44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BC0A61E8-CB6A-D604-671A-8AD44918ED42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F56248D-A6DD-3931-31AF-415240CE2B85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813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0669-3C44-1F21-5899-49EC8173A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64DB3DB-66E1-8A09-16BA-A5A0B0A7951E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21,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F64DB3DB-66E1-8A09-16BA-A5A0B0A79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51849BE2-B09E-1658-C36B-C9911DA643E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658A074-73D9-ED30-E714-A1A7D2572960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60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CB7A-C7AF-3ECE-E3CE-8E42E196C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F92910E-C84D-841F-B747-2FE425B642B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21,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F92910E-C84D-841F-B747-2FE425B64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88D8093C-BC3F-80AB-E7BE-030FBAC0815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57347F1-B70C-19E8-88CD-8CA4A40FACCE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37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E795D-D2E6-87B5-D888-977A0074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7687370-97EF-16A0-5637-F83A0FA430D7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21,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7687370-97EF-16A0-5637-F83A0FA43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49AF0AA9-7E86-C1E8-4ABC-23B6ECABF38E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B3A150C-D5DB-5779-FC09-793DA007A9A4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3882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3A2D2-2820-C06B-97D8-A63558AD4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5F37442-EDC5-8F47-882B-4A757F64CC4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95,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65F37442-EDC5-8F47-882B-4A757F64C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FB625EB4-8762-EB1D-BB66-08C095C3929B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FA2DDFF-DDD5-5627-9586-DA911F17D3F9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338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497F-9468-A684-2949-4F03A3A43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EFEC01C-66E9-5BE5-59FD-F3C7F943969D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25,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27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83,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89,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91,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97,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EFEC01C-66E9-5BE5-59FD-F3C7F9439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58208BA0-2FAD-5BD6-E186-920A38F80646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89368D3-94A6-6886-B674-A37F629CC1F6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713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61DD9-FE74-3F83-5EE3-352F1CEA2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A126B97-8D0F-BAE8-BEB8-186BF464DFFD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27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A126B97-8D0F-BAE8-BEB8-186BF464D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EE272B38-BE3B-2219-BB1A-C4F17EFD7E05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670B3D8-A8B8-E645-5FDA-6D9344AA0F5A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762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0E8CC-4EA9-1A61-BDB0-745F3649E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F3C8445-771A-01AB-90A8-20DD71509387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19,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23,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27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37,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47,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59,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67,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71,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79,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83,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89,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97,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F3C8445-771A-01AB-90A8-20DD71509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C450DC3D-6A62-65DD-431F-0DA44DA89E02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4AEE778-726C-47C4-6112-60BC4E5685A8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4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B2F6-47B2-EDD5-AB14-F47E95E71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E3D292F-FBD3-0310-9BD5-4C7CA0C9C83E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11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17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19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en-US" sz="24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21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22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23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24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25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26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27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28</m:t>
                      </m:r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69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</m:oMath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89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90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91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92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93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94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95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96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97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98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99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,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100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E3D292F-FBD3-0310-9BD5-4C7CA0C9C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23737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781096F9-8659-9076-7715-FC2DCF14F29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CD5C0FD-3A47-B4CA-DB62-FF05A016DA1A}"/>
              </a:ext>
            </a:extLst>
          </p:cNvPr>
          <p:cNvSpPr txBox="1"/>
          <p:nvPr/>
        </p:nvSpPr>
        <p:spPr>
          <a:xfrm>
            <a:off x="58811" y="785277"/>
            <a:ext cx="893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prime numbers using the Sieve of Eratosthenes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4980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3394-5E09-E0C7-A389-63BCC219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F87361D-C668-F0D7-FFDB-DFA46BD59CC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check if a given number is prime,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don't need to try dividing it by all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numbers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"one less than" the number itself.</a:t>
                </a: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F87361D-C668-F0D7-FFDB-DFA46BD59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blipFill>
                <a:blip r:embed="rId2"/>
                <a:stretch>
                  <a:fillRect l="-836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98CA8917-D67C-8ABB-086F-A4A12A2E846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018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F84C5-6F06-1EE0-1D54-7734371E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ACB609F-B0F1-BE9F-7C93-BCEBB161E8D9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21095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to try dividing it by prime numbers smaller than it,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square root of the number.</a:t>
                </a: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4ACB609F-B0F1-BE9F-7C93-BCEBB161E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210954" cy="830997"/>
              </a:xfrm>
              <a:prstGeom prst="rect">
                <a:avLst/>
              </a:prstGeom>
              <a:blipFill>
                <a:blip r:embed="rId2"/>
                <a:stretch>
                  <a:fillRect l="-87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ole tekstowe 1">
            <a:extLst>
              <a:ext uri="{FF2B5EF4-FFF2-40B4-BE49-F238E27FC236}">
                <a16:creationId xmlns:a16="http://schemas.microsoft.com/office/drawing/2014/main" id="{152B2364-9A7B-A437-F179-B0C4EE4E029A}"/>
              </a:ext>
            </a:extLst>
          </p:cNvPr>
          <p:cNvSpPr txBox="1"/>
          <p:nvPr/>
        </p:nvSpPr>
        <p:spPr>
          <a:xfrm>
            <a:off x="58811" y="2447271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Justification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E0B537E-EC60-CF1D-BCBA-B34649B98D9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B288BE2-2C58-D20A-FDFE-FE0DD9B307C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check if a given number is prime,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don't need to try dividing it by all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numbers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"one less than" the number itself.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BB288BE2-2C58-D20A-FDFE-FE0DD9B3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blipFill>
                <a:blip r:embed="rId3"/>
                <a:stretch>
                  <a:fillRect l="-836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30657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1718-FC16-8778-309E-5813929B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15076E2-A863-7B4D-025B-76BFF353B7D0}"/>
                  </a:ext>
                </a:extLst>
              </p:cNvPr>
              <p:cNvSpPr txBox="1"/>
              <p:nvPr/>
            </p:nvSpPr>
            <p:spPr>
              <a:xfrm>
                <a:off x="58811" y="2908936"/>
                <a:ext cx="1226329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numbers whose only non-trivial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itself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their square root, e.g.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 = 3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These numbers are called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square numbers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15076E2-A863-7B4D-025B-76BFF353B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08936"/>
                <a:ext cx="12263294" cy="1200329"/>
              </a:xfrm>
              <a:prstGeom prst="rect">
                <a:avLst/>
              </a:prstGeom>
              <a:blipFill>
                <a:blip r:embed="rId2"/>
                <a:stretch>
                  <a:fillRect l="-79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pole tekstowe 6">
            <a:extLst>
              <a:ext uri="{FF2B5EF4-FFF2-40B4-BE49-F238E27FC236}">
                <a16:creationId xmlns:a16="http://schemas.microsoft.com/office/drawing/2014/main" id="{12A2B30D-3D14-3292-4B00-247965105E37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6DC54FA-F265-3FB7-AFB6-5B27ED9F9B4B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check if a given number is prime,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don't need to try dividing it by all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numbers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"one less than" the number itself.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6DC54FA-F265-3FB7-AFB6-5B27ED9F9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blipFill>
                <a:blip r:embed="rId3"/>
                <a:stretch>
                  <a:fillRect l="-836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3294AFE-E049-5847-D1F5-5142FFB8917F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21095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to try dividing it by prime numbers smaller than it,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square root of the number.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43294AFE-E049-5847-D1F5-5142FFB89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210954" cy="830997"/>
              </a:xfrm>
              <a:prstGeom prst="rect">
                <a:avLst/>
              </a:prstGeom>
              <a:blipFill>
                <a:blip r:embed="rId4"/>
                <a:stretch>
                  <a:fillRect l="-87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68C63C10-76AE-2C58-C896-5A3816152511}"/>
              </a:ext>
            </a:extLst>
          </p:cNvPr>
          <p:cNvSpPr txBox="1"/>
          <p:nvPr/>
        </p:nvSpPr>
        <p:spPr>
          <a:xfrm>
            <a:off x="58811" y="2447271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Justification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0397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6564-3E7D-8109-E96D-739125F1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773F92C4-E1D1-23E2-BCE7-A7D7758BC644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AEA2DAA-7B62-93ED-355A-8D4D1992E797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check if a given number is prime,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don't need to try dividing it by all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numbers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"one less than" the number itself.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AEA2DAA-7B62-93ED-355A-8D4D1992E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blipFill>
                <a:blip r:embed="rId2"/>
                <a:stretch>
                  <a:fillRect l="-836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FCF9093-C1E5-C694-7E6E-B2072320D0F5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21095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to try dividing it by prime numbers smaller than it,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square root of the number.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4FCF9093-C1E5-C694-7E6E-B2072320D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210954" cy="830997"/>
              </a:xfrm>
              <a:prstGeom prst="rect">
                <a:avLst/>
              </a:prstGeom>
              <a:blipFill>
                <a:blip r:embed="rId3"/>
                <a:stretch>
                  <a:fillRect l="-87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97EB374E-D4D9-09C1-D1E4-028225BCC70E}"/>
              </a:ext>
            </a:extLst>
          </p:cNvPr>
          <p:cNvSpPr txBox="1"/>
          <p:nvPr/>
        </p:nvSpPr>
        <p:spPr>
          <a:xfrm>
            <a:off x="58811" y="2447271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Justification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EFDFEF8-CE98-30E0-5C18-0C367B8D0EA5}"/>
                  </a:ext>
                </a:extLst>
              </p:cNvPr>
              <p:cNvSpPr txBox="1"/>
              <p:nvPr/>
            </p:nvSpPr>
            <p:spPr>
              <a:xfrm>
                <a:off x="58811" y="2908936"/>
                <a:ext cx="1226329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numbers whose only non-trivial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itself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their square root, e.g.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 = 3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These numbers are called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square numbers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4EFDFEF8-CE98-30E0-5C18-0C367B8D0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08936"/>
                <a:ext cx="12263294" cy="1200329"/>
              </a:xfrm>
              <a:prstGeom prst="rect">
                <a:avLst/>
              </a:prstGeom>
              <a:blipFill>
                <a:blip r:embed="rId4"/>
                <a:stretch>
                  <a:fillRect l="-79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649CE91-6DB5-2228-BAE6-9497033E4101}"/>
                  </a:ext>
                </a:extLst>
              </p:cNvPr>
              <p:cNvSpPr txBox="1"/>
              <p:nvPr/>
            </p:nvSpPr>
            <p:spPr>
              <a:xfrm>
                <a:off x="58811" y="4109265"/>
                <a:ext cx="1142062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dividing a square number by its square root divisor, we obtain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square root,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9:3=3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649CE91-6DB5-2228-BAE6-9497033E4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5"/>
                <a:ext cx="11420627" cy="830997"/>
              </a:xfrm>
              <a:prstGeom prst="rect">
                <a:avLst/>
              </a:prstGeom>
              <a:blipFill>
                <a:blip r:embed="rId5"/>
                <a:stretch>
                  <a:fillRect l="-854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844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FF1E-6D52-E7BC-74A0-E626272C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AE62A25-EF13-3FE3-1F7C-D9DB38C74C6E}"/>
                  </a:ext>
                </a:extLst>
              </p:cNvPr>
              <p:cNvSpPr txBox="1"/>
              <p:nvPr/>
            </p:nvSpPr>
            <p:spPr>
              <a:xfrm>
                <a:off x="58811" y="4109265"/>
                <a:ext cx="11872930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dividing a square number by its square root divisor, we obtain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square root, i.e.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9:3=3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If there is a divisor greater than the square root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(e.g.,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has a divisor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dividing will give a number smaller than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square root (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8:4=2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), since dividing by a larger number gives 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smaller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result. </a:t>
                </a: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AE62A25-EF13-3FE3-1F7C-D9DB38C74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4109265"/>
                <a:ext cx="11872930" cy="1938992"/>
              </a:xfrm>
              <a:prstGeom prst="rect">
                <a:avLst/>
              </a:prstGeom>
              <a:blipFill>
                <a:blip r:embed="rId2"/>
                <a:stretch>
                  <a:fillRect l="-822" t="-2516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6DF682C1-591A-97F5-FBE9-14A2924FE299}"/>
              </a:ext>
            </a:extLst>
          </p:cNvPr>
          <p:cNvSpPr txBox="1"/>
          <p:nvPr/>
        </p:nvSpPr>
        <p:spPr>
          <a:xfrm>
            <a:off x="3654466" y="-45720"/>
            <a:ext cx="488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Prime</a:t>
            </a:r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numbers</a:t>
            </a:r>
            <a:endParaRPr lang="pl-PL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8F75B1D-4C67-F4B4-F565-388854142E1B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check if a given number is prime,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don't need to try dividing it by all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natural numbers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"one less than" the number itself.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8F75B1D-4C67-F4B4-F565-388854142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673709" cy="830997"/>
              </a:xfrm>
              <a:prstGeom prst="rect">
                <a:avLst/>
              </a:prstGeom>
              <a:blipFill>
                <a:blip r:embed="rId3"/>
                <a:stretch>
                  <a:fillRect l="-836"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3EFF61F-C261-EF22-224C-5E52780B5D18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1121095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 is enough to try dividing it by prime numbers smaller than it,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to the square root of the number.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A3EFF61F-C261-EF22-224C-5E52780B5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11210954" cy="830997"/>
              </a:xfrm>
              <a:prstGeom prst="rect">
                <a:avLst/>
              </a:prstGeom>
              <a:blipFill>
                <a:blip r:embed="rId4"/>
                <a:stretch>
                  <a:fillRect l="-870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C8387C45-7CD4-0CFC-16B0-93AA175EFCA2}"/>
              </a:ext>
            </a:extLst>
          </p:cNvPr>
          <p:cNvSpPr txBox="1"/>
          <p:nvPr/>
        </p:nvSpPr>
        <p:spPr>
          <a:xfrm>
            <a:off x="58811" y="2447271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Justification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accent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974D69B-0E55-F3FF-B2BB-B5AD95BC1169}"/>
                  </a:ext>
                </a:extLst>
              </p:cNvPr>
              <p:cNvSpPr txBox="1"/>
              <p:nvPr/>
            </p:nvSpPr>
            <p:spPr>
              <a:xfrm>
                <a:off x="58811" y="2908936"/>
                <a:ext cx="1226329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are numbers whose only non-trivial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different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the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itself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is their square root, e.g.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 = 3</m:t>
                    </m:r>
                    <m:r>
                      <a:rPr lang="pl-PL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These numbers are called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square numbers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974D69B-0E55-F3FF-B2BB-B5AD95BC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08936"/>
                <a:ext cx="12263294" cy="1200329"/>
              </a:xfrm>
              <a:prstGeom prst="rect">
                <a:avLst/>
              </a:prstGeom>
              <a:blipFill>
                <a:blip r:embed="rId5"/>
                <a:stretch>
                  <a:fillRect l="-796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43477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4945</Words>
  <Application>Microsoft Office PowerPoint</Application>
  <PresentationFormat>Panoramiczny</PresentationFormat>
  <Paragraphs>187</Paragraphs>
  <Slides>41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99</cp:revision>
  <dcterms:created xsi:type="dcterms:W3CDTF">2024-10-31T12:17:59Z</dcterms:created>
  <dcterms:modified xsi:type="dcterms:W3CDTF">2025-06-30T13:02:44Z</dcterms:modified>
</cp:coreProperties>
</file>
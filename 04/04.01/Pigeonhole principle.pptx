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0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0C095-80DF-4AE9-9045-89CFC416A5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2F141-0D64-48B8-B365-F71427E0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6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2F141-0D64-48B8-B365-F71427E05E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9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11079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[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Dirichlet’s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]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"If we place objects into boxes and we have more objects than boxes,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 at least one box will contain at least two objects."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4003434-D947-35E7-1B5B-EAE21D51F620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76CC-10EB-B72F-4A3D-A5C3804E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D1C9ECEB-67AD-E049-82A1-C31FC74D0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209800"/>
            <a:ext cx="4876800" cy="24384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50C65930-4ED2-9B5C-6C79-7371A9C2C84B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D70D2C0-B9E1-232C-9FAB-A7A9F4CAB41B}"/>
              </a:ext>
            </a:extLst>
          </p:cNvPr>
          <p:cNvSpPr txBox="1"/>
          <p:nvPr/>
        </p:nvSpPr>
        <p:spPr>
          <a:xfrm>
            <a:off x="176470" y="785277"/>
            <a:ext cx="11079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[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Dirichlet’s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]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"If we place objects into boxes and we have more objects than boxes,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 at least one box will contain at least two objects."</a:t>
            </a:r>
          </a:p>
        </p:txBody>
      </p:sp>
    </p:spTree>
    <p:extLst>
      <p:ext uri="{BB962C8B-B14F-4D97-AF65-F5344CB8AC3E}">
        <p14:creationId xmlns:p14="http://schemas.microsoft.com/office/powerpoint/2010/main" val="295418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FDB3-AC79-E7C0-0B41-69A97D7A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E035343-081A-A8C7-F336-8DCA61995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209800"/>
            <a:ext cx="4876800" cy="2438400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C1F9401C-3FA8-91AF-E0C7-633D5E97E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687190"/>
            <a:ext cx="408432" cy="411309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824CDA5D-93E1-94FD-428D-135697E7B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832" y="2687190"/>
            <a:ext cx="408433" cy="411309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D1FEA989-DB5F-6643-B682-1B0404B5C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3170815"/>
            <a:ext cx="408433" cy="411309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4BCDD2FB-CF4B-C0CA-98FF-74D47374B2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832" y="3170814"/>
            <a:ext cx="408434" cy="411310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10FD2019-446D-078F-4B64-8F8BA63F59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264" y="2687189"/>
            <a:ext cx="408433" cy="411309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D42DD82-FBA6-8C2A-05D5-29C4D268A641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2425BD3-BB25-B1F3-D392-20615AC92959}"/>
              </a:ext>
            </a:extLst>
          </p:cNvPr>
          <p:cNvSpPr txBox="1"/>
          <p:nvPr/>
        </p:nvSpPr>
        <p:spPr>
          <a:xfrm>
            <a:off x="176470" y="785277"/>
            <a:ext cx="11079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[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Dirichlet’s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]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"If we place objects into boxes and we have more objects than boxes,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 at least one box will contain at least two objects."</a:t>
            </a:r>
          </a:p>
        </p:txBody>
      </p:sp>
    </p:spTree>
    <p:extLst>
      <p:ext uri="{BB962C8B-B14F-4D97-AF65-F5344CB8AC3E}">
        <p14:creationId xmlns:p14="http://schemas.microsoft.com/office/powerpoint/2010/main" val="283662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F191-8922-810D-9F25-7E4C7E2C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82A48591-5B03-4780-109C-A751E77D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209800"/>
            <a:ext cx="4876800" cy="2438400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D9BB0AC3-6065-5903-7CFF-E794DBEA9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65" y="2892843"/>
            <a:ext cx="408432" cy="411309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B8BE206E-A181-047C-89DA-E7ACFB443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2884605"/>
            <a:ext cx="408433" cy="411309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3434D32E-CA69-D367-55DB-49F209A030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162" y="3098497"/>
            <a:ext cx="408433" cy="411309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05F87B8F-A3D1-4553-F8F8-76B84D26C2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3503901"/>
            <a:ext cx="408434" cy="411310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C079553D-3023-1E88-B6C0-DF6A36345B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65" y="3503901"/>
            <a:ext cx="408433" cy="411309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9C6711B-0D81-EB22-8E57-4FE7190BC78E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67FFBC9-4270-984C-413A-EB989B6DDF97}"/>
              </a:ext>
            </a:extLst>
          </p:cNvPr>
          <p:cNvSpPr txBox="1"/>
          <p:nvPr/>
        </p:nvSpPr>
        <p:spPr>
          <a:xfrm>
            <a:off x="176470" y="785277"/>
            <a:ext cx="11079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[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Dirichlet’s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]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"If we place objects into boxes and we have more objects than boxes,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 at least one box will contain at least two objects."</a:t>
            </a:r>
          </a:p>
        </p:txBody>
      </p:sp>
    </p:spTree>
    <p:extLst>
      <p:ext uri="{BB962C8B-B14F-4D97-AF65-F5344CB8AC3E}">
        <p14:creationId xmlns:p14="http://schemas.microsoft.com/office/powerpoint/2010/main" val="199207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494B-A1A3-7ADA-8D33-3463EFC49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68C53025-31BA-6CE2-7CDC-62DDACB0C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209800"/>
            <a:ext cx="4876800" cy="2438400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28D5AB87-25D4-ECC7-371B-2F4370B6B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65" y="2892843"/>
            <a:ext cx="408432" cy="411309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D75679C0-31CD-5E20-CA8C-4D8BED1CC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2884605"/>
            <a:ext cx="408433" cy="411309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20979D2C-9098-C9BE-A605-9072084F2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162" y="3098497"/>
            <a:ext cx="408433" cy="411309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F0668BEF-5F9A-FADC-7264-2FD94C30BB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3503901"/>
            <a:ext cx="408434" cy="411310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EC2B9289-2533-6857-834B-2D480C464E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65" y="3503901"/>
            <a:ext cx="408433" cy="411309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DDFEB492-64E8-397D-7AA9-E6DCE298FE7D}"/>
              </a:ext>
            </a:extLst>
          </p:cNvPr>
          <p:cNvSpPr txBox="1"/>
          <p:nvPr/>
        </p:nvSpPr>
        <p:spPr>
          <a:xfrm>
            <a:off x="176469" y="4253366"/>
            <a:ext cx="7515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simple observation has many applications.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11156D2-51A5-064B-C4BD-B5D84FB2F44B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F37F57B-5625-3857-8A13-8FB0C84CBCE5}"/>
              </a:ext>
            </a:extLst>
          </p:cNvPr>
          <p:cNvSpPr txBox="1"/>
          <p:nvPr/>
        </p:nvSpPr>
        <p:spPr>
          <a:xfrm>
            <a:off x="176470" y="785277"/>
            <a:ext cx="11079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[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Dirichlet’s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]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"If we place objects into boxes and we have more objects than boxes,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 at least one box will contain at least two objects."</a:t>
            </a:r>
          </a:p>
        </p:txBody>
      </p:sp>
    </p:spTree>
    <p:extLst>
      <p:ext uri="{BB962C8B-B14F-4D97-AF65-F5344CB8AC3E}">
        <p14:creationId xmlns:p14="http://schemas.microsoft.com/office/powerpoint/2010/main" val="303667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B39C-2EAA-FC04-2FA2-134387F0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8800B49-BB2B-8709-688D-BB7F064F2C0B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DB8BC53-B098-5230-2182-F738C96D7968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0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368F3-7B51-A070-192C-2A58825E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58B3A86-5865-BE88-DE9C-13EF05E26F2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Show that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chosen natural numbers we can always find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two whose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58B3A86-5865-BE88-DE9C-13EF05E26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blipFill>
                <a:blip r:embed="rId2"/>
                <a:stretch>
                  <a:fillRect l="-94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AB374BD-6143-A0C2-87AF-04118DEFA971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076F673-C4EF-1B59-5D60-D52F3139F27B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76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41DC-ED6A-3780-8C7F-0164716C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EB7A100-750A-59E6-E038-1E96050E0D7D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A39985C-FC23-334A-094C-A41F55A66656}"/>
                  </a:ext>
                </a:extLst>
              </p:cNvPr>
              <p:cNvSpPr txBox="1"/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last digit of any natural number is one of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0,1,2,3,4,5,6,7,8,9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A39985C-FC23-334A-094C-A41F55A6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blipFill>
                <a:blip r:embed="rId2"/>
                <a:stretch>
                  <a:fillRect l="-9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3B827F8-1FAE-F03D-E56F-426B7E8A4D44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3C48975-C1E5-7974-B102-3016C8C187A2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1CBF6F9-DD86-4F77-B5A6-A7297D0C7F72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Show that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chosen natural numbers we can always find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two whose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1CBF6F9-DD86-4F77-B5A6-A7297D0C7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blipFill>
                <a:blip r:embed="rId3"/>
                <a:stretch>
                  <a:fillRect l="-94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83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F564-8D42-0457-D8B6-4EE39BA6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F16A80-14B8-EFC5-407C-178308B8438F}"/>
                  </a:ext>
                </a:extLst>
              </p:cNvPr>
              <p:cNvSpPr txBox="1"/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ten possible last digits. Therefore,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will be at least two with the same units digit (e.g.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F16A80-14B8-EFC5-407C-178308B84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blipFill>
                <a:blip r:embed="rId2"/>
                <a:stretch>
                  <a:fillRect l="-881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72C109F-1996-FAAF-FD9D-A88A79E43313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E66D23C-178F-8186-5135-0317E8C79BA0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71AC58-2AC6-4AF5-0B7D-49CA86B19585}"/>
                  </a:ext>
                </a:extLst>
              </p:cNvPr>
              <p:cNvSpPr txBox="1"/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last digit of any natural number is one of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0,1,2,3,4,5,6,7,8,9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71AC58-2AC6-4AF5-0B7D-49CA86B19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blipFill>
                <a:blip r:embed="rId3"/>
                <a:stretch>
                  <a:fillRect l="-9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9D99C91-5024-27A5-6167-5D1F727DD849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CD4AD8-4BDB-79CE-103E-E99B3F584BD0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Show that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chosen natural numbers we can always find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two whose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CD4AD8-4BDB-79CE-103E-E99B3F584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blipFill>
                <a:blip r:embed="rId4"/>
                <a:stretch>
                  <a:fillRect l="-94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49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871E-AF89-F511-D67A-ED802A30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ADC9A195-9234-1252-4D82-E3D0E692550F}"/>
              </a:ext>
            </a:extLst>
          </p:cNvPr>
          <p:cNvSpPr txBox="1"/>
          <p:nvPr/>
        </p:nvSpPr>
        <p:spPr>
          <a:xfrm>
            <a:off x="176468" y="3832266"/>
            <a:ext cx="8895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difference of two numbers with the same units digit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number ending with digit 0.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CC4BAF2-D89F-ABDE-414C-A5FBDDD64F40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8CDA74F-4837-C816-F7F1-EA63CB8068DF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19B45B-50B2-029C-0D3A-06D5103BDA34}"/>
                  </a:ext>
                </a:extLst>
              </p:cNvPr>
              <p:cNvSpPr txBox="1"/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ten possible last digits. Therefore,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will be at least two with the same units digit (e.g.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19B45B-50B2-029C-0D3A-06D5103BD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blipFill>
                <a:blip r:embed="rId2"/>
                <a:stretch>
                  <a:fillRect l="-881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6A7C0B2-6261-CAC9-D619-C68B524A2947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C22FAC2-6C6B-BCA3-1252-6C89B565CF3B}"/>
                  </a:ext>
                </a:extLst>
              </p:cNvPr>
              <p:cNvSpPr txBox="1"/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last digit of any natural number is one of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0,1,2,3,4,5,6,7,8,9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C22FAC2-6C6B-BCA3-1252-6C89B565C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blipFill>
                <a:blip r:embed="rId3"/>
                <a:stretch>
                  <a:fillRect l="-9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7F2F128-E5C1-3AFE-A1AC-3816E97CEED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Show that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chosen natural numbers we can always find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two whose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7F2F128-E5C1-3AFE-A1AC-3816E97CE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blipFill>
                <a:blip r:embed="rId4"/>
                <a:stretch>
                  <a:fillRect l="-94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14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638D-C49D-4107-AF93-6791D488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1DE88A91-8FDE-1E1F-01C7-CA51DEE3CD96}"/>
              </a:ext>
            </a:extLst>
          </p:cNvPr>
          <p:cNvSpPr txBox="1"/>
          <p:nvPr/>
        </p:nvSpPr>
        <p:spPr>
          <a:xfrm>
            <a:off x="176468" y="4663263"/>
            <a:ext cx="934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difference is divisible by 10 – which was to be proved.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EA40C5E-6BA0-6AF2-B267-ADE3AB95FC91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94750C7-47DE-84DA-E0DD-59C7DEB91B2B}"/>
              </a:ext>
            </a:extLst>
          </p:cNvPr>
          <p:cNvSpPr txBox="1"/>
          <p:nvPr/>
        </p:nvSpPr>
        <p:spPr>
          <a:xfrm>
            <a:off x="176468" y="3832266"/>
            <a:ext cx="8895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difference of two numbers with the same units digit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number ending with digit 0.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0057D94-3733-FC3F-8B61-F5B513CBF0CD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128880E-5FDC-3506-9D8D-E194CBD0A8C9}"/>
                  </a:ext>
                </a:extLst>
              </p:cNvPr>
              <p:cNvSpPr txBox="1"/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ten possible last digits. Therefore,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will be at least two with the same units digit (e.g.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128880E-5FDC-3506-9D8D-E194CBD0A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001269"/>
                <a:ext cx="11077071" cy="830997"/>
              </a:xfrm>
              <a:prstGeom prst="rect">
                <a:avLst/>
              </a:prstGeom>
              <a:blipFill>
                <a:blip r:embed="rId2"/>
                <a:stretch>
                  <a:fillRect l="-881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4A341FC-B979-D011-C83D-C489BC733E01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3EDC028-AB30-9FB0-FBE4-ECF8E23614F9}"/>
                  </a:ext>
                </a:extLst>
              </p:cNvPr>
              <p:cNvSpPr txBox="1"/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last digit of any natural number is one of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0,1,2,3,4,5,6,7,8,9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3EDC028-AB30-9FB0-FBE4-ECF8E2361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539604"/>
                <a:ext cx="10075963" cy="461665"/>
              </a:xfrm>
              <a:prstGeom prst="rect">
                <a:avLst/>
              </a:prstGeom>
              <a:blipFill>
                <a:blip r:embed="rId3"/>
                <a:stretch>
                  <a:fillRect l="-9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431B7B9-014A-22C6-F186-215623FFBBE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Show that 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chosen natural numbers we can always find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two whose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431B7B9-014A-22C6-F186-215623FFB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325647" cy="830997"/>
              </a:xfrm>
              <a:prstGeom prst="rect">
                <a:avLst/>
              </a:prstGeom>
              <a:blipFill>
                <a:blip r:embed="rId4"/>
                <a:stretch>
                  <a:fillRect l="-945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32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31B1C-19B6-C09D-01C6-11F9FE70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101B4AD-5815-9B7C-52DC-56EA9E0A72ED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4087C22-684A-83D0-01E5-3A3326B94CF6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7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624C8-3B81-E7A3-A121-180269B3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CC59DE8-9917-BBF8-D9FB-C315CD813D3F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6541D2C-3E89-5B8B-DFD8-38489CCD9AB3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E100A45-E507-37F1-4BBB-C4571C11C821}"/>
                  </a:ext>
                </a:extLst>
              </p:cNvPr>
              <p:cNvSpPr txBox="1"/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with the same last digit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(alternatively: giving the same 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E100A45-E507-37F1-4BBB-C4571C11C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blipFill>
                <a:blip r:embed="rId2"/>
                <a:stretch>
                  <a:fillRect l="-913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31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6D64-5411-5C53-6E8C-7754DA5B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20EC5DA-8E8C-7038-DA5A-24E2F7D651FF}"/>
                  </a:ext>
                </a:extLst>
              </p:cNvPr>
              <p:cNvSpPr txBox="1"/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giving the same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20EC5DA-8E8C-7038-DA5A-24E2F7D65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blipFill>
                <a:blip r:embed="rId2"/>
                <a:stretch>
                  <a:fillRect l="-104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7A81A79F-2C1E-93F3-68A8-0D9E2A979952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4ED75E0-CE1F-0E55-30DC-B77FC056CF18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9F10327-2246-F3C6-EABE-173B0B9BC709}"/>
                  </a:ext>
                </a:extLst>
              </p:cNvPr>
              <p:cNvSpPr txBox="1"/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with the same last digit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(alternatively: giving the same 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9F10327-2246-F3C6-EABE-173B0B9BC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blipFill>
                <a:blip r:embed="rId3"/>
                <a:stretch>
                  <a:fillRect l="-913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BE5C-33FF-9004-2ECC-A6D0332B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92BF5E4-BC9B-F1D8-CD94-EF13500A5735}"/>
                  </a:ext>
                </a:extLst>
              </p:cNvPr>
              <p:cNvSpPr txBox="1"/>
              <p:nvPr/>
            </p:nvSpPr>
            <p:spPr>
              <a:xfrm>
                <a:off x="186662" y="2908936"/>
                <a:ext cx="110021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giving the same remainder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92BF5E4-BC9B-F1D8-CD94-EF13500A5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2908936"/>
                <a:ext cx="11002179" cy="830997"/>
              </a:xfrm>
              <a:prstGeom prst="rect">
                <a:avLst/>
              </a:prstGeom>
              <a:blipFill>
                <a:blip r:embed="rId2"/>
                <a:stretch>
                  <a:fillRect l="-887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FDC9B2B5-1485-4737-B121-685FF936D3A3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E35B44D-344F-21F8-3992-092040F7B98E}"/>
                  </a:ext>
                </a:extLst>
              </p:cNvPr>
              <p:cNvSpPr txBox="1"/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giving the same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E35B44D-344F-21F8-3992-092040F7B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blipFill>
                <a:blip r:embed="rId3"/>
                <a:stretch>
                  <a:fillRect l="-104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F6B9AE0-ACC0-F823-6B54-E232BEC540CC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26BB687-070F-B71D-195C-B818C188391F}"/>
                  </a:ext>
                </a:extLst>
              </p:cNvPr>
              <p:cNvSpPr txBox="1"/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with the same last digit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(alternatively: giving the same 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26BB687-070F-B71D-195C-B818C1883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blipFill>
                <a:blip r:embed="rId4"/>
                <a:stretch>
                  <a:fillRect l="-913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419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F531-2A90-DB65-D9D6-D55BCB4A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FAB707F-D661-C5A1-4E81-A882CF69063A}"/>
                  </a:ext>
                </a:extLst>
              </p:cNvPr>
              <p:cNvSpPr txBox="1"/>
              <p:nvPr/>
            </p:nvSpPr>
            <p:spPr>
              <a:xfrm>
                <a:off x="186662" y="3739933"/>
                <a:ext cx="1179008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a group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people, there are at least two who were born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same month (alternatively: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– the same day of the month;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– the same day of the week).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FAB707F-D661-C5A1-4E81-A882CF690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3739933"/>
                <a:ext cx="11790087" cy="1200329"/>
              </a:xfrm>
              <a:prstGeom prst="rect">
                <a:avLst/>
              </a:prstGeom>
              <a:blipFill>
                <a:blip r:embed="rId2"/>
                <a:stretch>
                  <a:fillRect l="-827" t="-459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0FA8B2F-9206-4668-7810-1405B58D03FC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B7286F7-7469-829B-A5C6-876E24885A32}"/>
                  </a:ext>
                </a:extLst>
              </p:cNvPr>
              <p:cNvSpPr txBox="1"/>
              <p:nvPr/>
            </p:nvSpPr>
            <p:spPr>
              <a:xfrm>
                <a:off x="186662" y="2908936"/>
                <a:ext cx="110021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giving the same remainder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B7286F7-7469-829B-A5C6-876E24885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2908936"/>
                <a:ext cx="11002179" cy="830997"/>
              </a:xfrm>
              <a:prstGeom prst="rect">
                <a:avLst/>
              </a:prstGeom>
              <a:blipFill>
                <a:blip r:embed="rId3"/>
                <a:stretch>
                  <a:fillRect l="-887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08B1B0E-2519-2A80-2F4F-4D0FC0C47FAC}"/>
                  </a:ext>
                </a:extLst>
              </p:cNvPr>
              <p:cNvSpPr txBox="1"/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giving the same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08B1B0E-2519-2A80-2F4F-4D0FC0C47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2077939"/>
                <a:ext cx="9321783" cy="830997"/>
              </a:xfrm>
              <a:prstGeom prst="rect">
                <a:avLst/>
              </a:prstGeom>
              <a:blipFill>
                <a:blip r:embed="rId4"/>
                <a:stretch>
                  <a:fillRect l="-104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B77AE45-44DF-D0B5-63FC-EB70118B32C1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D811BE5-15B6-615A-32DB-0AE76B9CE418}"/>
                  </a:ext>
                </a:extLst>
              </p:cNvPr>
              <p:cNvSpPr txBox="1"/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Among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there exist at least two with the same last digit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(alternatively: giving the same remainder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D811BE5-15B6-615A-32DB-0AE76B9CE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2" y="1246942"/>
                <a:ext cx="10684335" cy="830997"/>
              </a:xfrm>
              <a:prstGeom prst="rect">
                <a:avLst/>
              </a:prstGeom>
              <a:blipFill>
                <a:blip r:embed="rId5"/>
                <a:stretch>
                  <a:fillRect l="-913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766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A6F5F-5E0C-F4BF-A431-D7D66EAA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E6F8A30-D670-B3DA-9CBA-EEBA16C3C2B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E6F8A30-D670-B3DA-9CBA-EEBA16C3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2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A06144A-C55A-B3A2-052E-AAB3ECB1757E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F274C18-3910-5278-072A-A5362E18B838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B7D1C75-6BD2-5C6A-A717-CBBDA795D469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ED12-1AA3-49C7-4A91-CEA8DFB6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F34A898-3B25-885C-2EA3-1E5F614402EA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F34A898-3B25-885C-2EA3-1E5F61440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2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ECCC916-A8DC-CA09-7E39-8F5003ED94E2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4A14AD9-7643-E01B-E1EB-86DDCCB22344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A9E3F83-D05E-C519-0A74-269764DEF5C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A9E3F83-D05E-C519-0A74-269764DE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3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FF9BF790-5191-28FF-293F-35249DFE7201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78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7908F-26F5-7C35-0963-0A48740B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76FA07-21FF-CEBC-FB87-1FC1A931D708}"/>
                  </a:ext>
                </a:extLst>
              </p:cNvPr>
              <p:cNvSpPr txBox="1"/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1000 possible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boxes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000, 001, 002, …, 999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powers.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76FA07-21FF-CEBC-FB87-1FC1A931D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blipFill>
                <a:blip r:embed="rId2"/>
                <a:stretch>
                  <a:fillRect l="-87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5D01B2D-5612-3AB4-F114-135AE514777A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D951FE3-F74D-E03A-351F-EAD951BF1DE6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667C339-30C2-3DC2-D406-F4B2EAF4F6C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667C339-30C2-3DC2-D406-F4B2EAF4F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3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B30375F-6E0F-3606-E23A-F4EEDDC3F939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534FA2D-2DCB-DFA8-B035-95F1F13FBE79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534FA2D-2DCB-DFA8-B035-95F1F13FB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4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5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F2E6-B771-ADAC-CA2C-DCDCA4C8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21A2576-D748-07E5-F1E4-EB7CFD9184D6}"/>
                  </a:ext>
                </a:extLst>
              </p:cNvPr>
              <p:cNvSpPr txBox="1"/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1000 possible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boxes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000, 001, 002, …, 999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powers.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21A2576-D748-07E5-F1E4-EB7CFD918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blipFill>
                <a:blip r:embed="rId2"/>
                <a:stretch>
                  <a:fillRect l="-87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561C97A-DC75-2F9C-056F-9065767D23B6}"/>
                  </a:ext>
                </a:extLst>
              </p:cNvPr>
              <p:cNvSpPr txBox="1"/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there exist at least two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</m:t>
                    </m:r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with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561C97A-DC75-2F9C-056F-9065767D2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blipFill>
                <a:blip r:embed="rId3"/>
                <a:stretch>
                  <a:fillRect l="-991" t="-5839" r="-124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00AA48F9-0549-E62E-7D2F-7F2932C22383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A06B617-FBD0-A2C0-B5DD-298913CB0E30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F041718-D440-92F3-1F8B-81EBD9B0136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F041718-D440-92F3-1F8B-81EBD9B0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4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50EF924-FD21-339B-3E9D-C072434ED31E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565A4D1-0BD8-4C8C-A17E-9D6F0A46FAC0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565A4D1-0BD8-4C8C-A17E-9D6F0A46F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5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158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DA21-1E88-A590-99A9-D21E84A7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5219CC1-54A4-666C-C5BE-69EB2810E2F2}"/>
                  </a:ext>
                </a:extLst>
              </p:cNvPr>
              <p:cNvSpPr txBox="1"/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7</m:t>
                            </m:r>
                          </m:e>
                          <m:sup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𝑙</m:t>
                            </m:r>
                          </m:sup>
                        </m:s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which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5219CC1-54A4-666C-C5BE-69EB2810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blipFill>
                <a:blip r:embed="rId2"/>
                <a:stretch>
                  <a:fillRect l="-945" t="-7229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7CAF65F-44A0-D831-E844-8A1AA56F224F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144B047-259D-A128-791C-80746DD73BFC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5EF5275-FB67-4333-B708-93DFCF35C7E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5EF5275-FB67-4333-B708-93DFCF35C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3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0C86ACD-EC8D-CD07-2B18-0533EF4553CA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5C08FC6-8865-F5AD-950C-C62C22900E98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5C08FC6-8865-F5AD-950C-C62C22900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4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E6B3AA5-6822-BB5D-C2EB-8B12FCFCB1D4}"/>
                  </a:ext>
                </a:extLst>
              </p:cNvPr>
              <p:cNvSpPr txBox="1"/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1000 possible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boxes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000, 001, 002, …, 999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powers.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E6B3AA5-6822-BB5D-C2EB-8B12FCFC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blipFill>
                <a:blip r:embed="rId5"/>
                <a:stretch>
                  <a:fillRect l="-87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A56E2C0-8969-CC63-24FE-26ADC855CCF3}"/>
                  </a:ext>
                </a:extLst>
              </p:cNvPr>
              <p:cNvSpPr txBox="1"/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there exist at least two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</m:t>
                    </m:r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with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A56E2C0-8969-CC63-24FE-26ADC855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blipFill>
                <a:blip r:embed="rId6"/>
                <a:stretch>
                  <a:fillRect l="-991" t="-5839" r="-124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95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5493-4A8B-2A4A-B4C4-DCD5FA44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81A96FA-F092-2FA7-B9E3-907C507DA5C6}"/>
                  </a:ext>
                </a:extLst>
              </p:cNvPr>
              <p:cNvSpPr txBox="1"/>
              <p:nvPr/>
            </p:nvSpPr>
            <p:spPr>
              <a:xfrm>
                <a:off x="176468" y="4878934"/>
                <a:ext cx="9320116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=7⋅7⋅7⋅…⋅7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=2⋅2⋅2⋅5⋅5⋅5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81A96FA-F092-2FA7-B9E3-907C507DA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878934"/>
                <a:ext cx="9320116" cy="468205"/>
              </a:xfrm>
              <a:prstGeom prst="rect">
                <a:avLst/>
              </a:prstGeom>
              <a:blipFill>
                <a:blip r:embed="rId2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A031610-8B78-1178-B97D-D056A6824629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72DC445-22F5-2850-D957-5AFA760B17F1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B24A991-C8F8-7C4D-F9F9-3C785CBBE7D2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B24A991-C8F8-7C4D-F9F9-3C785CBBE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3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F435B84B-53C2-C3CC-0718-89E1B16AEC4B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840F067-79E4-D36D-7631-AB4C8F8B1429}"/>
                  </a:ext>
                </a:extLst>
              </p:cNvPr>
              <p:cNvSpPr txBox="1"/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7</m:t>
                            </m:r>
                          </m:e>
                          <m:sup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𝑙</m:t>
                            </m:r>
                          </m:sup>
                        </m:s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which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840F067-79E4-D36D-7631-AB4C8F8B1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blipFill>
                <a:blip r:embed="rId4"/>
                <a:stretch>
                  <a:fillRect l="-945" t="-7229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2FB2052-072B-758E-E984-08465775088A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2FB2052-072B-758E-E984-08465775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5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1660C4C-9E5C-6EE6-DF99-8D72406C7600}"/>
                  </a:ext>
                </a:extLst>
              </p:cNvPr>
              <p:cNvSpPr txBox="1"/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1000 possible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boxes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000, 001, 002, …, 999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powers.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1660C4C-9E5C-6EE6-DF99-8D72406C7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blipFill>
                <a:blip r:embed="rId6"/>
                <a:stretch>
                  <a:fillRect l="-87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10E0BDD6-0EA0-74FF-3E8B-575A857E3B5B}"/>
                  </a:ext>
                </a:extLst>
              </p:cNvPr>
              <p:cNvSpPr txBox="1"/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there exist at least two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</m:t>
                    </m:r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with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10E0BDD6-0EA0-74FF-3E8B-575A857E3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blipFill>
                <a:blip r:embed="rId7"/>
                <a:stretch>
                  <a:fillRect l="-991" t="-5839" r="-124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056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34C0-0E68-B3BF-219D-94D346D8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24AD250-B4DE-2FD2-AE7B-39D2F72A9A38}"/>
                  </a:ext>
                </a:extLst>
              </p:cNvPr>
              <p:cNvSpPr txBox="1"/>
              <p:nvPr/>
            </p:nvSpPr>
            <p:spPr>
              <a:xfrm>
                <a:off x="176468" y="5323173"/>
                <a:ext cx="9045938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1000|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7</m:t>
                            </m:r>
                          </m:e>
                          <m:sup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𝑙</m:t>
                            </m:r>
                          </m:sup>
                        </m:s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+1=____001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24AD250-B4DE-2FD2-AE7B-39D2F72A9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5323173"/>
                <a:ext cx="9045938" cy="509178"/>
              </a:xfrm>
              <a:prstGeom prst="rect">
                <a:avLst/>
              </a:prstGeom>
              <a:blipFill>
                <a:blip r:embed="rId3"/>
                <a:stretch>
                  <a:fillRect l="-1078" t="-7143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658F1EC-65EE-9201-D194-9D28F1DB1F0B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4D1DD6B-0667-3AF9-B3C7-A85C9FDA2A66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9612243-5198-95B8-18F9-155747B4BEB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the consecutive powers of 7,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one that ends with the digits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decimal representation.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9612243-5198-95B8-18F9-155747B4B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426526" cy="830997"/>
              </a:xfrm>
              <a:prstGeom prst="rect">
                <a:avLst/>
              </a:prstGeom>
              <a:blipFill>
                <a:blip r:embed="rId4"/>
                <a:stretch>
                  <a:fillRect l="-85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FB67E795-BD7B-7E6A-867D-EAD42BDB6CB5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E0FCC2E-72AA-98EF-3951-F10D44D5577B}"/>
                  </a:ext>
                </a:extLst>
              </p:cNvPr>
              <p:cNvSpPr txBox="1"/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Consider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1001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E0FCC2E-72AA-98EF-3951-F10D44D55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39604"/>
                <a:ext cx="12134476" cy="461665"/>
              </a:xfrm>
              <a:prstGeom prst="rect">
                <a:avLst/>
              </a:prstGeom>
              <a:blipFill>
                <a:blip r:embed="rId5"/>
                <a:stretch>
                  <a:fillRect l="-80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86C09E7E-06D4-8B33-8A8F-39856712C9F4}"/>
                  </a:ext>
                </a:extLst>
              </p:cNvPr>
              <p:cNvSpPr txBox="1"/>
              <p:nvPr/>
            </p:nvSpPr>
            <p:spPr>
              <a:xfrm>
                <a:off x="176468" y="4878934"/>
                <a:ext cx="9320116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=7⋅7⋅7⋅…⋅7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=2⋅2⋅2⋅5⋅5⋅5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86C09E7E-06D4-8B33-8A8F-39856712C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878934"/>
                <a:ext cx="9320116" cy="468205"/>
              </a:xfrm>
              <a:prstGeom prst="rect">
                <a:avLst/>
              </a:prstGeom>
              <a:blipFill>
                <a:blip r:embed="rId6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937A225C-68B2-648D-A265-2B9C25453F41}"/>
                  </a:ext>
                </a:extLst>
              </p:cNvPr>
              <p:cNvSpPr txBox="1"/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7</m:t>
                            </m:r>
                          </m:e>
                          <m:sup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𝑙</m:t>
                            </m:r>
                          </m:sup>
                        </m:s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which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937A225C-68B2-648D-A265-2B9C25453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4352330"/>
                <a:ext cx="10323403" cy="509178"/>
              </a:xfrm>
              <a:prstGeom prst="rect">
                <a:avLst/>
              </a:prstGeom>
              <a:blipFill>
                <a:blip r:embed="rId7"/>
                <a:stretch>
                  <a:fillRect l="-945" t="-7229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353E2BF-DC84-7D3D-30C9-0FE0EBE48B8D}"/>
                  </a:ext>
                </a:extLst>
              </p:cNvPr>
              <p:cNvSpPr txBox="1"/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1000 possible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boxes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000, 001, 002, …, 999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powers.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353E2BF-DC84-7D3D-30C9-0FE0EBE48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01269"/>
                <a:ext cx="11140999" cy="461665"/>
              </a:xfrm>
              <a:prstGeom prst="rect">
                <a:avLst/>
              </a:prstGeom>
              <a:blipFill>
                <a:blip r:embed="rId8"/>
                <a:stretch>
                  <a:fillRect l="-87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31A7369C-0831-C196-A5F2-2BECE1957A41}"/>
                  </a:ext>
                </a:extLst>
              </p:cNvPr>
              <p:cNvSpPr txBox="1"/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there exist at least two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</m:t>
                    </m:r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with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31A7369C-0831-C196-A5F2-2BECE1957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505830"/>
                <a:ext cx="9838463" cy="837537"/>
              </a:xfrm>
              <a:prstGeom prst="rect">
                <a:avLst/>
              </a:prstGeom>
              <a:blipFill>
                <a:blip r:embed="rId9"/>
                <a:stretch>
                  <a:fillRect l="-991" t="-5839" r="-124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518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C9CD-0929-9B7E-465B-E34BC513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99CDB3-CBBA-694B-50A6-F1547AE6B83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751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generalized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Dirichlet’s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pigeonhole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principle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"If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boxes and more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en-US" sz="24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objects, then in at least one box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will be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objects."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99CDB3-CBBA-694B-50A6-F1547AE6B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75193" cy="1200329"/>
              </a:xfrm>
              <a:prstGeom prst="rect">
                <a:avLst/>
              </a:prstGeom>
              <a:blipFill>
                <a:blip r:embed="rId2"/>
                <a:stretch>
                  <a:fillRect l="-850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B2CAC32F-0F23-AA1D-60E0-86EABDD0D863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49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6920-4973-F4AE-618D-56A7EDFE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311908-4F8E-EED1-B00A-838A17E05267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2744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example, if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boxes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objects, then in at least one box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three objects.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311908-4F8E-EED1-B00A-838A17E05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274433" cy="830997"/>
              </a:xfrm>
              <a:prstGeom prst="rect">
                <a:avLst/>
              </a:prstGeom>
              <a:blipFill>
                <a:blip r:embed="rId2"/>
                <a:stretch>
                  <a:fillRect l="-865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C074FF53-4BF2-7D7C-FE73-4C2064E71D8D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D9A465-3F81-A53E-34FE-C33242D1E21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751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generalized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Dirichlet’s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pigeonhole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principle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"If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boxes and more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en-US" sz="24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objects, then in at least one box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will be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objects."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D9A465-3F81-A53E-34FE-C33242D1E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75193" cy="1200329"/>
              </a:xfrm>
              <a:prstGeom prst="rect">
                <a:avLst/>
              </a:prstGeom>
              <a:blipFill>
                <a:blip r:embed="rId3"/>
                <a:stretch>
                  <a:fillRect l="-850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618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FDEB-996C-8D9A-BF89-98DD2890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CF0A710-4B7D-55E2-4370-6A8D5D9CA6F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natural numbers. Prove that among them there exist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even numbers or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odd numbers.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CF0A710-4B7D-55E2-4370-6A8D5D9CA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blipFill>
                <a:blip r:embed="rId2"/>
                <a:stretch>
                  <a:fillRect l="-9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B65BE8C-76B7-0BE5-2403-FFB31D407E5A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5D30E5B-2636-1AC3-2C03-E39BEC69478B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9ED6A5F-2BA8-1905-831A-DF35A3480242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038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427C-02C2-5FDF-626D-B4465CD8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0DEFE62-657C-F828-4554-05CCE4757F5F}"/>
              </a:ext>
            </a:extLst>
          </p:cNvPr>
          <p:cNvSpPr txBox="1"/>
          <p:nvPr/>
        </p:nvSpPr>
        <p:spPr>
          <a:xfrm>
            <a:off x="176468" y="2493437"/>
            <a:ext cx="8308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two sets: even numbers and odd numbers.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65D2A31-B2B5-936A-8255-EBDC0086C4AB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2B68377-8315-0921-DDDD-A0369FC8F375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81337F3-2415-AC08-0961-F5D3E6FCB24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natural numbers. Prove that among them there exist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even numbers or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odd numbers.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81337F3-2415-AC08-0961-F5D3E6FCB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blipFill>
                <a:blip r:embed="rId2"/>
                <a:stretch>
                  <a:fillRect l="-9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3BA22D2-F2D5-B560-830C-4CB9E4F30796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72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87C6-BD57-1573-02F0-69AA51D2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59DF6F-619D-669D-7385-D0A2EEFA64FA}"/>
                  </a:ext>
                </a:extLst>
              </p:cNvPr>
              <p:cNvSpPr txBox="1"/>
              <p:nvPr/>
            </p:nvSpPr>
            <p:spPr>
              <a:xfrm>
                <a:off x="176468" y="2493437"/>
                <a:ext cx="830830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two sets: even numbers and odd numbers.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exceeds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500⋅2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59DF6F-619D-669D-7385-D0A2EEFA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93437"/>
                <a:ext cx="8308300" cy="830997"/>
              </a:xfrm>
              <a:prstGeom prst="rect">
                <a:avLst/>
              </a:prstGeom>
              <a:blipFill>
                <a:blip r:embed="rId2"/>
                <a:stretch>
                  <a:fillRect l="-1174" t="-5882" r="-147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64ABC9F1-7820-CA01-B5E1-80E57146043D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B118879-55B4-434B-59F5-AC42BDCD06AC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30CE3F2-94E1-EA7C-6C0D-2411B3844D77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natural numbers. Prove that among them there exist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even numbers or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odd numbers.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30CE3F2-94E1-EA7C-6C0D-2411B3844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blipFill>
                <a:blip r:embed="rId3"/>
                <a:stretch>
                  <a:fillRect l="-9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E5230EDA-5A61-0BE4-373F-1AE5620CDF12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86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B0BB-D916-6A68-150E-138F01C1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F9B9A63-3157-1C2D-4A91-D98A50C068B7}"/>
                  </a:ext>
                </a:extLst>
              </p:cNvPr>
              <p:cNvSpPr txBox="1"/>
              <p:nvPr/>
            </p:nvSpPr>
            <p:spPr>
              <a:xfrm>
                <a:off x="176468" y="2493437"/>
                <a:ext cx="1042945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two sets: even numbers and odd numbers.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exceeds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500⋅2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in one of the sets there must be at least 501 numbers.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F9B9A63-3157-1C2D-4A91-D98A50C06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93437"/>
                <a:ext cx="10429458" cy="1200329"/>
              </a:xfrm>
              <a:prstGeom prst="rect">
                <a:avLst/>
              </a:prstGeom>
              <a:blipFill>
                <a:blip r:embed="rId2"/>
                <a:stretch>
                  <a:fillRect l="-935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9465C0AE-1636-B281-8E9E-4DDD595F9D64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B9956F4-8EBF-634B-CE5B-3544183B079D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BC1C5E7-6258-12A9-50FC-2ADDBBB2F0E9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natural numbers. Prove that among them there exist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even numbers or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501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odd numbers.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BC1C5E7-6258-12A9-50FC-2ADDBBB2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625025" cy="830997"/>
              </a:xfrm>
              <a:prstGeom prst="rect">
                <a:avLst/>
              </a:prstGeom>
              <a:blipFill>
                <a:blip r:embed="rId3"/>
                <a:stretch>
                  <a:fillRect l="-9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1A33455-6EED-5552-35C3-952C84A21DA1}"/>
              </a:ext>
            </a:extLst>
          </p:cNvPr>
          <p:cNvSpPr txBox="1"/>
          <p:nvPr/>
        </p:nvSpPr>
        <p:spPr>
          <a:xfrm>
            <a:off x="176469" y="207793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05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3C68-5029-203F-81BD-6B1DBEA1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529C1ED-6393-A219-6040-4A481BEFC865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7834468-6CEA-2B2D-2F19-85B980B0AE4F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3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E9416-7935-7E10-1797-2DE08D1C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F76F374-FADC-F21B-D5BE-E4DAD1CE4E7A}"/>
              </a:ext>
            </a:extLst>
          </p:cNvPr>
          <p:cNvSpPr txBox="1"/>
          <p:nvPr/>
        </p:nvSpPr>
        <p:spPr>
          <a:xfrm>
            <a:off x="186662" y="1246942"/>
            <a:ext cx="11383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17 chess pieces placed on a chessboard, there are at least three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same row and at least three in the same column.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4629BFF-3995-7867-23D8-9A5C75D54134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81A26DC-C23C-4DC5-68F3-74AECE425FEA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</p:spTree>
    <p:extLst>
      <p:ext uri="{BB962C8B-B14F-4D97-AF65-F5344CB8AC3E}">
        <p14:creationId xmlns:p14="http://schemas.microsoft.com/office/powerpoint/2010/main" val="3836338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D330-28A3-67A9-5BA6-794A575F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79110479-F075-4B32-7310-7DF8DB9C95B8}"/>
              </a:ext>
            </a:extLst>
          </p:cNvPr>
          <p:cNvSpPr txBox="1"/>
          <p:nvPr/>
        </p:nvSpPr>
        <p:spPr>
          <a:xfrm>
            <a:off x="186662" y="2227815"/>
            <a:ext cx="10228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30 people we can find at least five born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 the same day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week.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E074B3F-FE7B-C96E-42DB-B7388C40BBF9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A368E73-A2A9-D75E-F530-DD7CF92DF632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64DA2B2-BE5B-4F24-1D28-7D21F51E9F1C}"/>
              </a:ext>
            </a:extLst>
          </p:cNvPr>
          <p:cNvSpPr txBox="1"/>
          <p:nvPr/>
        </p:nvSpPr>
        <p:spPr>
          <a:xfrm>
            <a:off x="186662" y="1246942"/>
            <a:ext cx="11383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17 chess pieces placed on a chessboard, there are at least three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same row and at least three in the same column.</a:t>
            </a:r>
          </a:p>
        </p:txBody>
      </p:sp>
    </p:spTree>
    <p:extLst>
      <p:ext uri="{BB962C8B-B14F-4D97-AF65-F5344CB8AC3E}">
        <p14:creationId xmlns:p14="http://schemas.microsoft.com/office/powerpoint/2010/main" val="455439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D3FF-81DE-6275-E337-B0BCC5D9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FED2F0-52BF-5278-038C-8150ABC03937}"/>
                  </a:ext>
                </a:extLst>
              </p:cNvPr>
              <p:cNvSpPr txBox="1"/>
              <p:nvPr/>
            </p:nvSpPr>
            <p:spPr>
              <a:xfrm>
                <a:off x="186661" y="3278268"/>
                <a:ext cx="1118787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 that among any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integers there exist two whose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 difference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(XLIII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Polish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Math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Olympiad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stage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FED2F0-52BF-5278-038C-8150ABC03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61" y="3278268"/>
                <a:ext cx="11187871" cy="830997"/>
              </a:xfrm>
              <a:prstGeom prst="rect">
                <a:avLst/>
              </a:prstGeom>
              <a:blipFill>
                <a:blip r:embed="rId2"/>
                <a:stretch>
                  <a:fillRect l="-872" t="-6618" r="-87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F337802A-1EB3-747F-0726-55EEB77165D5}"/>
              </a:ext>
            </a:extLst>
          </p:cNvPr>
          <p:cNvSpPr txBox="1"/>
          <p:nvPr/>
        </p:nvSpPr>
        <p:spPr>
          <a:xfrm>
            <a:off x="2913879" y="-45720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Pigeonhole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4A843ED-8925-A8ED-5B98-CFB85AA6AA6E}"/>
              </a:ext>
            </a:extLst>
          </p:cNvPr>
          <p:cNvSpPr txBox="1"/>
          <p:nvPr/>
        </p:nvSpPr>
        <p:spPr>
          <a:xfrm>
            <a:off x="186662" y="785277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we can prove that: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C0B1A5E-4BF8-A49B-39FF-FA329AC4A9C2}"/>
              </a:ext>
            </a:extLst>
          </p:cNvPr>
          <p:cNvSpPr txBox="1"/>
          <p:nvPr/>
        </p:nvSpPr>
        <p:spPr>
          <a:xfrm>
            <a:off x="186662" y="1246942"/>
            <a:ext cx="11383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17 chess pieces placed on a chessboard, there are at least three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same row and at least three in the same column.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6B5C2CC-48D3-2255-2574-F866B811A75F}"/>
              </a:ext>
            </a:extLst>
          </p:cNvPr>
          <p:cNvSpPr txBox="1"/>
          <p:nvPr/>
        </p:nvSpPr>
        <p:spPr>
          <a:xfrm>
            <a:off x="186662" y="2227815"/>
            <a:ext cx="10228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30 people we can find at least five born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 the same day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week.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96503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2033</Words>
  <Application>Microsoft Office PowerPoint</Application>
  <PresentationFormat>Panoramiczny</PresentationFormat>
  <Paragraphs>152</Paragraphs>
  <Slides>34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77</cp:revision>
  <dcterms:created xsi:type="dcterms:W3CDTF">2024-10-31T12:17:59Z</dcterms:created>
  <dcterms:modified xsi:type="dcterms:W3CDTF">2025-09-30T14:51:52Z</dcterms:modified>
</cp:coreProperties>
</file>